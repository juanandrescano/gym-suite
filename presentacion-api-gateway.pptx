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Presentan los dos. Juan Esteban cubre las diapositivas 1 a 5 (portada, problema, arquitectura, rutas, seguridad). Juan Andrés cubre la 6 a la 9 (Eureka y balanceo, filtro de agregación, respuesta y demo en vivo). La demo es el cierre de la presentación y después se abre a preguntas. Frase para abrir: el API Gateway es la puerta única del gimnasio. El cliente ya no conoce cuatro puertos, solo habla con el puerto 8085, y ahí se valida la seguridad, se enruta y se combinan respuestas.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Juan Esteban. Idea central: hoy el cliente tendría que saber que Miembros está en el 8081, Clases en el 8082, Entrenadores en el 8083 y Equipos en el 8084. Con el gateway pasa a conocer un solo puerto, el 8085. Los tres beneficios de abajo son los tres temas de la presentación: seguridad en el borde (Keycloak, roles, 401 y 403), descubrimiento y balanceo (Eureka y LoadBalancer) y respuestas agregadas (el filtro ResumenMiembro). Si preguntan por qué no llamar directo a los servicios: se puede, pero se repite la lógica de seguridad y de direcciones en cada cliente.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Juan Esteban. Recorrido de izquierda a derecha y de arriba hacia abajo. El cliente primero pide un token a Keycloak (puerto 8080) y luego manda sus peticiones al gateway con ese token como Bearer. El gateway valida la firma del JWT con las claves de Keycloak y aplica los roles. Después enruta con lb://nombre: no usa puertos, usa el nombre del servicio, y Eureka le dice dónde está cada instancia. Abajo, cada servicio se registra en Eureka al arrancar (líneas punteadas). Las bases de datos H2 privadas, RabbitMQ y Kafka no cambian respecto al diagrama anterior. El diagrama completo y editable está en el archivo arquitectura-api-gateway.drawio.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Juan Esteban. Una ruta tiene tres partes: un id, un predicado (el Path que se compara con la URL) y un destino. El destino empieza como http://localhost:8083 y en el paso de Eureka pasa a lb://entrenadores-service. Tres rutas viven en application.yml (miembros y pagos juntas, clases, entrenadores) y la de equipos vive en la clase GatewayConfig con el Java DSL: el resultado es idéntico, es solo otro estilo. La última fila, resumen de miembro, es la ruta del filtro de agregación: tiene uri no://op porque no reenvía a ningún servicio, el filtro responde solo. Eso lo explica Juan Andrés. Pregunta típica: por qué pagos va a miembros-service. Porque el endpoint POST /api/pagos pertenece al contexto de Miembros.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Juan Esteban. Es la parte que más puntos pesa en la rúbrica (implementación adecuada de la seguridad), así que conviene decirla con calma. El gateway es un resource server reactivo: valida el JWT contra el issuer http://localhost:8080/realms/gimnasio con la autoconfiguración, por eso Keycloak no tiene que estar arriba para que el gateway arranque. Un converter toma realm_access.roles y los vuelve authorities. Las reglas replican las de los servicios: por ejemplo POST /api/miembros solo ADMIN, POST /api/pagos ADMIN o MEMBER, POST /api/clases ADMIN o TRAINER, y todo lo demás solo requiere estar autenticado. Importante: no hace falta un filtro que copie el header Authorization, porque el gateway ya reenvía los headers por defecto; lo comprobamos con una prueba. La guía del profesor traía ese filtro, nosotros lo quitamos por redundante. Los resultados de la tabla vienen de las reglas y del script test-gateway.ps1: antes de exponer, correr el script una vez para tener los números reales a la vista.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Juan Andrés. Problema que resuelve: con URLs fijas el gateway solo sabe hablar con localhost:8083. Con Eureka, cada servicio al arrancar se registra con su nombre (miembros-service, clases-service, entrenadores-service, equipos-service). El gateway pregunta a Eureka por las instancias de ese nombre y Spring Cloud LoadBalancer elige una, por turnos. El dashboard de Eureka está en http://localhost:8761. Prueba real: se levantó una segunda instancia de entrenadores-service en el puerto 8093, con su propia base H2 en memoria, y seis peticiones GET a /api/entrenadores por el gateway alternaron 8083, 8093, 8083, 8093, 8083, 8093 en los logs de cada instancia. Aviso práctico: después de arrancar todo, el gateway tarda entre 30 y 60 segundos en ver los servicios y mientras tanto responde 503. Detalle de diseño: no cambiamos la llamada REST de clases-service hacia entrenadores para conservar su degradación controlada.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Juan Andrés. Es la parte creativa de la rúbrica. Escenario del gimnasio: la recepción quiere ver en una sola pantalla cómo va un miembro, con sus clases, el entrenador de cada clase y sus pagos. Sin el filtro serían tres peticiones del cliente. Con el filtro es una sola: GET /api/resumen/miembros/{id}. Técnicamente es un GatewayFilterFactory propio (extiende AbstractGatewayFilterFactory) que se declara en application.yml como filters: ResumenMiembro. La ruta tiene uri no://op porque no se reenvía a ningún backend; el filtro responde por sí mismo. Usa un WebClient balanceado, por eso llama a http://miembros-service y http://clases-service por nombre. Las tres llamadas salen al mismo tiempo con Mono.zip, cada una con timeout de 3 segundos, y reenvían el header Authorization de la petición original. Trabaja con JsonNode para no copiar las clases DTO de otros servicios. Clases no tiene un endpoint de clases por miembro, así que el filtro pide todas y se queda con las que tienen al miembro en miembrosInscritos.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Juan Andrés. A la izquierda, la forma de la respuesta: el miembro, sus clases con el nombre del entrenador, el total de clases, los pagos, el total pagado y una lista de advertencias que normalmente está vacía. A la derecha, qué pasa cuando algo sale mal. Regla de diseño: si el miembro no se puede obtener no hay resumen, así que responde 404 si no existe y 503 o 502 si el servicio no responde. Pero si fallan las clases o los pagos, que son información complementaria, el filtro responde 200 con esa sección en null y un texto en advertencias que dice qué falló. Es el mismo criterio de degradación controlada que ya usa clases-service cuando entrenadores-service está caído. Un id que no sea numérico devuelve 400. Los datos del ejemplo son los del README del gateway.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Juan Andrés, con Juan Esteban apoyando en la terminal si hace falta. Antes de empezar: Keycloak, RabbitMQ y Kafka en Docker, luego eureka-server, los cuatro servicios y por último el gateway (el orden está en el README de api-gateway). Esperar entre 30 y 60 segundos para que el gateway vea los servicios, o la primera petición dará 503. Los tokens duran 300 segundos: pedirlos justo antes de cada uso. El script scripts/test-gateway.ps1 ya hace los pasos 2, 3 y 4. Para el paso 5, arrancar la segunda instancia de entrenadores con mvnw.cmd spring-boot:run y el argumento --server.port=8093. Para el paso 6, apagar clases-service y correr el script con el parámetro -Degradado. Plan B si algo falla en vivo: mostrar la salida del script que ya corrió y el dashboard de Eureka.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3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21" y="1297781"/>
            <a:ext cx="10566559" cy="446961"/>
          </a:xfrm>
          <a:prstGeom prst="rect">
            <a:avLst/>
          </a:prstGeom>
          <a:noFill/>
          <a:ln/>
        </p:spPr>
        <p:txBody>
          <a:bodyPr wrap="square" lIns="0" tIns="0" rIns="0" bIns="0" rtlCol="0" anchor="t"/>
          <a:lstStyle>
            <a:lvl1pPr algn="l" indent="0" marL="0">
              <a:lnSpc>
                <a:spcPct val="115000"/>
              </a:lnSpc>
              <a:buNone/>
              <a:defRPr lang="en-US" sz="3200" dirty="0">
                <a:solidFill>
                  <a:srgbClr val="13222B"/>
                </a:solidFill>
                <a:latin typeface="Rubik" pitchFamily="34" charset="0"/>
                <a:ea typeface="Rubik" pitchFamily="34" charset="-122"/>
                <a:cs typeface="Rubi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721" y="2049542"/>
            <a:ext cx="10566479" cy="3995658"/>
          </a:xfrm>
          <a:prstGeom prst="rect">
            <a:avLst/>
          </a:prstGeom>
          <a:noFill/>
          <a:ln/>
        </p:spPr>
        <p:txBody>
          <a:bodyPr wrap="square" lIns="0" tIns="0" rIns="0" bIns="0" rtlCol="0" anchor="t"/>
          <a:lstStyle>
            <a:lvl1pPr algn="l" indent="0" marL="0">
              <a:lnSpc>
                <a:spcPct val="140000"/>
              </a:lnSpc>
              <a:buNone/>
              <a:defRPr lang="en-US" sz="1600" dirty="0">
                <a:solidFill>
                  <a:srgbClr val="13222B"/>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3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21" y="1297781"/>
            <a:ext cx="10566559" cy="446961"/>
          </a:xfrm>
          <a:prstGeom prst="rect">
            <a:avLst/>
          </a:prstGeom>
          <a:noFill/>
          <a:ln/>
        </p:spPr>
        <p:txBody>
          <a:bodyPr wrap="square" lIns="0" tIns="0" rIns="0" bIns="0" rtlCol="0" anchor="t"/>
          <a:lstStyle>
            <a:lvl1pPr algn="l" indent="0" marL="0">
              <a:lnSpc>
                <a:spcPct val="115000"/>
              </a:lnSpc>
              <a:buNone/>
              <a:defRPr lang="en-US" sz="3200" dirty="0">
                <a:solidFill>
                  <a:srgbClr val="13222B"/>
                </a:solidFill>
                <a:latin typeface="Rubik" pitchFamily="34" charset="0"/>
                <a:ea typeface="Rubik" pitchFamily="34" charset="-122"/>
                <a:cs typeface="Rubi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721" y="2049542"/>
            <a:ext cx="10566479" cy="3995658"/>
          </a:xfrm>
          <a:prstGeom prst="rect">
            <a:avLst/>
          </a:prstGeom>
          <a:noFill/>
          <a:ln/>
        </p:spPr>
        <p:txBody>
          <a:bodyPr wrap="square" lIns="0" tIns="0" rIns="0" bIns="0" rtlCol="0" anchor="t"/>
          <a:lstStyle>
            <a:lvl1pPr algn="l" indent="0" marL="0">
              <a:lnSpc>
                <a:spcPct val="140000"/>
              </a:lnSpc>
              <a:buNone/>
              <a:defRPr lang="en-US" sz="1600" dirty="0">
                <a:solidFill>
                  <a:srgbClr val="13222B"/>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slideLayout" Target="../slideLayouts/slideLayout2.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22B"/>
        </a:solidFill>
      </p:bgPr>
    </p:bg>
    <p:spTree>
      <p:nvGrpSpPr>
        <p:cNvPr id="1" name=""/>
        <p:cNvGrpSpPr/>
        <p:nvPr/>
      </p:nvGrpSpPr>
      <p:grpSpPr>
        <a:xfrm>
          <a:off x="0" y="0"/>
          <a:ext cx="0" cy="0"/>
          <a:chOff x="0" y="0"/>
          <a:chExt cx="0" cy="0"/>
        </a:xfrm>
      </p:grpSpPr>
      <p:sp>
        <p:nvSpPr>
          <p:cNvPr id="2" name="Text 0"/>
          <p:cNvSpPr/>
          <p:nvPr/>
        </p:nvSpPr>
        <p:spPr>
          <a:xfrm>
            <a:off x="8518446" y="2105025"/>
            <a:ext cx="2851071" cy="806410"/>
          </a:xfrm>
          <a:prstGeom prst="roundRect">
            <a:avLst>
              <a:gd name="adj" fmla="val 14568"/>
            </a:avLst>
          </a:prstGeom>
          <a:solidFill>
            <a:srgbClr val="D5E8D4"/>
          </a:solidFill>
          <a:ln w="19050">
            <a:solidFill>
              <a:srgbClr val="82B366"/>
            </a:solidFill>
            <a:prstDash val="solid"/>
          </a:ln>
        </p:spPr>
        <p:txBody>
          <a:bodyPr wrap="square" lIns="0" tIns="0" rIns="0" bIns="0" rtlCol="0" anchor="ctr">
            <a:normAutofit/>
          </a:bodyPr>
          <a:lstStyle/>
          <a:p>
            <a:pPr algn="ctr" indent="0" marL="0">
              <a:lnSpc>
                <a:spcPts val="2800"/>
              </a:lnSpc>
              <a:buNone/>
            </a:pPr>
            <a:r>
              <a:rPr lang="en-US" sz="2000" b="1" dirty="0">
                <a:solidFill>
                  <a:srgbClr val="13222B"/>
                </a:solidFill>
                <a:latin typeface="Rubik" pitchFamily="34" charset="0"/>
                <a:ea typeface="Rubik" pitchFamily="34" charset="-122"/>
                <a:cs typeface="Rubik" pitchFamily="34" charset="-120"/>
              </a:rPr>
              <a:t>API Gateway</a:t>
            </a:r>
            <a:endParaRPr lang="en-US" sz="2000" dirty="0"/>
          </a:p>
        </p:txBody>
      </p:sp>
      <p:sp>
        <p:nvSpPr>
          <p:cNvPr id="3" name="Shape 1"/>
          <p:cNvSpPr/>
          <p:nvPr/>
        </p:nvSpPr>
        <p:spPr>
          <a:xfrm>
            <a:off x="8518446" y="3946446"/>
            <a:ext cx="615910" cy="615910"/>
          </a:xfrm>
          <a:prstGeom prst="roundRect">
            <a:avLst>
              <a:gd name="adj" fmla="val 14949"/>
            </a:avLst>
          </a:prstGeom>
          <a:solidFill>
            <a:srgbClr val="E1D5E7"/>
          </a:solidFill>
          <a:ln w="19050">
            <a:solidFill>
              <a:srgbClr val="9673A6"/>
            </a:solidFill>
            <a:prstDash val="solid"/>
          </a:ln>
        </p:spPr>
      </p:sp>
      <p:sp>
        <p:nvSpPr>
          <p:cNvPr id="4" name="Shape 2"/>
          <p:cNvSpPr/>
          <p:nvPr/>
        </p:nvSpPr>
        <p:spPr>
          <a:xfrm>
            <a:off x="9261396" y="3946446"/>
            <a:ext cx="615910" cy="615910"/>
          </a:xfrm>
          <a:prstGeom prst="roundRect">
            <a:avLst>
              <a:gd name="adj" fmla="val 14949"/>
            </a:avLst>
          </a:prstGeom>
          <a:solidFill>
            <a:srgbClr val="E1D5E7"/>
          </a:solidFill>
          <a:ln w="19050">
            <a:solidFill>
              <a:srgbClr val="9673A6"/>
            </a:solidFill>
            <a:prstDash val="solid"/>
          </a:ln>
        </p:spPr>
      </p:sp>
      <p:sp>
        <p:nvSpPr>
          <p:cNvPr id="5" name="Shape 3"/>
          <p:cNvSpPr/>
          <p:nvPr/>
        </p:nvSpPr>
        <p:spPr>
          <a:xfrm>
            <a:off x="10004346" y="3946446"/>
            <a:ext cx="615910" cy="615910"/>
          </a:xfrm>
          <a:prstGeom prst="roundRect">
            <a:avLst>
              <a:gd name="adj" fmla="val 14949"/>
            </a:avLst>
          </a:prstGeom>
          <a:solidFill>
            <a:srgbClr val="E1D5E7"/>
          </a:solidFill>
          <a:ln w="19050">
            <a:solidFill>
              <a:srgbClr val="9673A6"/>
            </a:solidFill>
            <a:prstDash val="solid"/>
          </a:ln>
        </p:spPr>
      </p:sp>
      <p:sp>
        <p:nvSpPr>
          <p:cNvPr id="6" name="Shape 4"/>
          <p:cNvSpPr/>
          <p:nvPr/>
        </p:nvSpPr>
        <p:spPr>
          <a:xfrm>
            <a:off x="10747296" y="3946446"/>
            <a:ext cx="615910" cy="615910"/>
          </a:xfrm>
          <a:prstGeom prst="roundRect">
            <a:avLst>
              <a:gd name="adj" fmla="val 14949"/>
            </a:avLst>
          </a:prstGeom>
          <a:solidFill>
            <a:srgbClr val="E1D5E7"/>
          </a:solidFill>
          <a:ln w="19050">
            <a:solidFill>
              <a:srgbClr val="9673A6"/>
            </a:solidFill>
            <a:prstDash val="solid"/>
          </a:ln>
        </p:spPr>
      </p:sp>
      <p:pic>
        <p:nvPicPr>
          <p:cNvPr id="7" name="Image 0" descr="connector">    </p:cNvPr>
          <p:cNvPicPr>
            <a:picLocks noChangeAspect="1"/>
          </p:cNvPicPr>
          <p:nvPr/>
        </p:nvPicPr>
        <p:blipFill>
          <a:blip r:embed="rId1"/>
          <a:srcRect l="-4" r="-4" t="0" b="0"/>
          <a:stretch/>
        </p:blipFill>
        <p:spPr>
          <a:xfrm>
            <a:off x="8775621" y="2870121"/>
            <a:ext cx="419100" cy="1117521"/>
          </a:xfrm>
          <a:prstGeom prst="rect">
            <a:avLst/>
          </a:prstGeom>
        </p:spPr>
      </p:pic>
      <p:pic>
        <p:nvPicPr>
          <p:cNvPr id="8" name="Image 1" descr="connector">    </p:cNvPr>
          <p:cNvPicPr>
            <a:picLocks noChangeAspect="1"/>
          </p:cNvPicPr>
          <p:nvPr/>
        </p:nvPicPr>
        <p:blipFill>
          <a:blip r:embed="rId2"/>
          <a:srcRect l="0" r="0" t="-18" b="-18"/>
          <a:stretch/>
        </p:blipFill>
        <p:spPr>
          <a:xfrm>
            <a:off x="9518571" y="2870121"/>
            <a:ext cx="184071" cy="1117521"/>
          </a:xfrm>
          <a:prstGeom prst="rect">
            <a:avLst/>
          </a:prstGeom>
        </p:spPr>
      </p:pic>
      <p:pic>
        <p:nvPicPr>
          <p:cNvPr id="9" name="Image 2" descr="connector">    </p:cNvPr>
          <p:cNvPicPr>
            <a:picLocks noChangeAspect="1"/>
          </p:cNvPicPr>
          <p:nvPr/>
        </p:nvPicPr>
        <p:blipFill>
          <a:blip r:embed="rId3"/>
          <a:srcRect l="-4" r="-4" t="0" b="0"/>
          <a:stretch/>
        </p:blipFill>
        <p:spPr>
          <a:xfrm>
            <a:off x="10172701" y="2870121"/>
            <a:ext cx="190500" cy="1117521"/>
          </a:xfrm>
          <a:prstGeom prst="rect">
            <a:avLst/>
          </a:prstGeom>
        </p:spPr>
      </p:pic>
      <p:pic>
        <p:nvPicPr>
          <p:cNvPr id="10" name="Image 3" descr="connector">    </p:cNvPr>
          <p:cNvPicPr>
            <a:picLocks noChangeAspect="1"/>
          </p:cNvPicPr>
          <p:nvPr/>
        </p:nvPicPr>
        <p:blipFill>
          <a:blip r:embed="rId4"/>
          <a:srcRect l="0" r="0" t="-1" b="-1"/>
          <a:stretch/>
        </p:blipFill>
        <p:spPr>
          <a:xfrm>
            <a:off x="10680621" y="2870121"/>
            <a:ext cx="425410" cy="1117521"/>
          </a:xfrm>
          <a:prstGeom prst="rect">
            <a:avLst/>
          </a:prstGeom>
        </p:spPr>
      </p:pic>
      <p:sp>
        <p:nvSpPr>
          <p:cNvPr id="11" name="Text 5"/>
          <p:cNvSpPr/>
          <p:nvPr/>
        </p:nvSpPr>
        <p:spPr>
          <a:xfrm>
            <a:off x="812721" y="812721"/>
            <a:ext cx="10883556" cy="274241"/>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7FD1A0"/>
                </a:solidFill>
                <a:latin typeface="IBM Plex Sans" pitchFamily="34" charset="0"/>
                <a:ea typeface="IBM Plex Sans" pitchFamily="34" charset="-122"/>
                <a:cs typeface="IBM Plex Sans" pitchFamily="34" charset="-120"/>
              </a:rPr>
              <a:t>MICROSERVICIOS · SISTEMA DE GIMNASIO</a:t>
            </a:r>
            <a:endParaRPr lang="en-US" sz="1400" dirty="0"/>
          </a:p>
        </p:txBody>
      </p:sp>
      <p:sp>
        <p:nvSpPr>
          <p:cNvPr id="12" name="Text 6"/>
          <p:cNvSpPr/>
          <p:nvPr>
            <p:ph type="title"/>
          </p:nvPr>
        </p:nvSpPr>
        <p:spPr>
          <a:xfrm>
            <a:off x="812721" y="1999059"/>
            <a:ext cx="7194469" cy="2105660"/>
          </a:xfrm>
          <a:prstGeom prst="rect">
            <a:avLst/>
          </a:prstGeom>
          <a:noFill/>
          <a:ln/>
        </p:spPr>
        <p:txBody>
          <a:bodyPr wrap="square" lIns="0" tIns="0" rIns="0" bIns="0" rtlCol="0" anchor="t">
            <a:normAutofit/>
          </a:bodyPr>
          <a:lstStyle/>
          <a:p>
            <a:pPr algn="l" indent="0" marL="0">
              <a:lnSpc>
                <a:spcPts val="5460"/>
              </a:lnSpc>
              <a:buNone/>
            </a:pPr>
            <a:r>
              <a:rPr lang="en-US" sz="5200" b="1" i="0" dirty="0">
                <a:solidFill>
                  <a:srgbClr val="F5F3EC"/>
                </a:solidFill>
                <a:latin typeface="Rubik" pitchFamily="34" charset="0"/>
                <a:ea typeface="Rubik" pitchFamily="34" charset="-122"/>
                <a:cs typeface="Rubik" pitchFamily="34" charset="-120"/>
              </a:rPr>
              <a:t>API Gateway para los microservicios del gimnasio</a:t>
            </a:r>
            <a:endParaRPr lang="en-US" sz="5200" dirty="0"/>
          </a:p>
        </p:txBody>
      </p:sp>
      <p:sp>
        <p:nvSpPr>
          <p:cNvPr id="13" name="Text 7"/>
          <p:cNvSpPr/>
          <p:nvPr/>
        </p:nvSpPr>
        <p:spPr>
          <a:xfrm>
            <a:off x="812721" y="4282440"/>
            <a:ext cx="7194469"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B9C6CC"/>
                </a:solidFill>
                <a:latin typeface="IBM Plex Sans" pitchFamily="34" charset="0"/>
                <a:ea typeface="IBM Plex Sans" pitchFamily="34" charset="-122"/>
                <a:cs typeface="IBM Plex Sans" pitchFamily="34" charset="-120"/>
              </a:rPr>
              <a:t>Spring Cloud Gateway, Keycloak, Eureka y un filtro de agregación</a:t>
            </a:r>
            <a:endParaRPr lang="en-US" sz="1800" dirty="0"/>
          </a:p>
        </p:txBody>
      </p:sp>
      <p:sp>
        <p:nvSpPr>
          <p:cNvPr id="14" name="Text 8"/>
          <p:cNvSpPr/>
          <p:nvPr/>
        </p:nvSpPr>
        <p:spPr>
          <a:xfrm>
            <a:off x="812721" y="5539859"/>
            <a:ext cx="10883556" cy="32758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5F3EC"/>
                </a:solidFill>
                <a:latin typeface="IBM Plex Sans" pitchFamily="34" charset="0"/>
                <a:ea typeface="IBM Plex Sans" pitchFamily="34" charset="-122"/>
                <a:cs typeface="IBM Plex Sans" pitchFamily="34" charset="-120"/>
              </a:rPr>
              <a:t>Juan Esteban Ruiz · Juan Andrés Cano</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721" y="812721"/>
            <a:ext cx="10883556" cy="25650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2A724A"/>
                </a:solidFill>
                <a:latin typeface="IBM Plex Sans" pitchFamily="34" charset="0"/>
                <a:ea typeface="IBM Plex Sans" pitchFamily="34" charset="-122"/>
                <a:cs typeface="IBM Plex Sans" pitchFamily="34" charset="-120"/>
              </a:rPr>
              <a:t>EL PROBLEMA</a:t>
            </a:r>
            <a:endParaRPr lang="en-US" sz="1300" dirty="0"/>
          </a:p>
        </p:txBody>
      </p:sp>
      <p:sp>
        <p:nvSpPr>
          <p:cNvPr id="3" name="Text 1"/>
          <p:cNvSpPr/>
          <p:nvPr>
            <p:ph type="title"/>
          </p:nvPr>
        </p:nvSpPr>
        <p:spPr>
          <a:xfrm>
            <a:off x="812721" y="1297781"/>
            <a:ext cx="10883556" cy="472361"/>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22B"/>
                </a:solidFill>
                <a:latin typeface="Rubik" pitchFamily="34" charset="0"/>
                <a:ea typeface="Rubik" pitchFamily="34" charset="-122"/>
                <a:cs typeface="Rubik" pitchFamily="34" charset="-120"/>
              </a:rPr>
              <a:t>Por qué un API Gateway</a:t>
            </a:r>
            <a:endParaRPr lang="en-US" sz="3200" dirty="0"/>
          </a:p>
        </p:txBody>
      </p:sp>
      <p:sp>
        <p:nvSpPr>
          <p:cNvPr id="4" name="Shape 2"/>
          <p:cNvSpPr/>
          <p:nvPr/>
        </p:nvSpPr>
        <p:spPr>
          <a:xfrm>
            <a:off x="819071" y="2005053"/>
            <a:ext cx="5125800" cy="2486541"/>
          </a:xfrm>
          <a:prstGeom prst="roundRect">
            <a:avLst>
              <a:gd name="adj" fmla="val 4852"/>
            </a:avLst>
          </a:prstGeom>
          <a:solidFill>
            <a:srgbClr val="FBFAF6"/>
          </a:solidFill>
          <a:ln w="12700">
            <a:solidFill>
              <a:srgbClr val="D9D5C8"/>
            </a:solidFill>
            <a:prstDash val="solid"/>
          </a:ln>
        </p:spPr>
      </p:sp>
      <p:sp>
        <p:nvSpPr>
          <p:cNvPr id="5" name="Text 3"/>
          <p:cNvSpPr/>
          <p:nvPr/>
        </p:nvSpPr>
        <p:spPr>
          <a:xfrm>
            <a:off x="1125141" y="2311122"/>
            <a:ext cx="4649069" cy="25650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64B0C"/>
                </a:solidFill>
                <a:latin typeface="IBM Plex Sans" pitchFamily="34" charset="0"/>
                <a:ea typeface="IBM Plex Sans" pitchFamily="34" charset="-122"/>
                <a:cs typeface="IBM Plex Sans" pitchFamily="34" charset="-120"/>
              </a:rPr>
              <a:t>SIN GATEWAY</a:t>
            </a:r>
            <a:endParaRPr lang="en-US" sz="1300" dirty="0"/>
          </a:p>
        </p:txBody>
      </p:sp>
      <p:sp>
        <p:nvSpPr>
          <p:cNvPr id="6" name="Text 4"/>
          <p:cNvSpPr/>
          <p:nvPr/>
        </p:nvSpPr>
        <p:spPr>
          <a:xfrm>
            <a:off x="1125141" y="2643783"/>
            <a:ext cx="4649069" cy="665480"/>
          </a:xfrm>
          <a:prstGeom prst="rect">
            <a:avLst/>
          </a:prstGeom>
          <a:noFill/>
          <a:ln/>
        </p:spPr>
        <p:txBody>
          <a:bodyPr wrap="square" lIns="0" tIns="0" rIns="0" bIns="0" rtlCol="0" anchor="t">
            <a:normAutofit/>
          </a:bodyPr>
          <a:lstStyle/>
          <a:p>
            <a:pPr algn="l" indent="0" marL="0">
              <a:lnSpc>
                <a:spcPts val="5040"/>
              </a:lnSpc>
              <a:buNone/>
            </a:pPr>
            <a:r>
              <a:rPr lang="en-US" sz="4800" b="1" dirty="0">
                <a:solidFill>
                  <a:srgbClr val="13222B"/>
                </a:solidFill>
                <a:latin typeface="Rubik" pitchFamily="34" charset="0"/>
                <a:ea typeface="Rubik" pitchFamily="34" charset="-122"/>
                <a:cs typeface="Rubik" pitchFamily="34" charset="-120"/>
              </a:rPr>
              <a:t>4 puertos</a:t>
            </a:r>
            <a:endParaRPr lang="en-US" sz="4800" dirty="0"/>
          </a:p>
        </p:txBody>
      </p:sp>
      <p:sp>
        <p:nvSpPr>
          <p:cNvPr id="7" name="Text 5"/>
          <p:cNvSpPr/>
          <p:nvPr/>
        </p:nvSpPr>
        <p:spPr>
          <a:xfrm>
            <a:off x="1125141" y="3385424"/>
            <a:ext cx="4649069"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0"/>
                </a:solidFill>
                <a:latin typeface="IBM Plex Sans" pitchFamily="34" charset="0"/>
                <a:ea typeface="IBM Plex Sans" pitchFamily="34" charset="-122"/>
                <a:cs typeface="IBM Plex Sans" pitchFamily="34" charset="-120"/>
              </a:rPr>
              <a:t>El cliente tiene que conocer 8081, 8082, 8083 y 8084, y no hay un lugar único para la seguridad, el log o los cambios de dirección.</a:t>
            </a:r>
            <a:endParaRPr lang="en-US" sz="1500" dirty="0"/>
          </a:p>
        </p:txBody>
      </p:sp>
      <p:sp>
        <p:nvSpPr>
          <p:cNvPr id="8" name="Shape 6"/>
          <p:cNvSpPr/>
          <p:nvPr/>
        </p:nvSpPr>
        <p:spPr>
          <a:xfrm>
            <a:off x="6256020" y="1998703"/>
            <a:ext cx="5123260" cy="2499241"/>
          </a:xfrm>
          <a:prstGeom prst="roundRect">
            <a:avLst>
              <a:gd name="adj" fmla="val 5082"/>
            </a:avLst>
          </a:prstGeom>
          <a:solidFill>
            <a:srgbClr val="13222B"/>
          </a:solidFill>
          <a:ln/>
        </p:spPr>
      </p:sp>
      <p:sp>
        <p:nvSpPr>
          <p:cNvPr id="9" name="Text 7"/>
          <p:cNvSpPr/>
          <p:nvPr/>
        </p:nvSpPr>
        <p:spPr>
          <a:xfrm>
            <a:off x="6560820" y="2303503"/>
            <a:ext cx="4649069" cy="25650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7FD1A0"/>
                </a:solidFill>
                <a:latin typeface="IBM Plex Sans" pitchFamily="34" charset="0"/>
                <a:ea typeface="IBM Plex Sans" pitchFamily="34" charset="-122"/>
                <a:cs typeface="IBM Plex Sans" pitchFamily="34" charset="-120"/>
              </a:rPr>
              <a:t>CON GATEWAY</a:t>
            </a:r>
            <a:endParaRPr lang="en-US" sz="1300" dirty="0"/>
          </a:p>
        </p:txBody>
      </p:sp>
      <p:sp>
        <p:nvSpPr>
          <p:cNvPr id="10" name="Text 8"/>
          <p:cNvSpPr/>
          <p:nvPr/>
        </p:nvSpPr>
        <p:spPr>
          <a:xfrm>
            <a:off x="6560820" y="2636163"/>
            <a:ext cx="4649069" cy="665480"/>
          </a:xfrm>
          <a:prstGeom prst="rect">
            <a:avLst/>
          </a:prstGeom>
          <a:noFill/>
          <a:ln/>
        </p:spPr>
        <p:txBody>
          <a:bodyPr wrap="square" lIns="0" tIns="0" rIns="0" bIns="0" rtlCol="0" anchor="t">
            <a:normAutofit/>
          </a:bodyPr>
          <a:lstStyle/>
          <a:p>
            <a:pPr algn="l" indent="0" marL="0">
              <a:lnSpc>
                <a:spcPts val="5040"/>
              </a:lnSpc>
              <a:buNone/>
            </a:pPr>
            <a:r>
              <a:rPr lang="en-US" sz="4800" b="1" dirty="0">
                <a:solidFill>
                  <a:srgbClr val="F5F3EC"/>
                </a:solidFill>
                <a:latin typeface="Rubik" pitchFamily="34" charset="0"/>
                <a:ea typeface="Rubik" pitchFamily="34" charset="-122"/>
                <a:cs typeface="Rubik" pitchFamily="34" charset="-120"/>
              </a:rPr>
              <a:t>1 puerto</a:t>
            </a:r>
            <a:endParaRPr lang="en-US" sz="4800" dirty="0"/>
          </a:p>
        </p:txBody>
      </p:sp>
      <p:sp>
        <p:nvSpPr>
          <p:cNvPr id="11" name="Text 9"/>
          <p:cNvSpPr/>
          <p:nvPr/>
        </p:nvSpPr>
        <p:spPr>
          <a:xfrm>
            <a:off x="6560820" y="3377804"/>
            <a:ext cx="4649069"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9C6CC"/>
                </a:solidFill>
                <a:latin typeface="IBM Plex Sans" pitchFamily="34" charset="0"/>
                <a:ea typeface="IBM Plex Sans" pitchFamily="34" charset="-122"/>
                <a:cs typeface="IBM Plex Sans" pitchFamily="34" charset="-120"/>
              </a:rPr>
              <a:t>El cliente solo habla con el 8085. El gateway valida el token, decide a qué servicio va cada petición y puede combinar respuestas.</a:t>
            </a:r>
            <a:endParaRPr lang="en-US" sz="1500" dirty="0"/>
          </a:p>
        </p:txBody>
      </p:sp>
      <p:sp>
        <p:nvSpPr>
          <p:cNvPr id="12" name="Text 10"/>
          <p:cNvSpPr/>
          <p:nvPr/>
        </p:nvSpPr>
        <p:spPr>
          <a:xfrm>
            <a:off x="819071" y="4758254"/>
            <a:ext cx="3407847" cy="530701"/>
          </a:xfrm>
          <a:prstGeom prst="roundRect">
            <a:avLst>
              <a:gd name="adj" fmla="val 17948"/>
            </a:avLst>
          </a:prstGeom>
          <a:solidFill>
            <a:srgbClr val="D5E8D4"/>
          </a:solidFill>
          <a:ln w="12700">
            <a:solidFill>
              <a:srgbClr val="82B366"/>
            </a:solidFill>
            <a:prstDash val="solid"/>
          </a:ln>
        </p:spPr>
        <p:txBody>
          <a:bodyPr wrap="square" lIns="26941" tIns="113072" rIns="26941" bIns="87672" rtlCol="0" anchor="t">
            <a:normAutofit/>
          </a:bodyPr>
          <a:lstStyle/>
          <a:p>
            <a:pPr algn="ctr" indent="0" marL="0">
              <a:lnSpc>
                <a:spcPts val="1960"/>
              </a:lnSpc>
              <a:buNone/>
            </a:pPr>
            <a:r>
              <a:rPr lang="en-US" sz="1400" b="1" dirty="0">
                <a:solidFill>
                  <a:srgbClr val="13222B"/>
                </a:solidFill>
                <a:latin typeface="IBM Plex Sans" pitchFamily="34" charset="0"/>
                <a:ea typeface="IBM Plex Sans" pitchFamily="34" charset="-122"/>
                <a:cs typeface="IBM Plex Sans" pitchFamily="34" charset="-120"/>
              </a:rPr>
              <a:t>Seguridad en el borde</a:t>
            </a:r>
            <a:endParaRPr lang="en-US" sz="1400" dirty="0"/>
          </a:p>
        </p:txBody>
      </p:sp>
      <p:sp>
        <p:nvSpPr>
          <p:cNvPr id="13" name="Text 11"/>
          <p:cNvSpPr/>
          <p:nvPr/>
        </p:nvSpPr>
        <p:spPr>
          <a:xfrm>
            <a:off x="4392017" y="4758254"/>
            <a:ext cx="3407966" cy="530701"/>
          </a:xfrm>
          <a:prstGeom prst="roundRect">
            <a:avLst>
              <a:gd name="adj" fmla="val 17948"/>
            </a:avLst>
          </a:prstGeom>
          <a:solidFill>
            <a:srgbClr val="DAE8FC"/>
          </a:solidFill>
          <a:ln w="12700">
            <a:solidFill>
              <a:srgbClr val="6C8EBF"/>
            </a:solidFill>
            <a:prstDash val="solid"/>
          </a:ln>
        </p:spPr>
        <p:txBody>
          <a:bodyPr wrap="square" lIns="26939" tIns="113072" rIns="26939" bIns="87672" rtlCol="0" anchor="t">
            <a:normAutofit/>
          </a:bodyPr>
          <a:lstStyle/>
          <a:p>
            <a:pPr algn="ctr" indent="0" marL="0">
              <a:lnSpc>
                <a:spcPts val="1960"/>
              </a:lnSpc>
              <a:buNone/>
            </a:pPr>
            <a:r>
              <a:rPr lang="en-US" sz="1400" b="1" dirty="0">
                <a:solidFill>
                  <a:srgbClr val="13222B"/>
                </a:solidFill>
                <a:latin typeface="IBM Plex Sans" pitchFamily="34" charset="0"/>
                <a:ea typeface="IBM Plex Sans" pitchFamily="34" charset="-122"/>
                <a:cs typeface="IBM Plex Sans" pitchFamily="34" charset="-120"/>
              </a:rPr>
              <a:t>Descubrimiento y balanceo</a:t>
            </a:r>
            <a:endParaRPr lang="en-US" sz="1400" dirty="0"/>
          </a:p>
        </p:txBody>
      </p:sp>
      <p:sp>
        <p:nvSpPr>
          <p:cNvPr id="14" name="Text 12"/>
          <p:cNvSpPr/>
          <p:nvPr/>
        </p:nvSpPr>
        <p:spPr>
          <a:xfrm>
            <a:off x="7965083" y="4758254"/>
            <a:ext cx="3407847" cy="530701"/>
          </a:xfrm>
          <a:prstGeom prst="roundRect">
            <a:avLst>
              <a:gd name="adj" fmla="val 17948"/>
            </a:avLst>
          </a:prstGeom>
          <a:solidFill>
            <a:srgbClr val="FFE6CC"/>
          </a:solidFill>
          <a:ln w="12700">
            <a:solidFill>
              <a:srgbClr val="D79B00"/>
            </a:solidFill>
            <a:prstDash val="solid"/>
          </a:ln>
        </p:spPr>
        <p:txBody>
          <a:bodyPr wrap="square" lIns="26941" tIns="113072" rIns="26941" bIns="87672" rtlCol="0" anchor="t">
            <a:normAutofit/>
          </a:bodyPr>
          <a:lstStyle/>
          <a:p>
            <a:pPr algn="ctr" indent="0" marL="0">
              <a:lnSpc>
                <a:spcPts val="1960"/>
              </a:lnSpc>
              <a:buNone/>
            </a:pPr>
            <a:r>
              <a:rPr lang="en-US" sz="1400" b="1" dirty="0">
                <a:solidFill>
                  <a:srgbClr val="13222B"/>
                </a:solidFill>
                <a:latin typeface="IBM Plex Sans" pitchFamily="34" charset="0"/>
                <a:ea typeface="IBM Plex Sans" pitchFamily="34" charset="-122"/>
                <a:cs typeface="IBM Plex Sans" pitchFamily="34" charset="-120"/>
              </a:rPr>
              <a:t>Respuestas agregadas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721" y="812721"/>
            <a:ext cx="10883556" cy="25650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2A724A"/>
                </a:solidFill>
                <a:latin typeface="IBM Plex Sans" pitchFamily="34" charset="0"/>
                <a:ea typeface="IBM Plex Sans" pitchFamily="34" charset="-122"/>
                <a:cs typeface="IBM Plex Sans" pitchFamily="34" charset="-120"/>
              </a:rPr>
              <a:t>ARQUITECTURA</a:t>
            </a:r>
            <a:endParaRPr lang="en-US" sz="1300" dirty="0"/>
          </a:p>
        </p:txBody>
      </p:sp>
      <p:sp>
        <p:nvSpPr>
          <p:cNvPr id="3" name="Text 1"/>
          <p:cNvSpPr/>
          <p:nvPr>
            <p:ph type="title"/>
          </p:nvPr>
        </p:nvSpPr>
        <p:spPr>
          <a:xfrm>
            <a:off x="812721" y="1297781"/>
            <a:ext cx="10883556" cy="472361"/>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22B"/>
                </a:solidFill>
                <a:latin typeface="Rubik" pitchFamily="34" charset="0"/>
                <a:ea typeface="Rubik" pitchFamily="34" charset="-122"/>
                <a:cs typeface="Rubik" pitchFamily="34" charset="-120"/>
              </a:rPr>
              <a:t>Cómo queda con API Gateway</a:t>
            </a:r>
            <a:endParaRPr lang="en-US" sz="3200" dirty="0"/>
          </a:p>
        </p:txBody>
      </p:sp>
      <p:sp>
        <p:nvSpPr>
          <p:cNvPr id="4" name="Shape 2"/>
          <p:cNvSpPr/>
          <p:nvPr/>
        </p:nvSpPr>
        <p:spPr>
          <a:xfrm>
            <a:off x="822246" y="2295525"/>
            <a:ext cx="1377910" cy="742950"/>
          </a:xfrm>
          <a:prstGeom prst="roundRect">
            <a:avLst>
              <a:gd name="adj" fmla="val 15812"/>
            </a:avLst>
          </a:prstGeom>
          <a:solidFill>
            <a:srgbClr val="FBFAF6"/>
          </a:solidFill>
          <a:ln w="19050">
            <a:solidFill>
              <a:srgbClr val="13222B"/>
            </a:solidFill>
            <a:prstDash val="solid"/>
          </a:ln>
        </p:spPr>
      </p:sp>
      <p:sp>
        <p:nvSpPr>
          <p:cNvPr id="5" name="Text 3"/>
          <p:cNvSpPr/>
          <p:nvPr/>
        </p:nvSpPr>
        <p:spPr>
          <a:xfrm>
            <a:off x="1110794" y="2405421"/>
            <a:ext cx="800814" cy="30984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13222B"/>
                </a:solidFill>
                <a:latin typeface="IBM Plex Sans" pitchFamily="34" charset="0"/>
                <a:ea typeface="IBM Plex Sans" pitchFamily="34" charset="-122"/>
                <a:cs typeface="IBM Plex Sans" pitchFamily="34" charset="-120"/>
              </a:rPr>
              <a:t>Cliente</a:t>
            </a:r>
            <a:endParaRPr lang="en-US" sz="1600" dirty="0"/>
          </a:p>
        </p:txBody>
      </p:sp>
      <p:sp>
        <p:nvSpPr>
          <p:cNvPr id="6" name="Text 4"/>
          <p:cNvSpPr/>
          <p:nvPr/>
        </p:nvSpPr>
        <p:spPr>
          <a:xfrm>
            <a:off x="1149799" y="2715220"/>
            <a:ext cx="722805"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Postman</a:t>
            </a:r>
            <a:endParaRPr lang="en-US" sz="1200" dirty="0"/>
          </a:p>
        </p:txBody>
      </p:sp>
      <p:sp>
        <p:nvSpPr>
          <p:cNvPr id="7" name="Shape 5"/>
          <p:cNvSpPr/>
          <p:nvPr/>
        </p:nvSpPr>
        <p:spPr>
          <a:xfrm>
            <a:off x="3311485" y="1914525"/>
            <a:ext cx="4552950" cy="1568410"/>
          </a:xfrm>
          <a:prstGeom prst="roundRect">
            <a:avLst>
              <a:gd name="adj" fmla="val 7490"/>
            </a:avLst>
          </a:prstGeom>
          <a:solidFill>
            <a:srgbClr val="D5E8D4"/>
          </a:solidFill>
          <a:ln w="19050">
            <a:solidFill>
              <a:srgbClr val="82B366"/>
            </a:solidFill>
            <a:prstDash val="solid"/>
          </a:ln>
        </p:spPr>
      </p:sp>
      <p:sp>
        <p:nvSpPr>
          <p:cNvPr id="8" name="Text 6"/>
          <p:cNvSpPr/>
          <p:nvPr/>
        </p:nvSpPr>
        <p:spPr>
          <a:xfrm>
            <a:off x="3494961" y="2098001"/>
            <a:ext cx="4311580" cy="331391"/>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13222B"/>
                </a:solidFill>
                <a:latin typeface="Rubik" pitchFamily="34" charset="0"/>
                <a:ea typeface="Rubik" pitchFamily="34" charset="-122"/>
                <a:cs typeface="Rubik" pitchFamily="34" charset="-120"/>
              </a:rPr>
              <a:t>API Gateway :8085</a:t>
            </a:r>
            <a:endParaRPr lang="en-US" sz="2200" dirty="0"/>
          </a:p>
        </p:txBody>
      </p:sp>
      <p:sp>
        <p:nvSpPr>
          <p:cNvPr id="9" name="Text 7"/>
          <p:cNvSpPr/>
          <p:nvPr/>
        </p:nvSpPr>
        <p:spPr>
          <a:xfrm>
            <a:off x="3494961" y="2454712"/>
            <a:ext cx="4311580" cy="27316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22B"/>
                </a:solidFill>
                <a:latin typeface="IBM Plex Sans" pitchFamily="34" charset="0"/>
                <a:ea typeface="IBM Plex Sans" pitchFamily="34" charset="-122"/>
                <a:cs typeface="IBM Plex Sans" pitchFamily="34" charset="-120"/>
              </a:rPr>
              <a:t>Valida JWT y roles (401 / 403)</a:t>
            </a:r>
            <a:endParaRPr lang="en-US" sz="1400" dirty="0"/>
          </a:p>
        </p:txBody>
      </p:sp>
      <p:sp>
        <p:nvSpPr>
          <p:cNvPr id="10" name="Text 8"/>
          <p:cNvSpPr/>
          <p:nvPr/>
        </p:nvSpPr>
        <p:spPr>
          <a:xfrm>
            <a:off x="3494961" y="2753202"/>
            <a:ext cx="4311580" cy="27316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22B"/>
                </a:solidFill>
                <a:latin typeface="IBM Plex Sans" pitchFamily="34" charset="0"/>
                <a:ea typeface="IBM Plex Sans" pitchFamily="34" charset="-122"/>
                <a:cs typeface="IBM Plex Sans" pitchFamily="34" charset="-120"/>
              </a:rPr>
              <a:t>Enruta por nombre con lb://</a:t>
            </a:r>
            <a:endParaRPr lang="en-US" sz="1400" dirty="0"/>
          </a:p>
        </p:txBody>
      </p:sp>
      <p:sp>
        <p:nvSpPr>
          <p:cNvPr id="11" name="Text 9"/>
          <p:cNvSpPr/>
          <p:nvPr/>
        </p:nvSpPr>
        <p:spPr>
          <a:xfrm>
            <a:off x="3494961" y="3051691"/>
            <a:ext cx="4311580" cy="27316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22B"/>
                </a:solidFill>
                <a:latin typeface="IBM Plex Sans" pitchFamily="34" charset="0"/>
                <a:ea typeface="IBM Plex Sans" pitchFamily="34" charset="-122"/>
                <a:cs typeface="IBM Plex Sans" pitchFamily="34" charset="-120"/>
              </a:rPr>
              <a:t>Filtro de agregación ResumenMiembro</a:t>
            </a:r>
            <a:endParaRPr lang="en-US" sz="1400" dirty="0"/>
          </a:p>
        </p:txBody>
      </p:sp>
      <p:sp>
        <p:nvSpPr>
          <p:cNvPr id="12" name="Shape 10"/>
          <p:cNvSpPr/>
          <p:nvPr/>
        </p:nvSpPr>
        <p:spPr>
          <a:xfrm>
            <a:off x="9153525" y="1914525"/>
            <a:ext cx="2216110" cy="1187410"/>
          </a:xfrm>
          <a:prstGeom prst="roundRect">
            <a:avLst>
              <a:gd name="adj" fmla="val 9893"/>
            </a:avLst>
          </a:prstGeom>
          <a:solidFill>
            <a:srgbClr val="FFE6CC"/>
          </a:solidFill>
          <a:ln w="19050">
            <a:solidFill>
              <a:srgbClr val="D79B00"/>
            </a:solidFill>
            <a:prstDash val="solid"/>
          </a:ln>
        </p:spPr>
      </p:sp>
      <p:sp>
        <p:nvSpPr>
          <p:cNvPr id="13" name="Text 11"/>
          <p:cNvSpPr/>
          <p:nvPr/>
        </p:nvSpPr>
        <p:spPr>
          <a:xfrm>
            <a:off x="9337001" y="2098001"/>
            <a:ext cx="2023110" cy="439142"/>
          </a:xfrm>
          <a:prstGeom prst="rect">
            <a:avLst/>
          </a:prstGeom>
          <a:noFill/>
          <a:ln/>
        </p:spPr>
        <p:txBody>
          <a:bodyPr wrap="square" lIns="0" tIns="0" rIns="0" bIns="0" rtlCol="0" anchor="t">
            <a:normAutofit/>
          </a:bodyPr>
          <a:lstStyle/>
          <a:p>
            <a:pPr algn="l" indent="0" marL="0">
              <a:lnSpc>
                <a:spcPts val="2131"/>
              </a:lnSpc>
              <a:buNone/>
            </a:pPr>
            <a:r>
              <a:rPr lang="en-US" sz="1938" b="1" dirty="0">
                <a:solidFill>
                  <a:srgbClr val="13222B"/>
                </a:solidFill>
                <a:latin typeface="Rubik" pitchFamily="34" charset="0"/>
                <a:ea typeface="Rubik" pitchFamily="34" charset="-122"/>
                <a:cs typeface="Rubik" pitchFamily="34" charset="-120"/>
              </a:rPr>
              <a:t>Keycloak :8080</a:t>
            </a:r>
            <a:endParaRPr lang="en-US" sz="1938" dirty="0"/>
          </a:p>
        </p:txBody>
      </p:sp>
      <p:sp>
        <p:nvSpPr>
          <p:cNvPr id="14" name="Text 12"/>
          <p:cNvSpPr/>
          <p:nvPr/>
        </p:nvSpPr>
        <p:spPr>
          <a:xfrm>
            <a:off x="9337001" y="2549843"/>
            <a:ext cx="1904635" cy="394018"/>
          </a:xfrm>
          <a:prstGeom prst="rect">
            <a:avLst/>
          </a:prstGeom>
          <a:noFill/>
          <a:ln/>
        </p:spPr>
        <p:txBody>
          <a:bodyPr wrap="square" lIns="0" tIns="0" rIns="0" bIns="0" rtlCol="0" anchor="t">
            <a:normAutofit/>
          </a:bodyPr>
          <a:lstStyle/>
          <a:p>
            <a:pPr algn="l" indent="0" marL="0">
              <a:lnSpc>
                <a:spcPts val="1458"/>
              </a:lnSpc>
              <a:buNone/>
            </a:pPr>
            <a:r>
              <a:rPr lang="en-US" sz="1041" dirty="0">
                <a:solidFill>
                  <a:srgbClr val="13222B"/>
                </a:solidFill>
                <a:latin typeface="IBM Plex Sans" pitchFamily="34" charset="0"/>
                <a:ea typeface="IBM Plex Sans" pitchFamily="34" charset="-122"/>
                <a:cs typeface="IBM Plex Sans" pitchFamily="34" charset="-120"/>
              </a:rPr>
              <a:t>Emite los JWT del realm gimnasio</a:t>
            </a:r>
            <a:endParaRPr lang="en-US" sz="1041" dirty="0"/>
          </a:p>
        </p:txBody>
      </p:sp>
      <p:sp>
        <p:nvSpPr>
          <p:cNvPr id="15" name="Shape 13"/>
          <p:cNvSpPr/>
          <p:nvPr/>
        </p:nvSpPr>
        <p:spPr>
          <a:xfrm>
            <a:off x="822246" y="4136946"/>
            <a:ext cx="2393871" cy="615910"/>
          </a:xfrm>
          <a:prstGeom prst="roundRect">
            <a:avLst>
              <a:gd name="adj" fmla="val 14949"/>
            </a:avLst>
          </a:prstGeom>
          <a:solidFill>
            <a:srgbClr val="E1D5E7"/>
          </a:solidFill>
          <a:ln w="19050">
            <a:solidFill>
              <a:srgbClr val="9673A6"/>
            </a:solidFill>
            <a:prstDash val="solid"/>
          </a:ln>
        </p:spPr>
      </p:sp>
      <p:sp>
        <p:nvSpPr>
          <p:cNvPr id="16" name="Text 14"/>
          <p:cNvSpPr/>
          <p:nvPr/>
        </p:nvSpPr>
        <p:spPr>
          <a:xfrm>
            <a:off x="1363385" y="4147781"/>
            <a:ext cx="1311593" cy="345440"/>
          </a:xfrm>
          <a:prstGeom prst="rect">
            <a:avLst/>
          </a:prstGeom>
          <a:noFill/>
          <a:ln/>
        </p:spPr>
        <p:txBody>
          <a:bodyPr wrap="square" lIns="0" tIns="0" rIns="0" bIns="0" rtlCol="0" anchor="t">
            <a:normAutofit/>
          </a:bodyPr>
          <a:lstStyle/>
          <a:p>
            <a:pPr algn="ctr" indent="0" marL="0">
              <a:lnSpc>
                <a:spcPts val="2520"/>
              </a:lnSpc>
              <a:buNone/>
            </a:pPr>
            <a:r>
              <a:rPr lang="en-US" sz="1800" b="1" dirty="0">
                <a:solidFill>
                  <a:srgbClr val="13222B"/>
                </a:solidFill>
                <a:latin typeface="Rubik" pitchFamily="34" charset="0"/>
                <a:ea typeface="Rubik" pitchFamily="34" charset="-122"/>
                <a:cs typeface="Rubik" pitchFamily="34" charset="-120"/>
              </a:rPr>
              <a:t>Miembros</a:t>
            </a:r>
            <a:endParaRPr lang="en-US" sz="1800" dirty="0"/>
          </a:p>
        </p:txBody>
      </p:sp>
      <p:sp>
        <p:nvSpPr>
          <p:cNvPr id="17" name="Text 15"/>
          <p:cNvSpPr/>
          <p:nvPr/>
        </p:nvSpPr>
        <p:spPr>
          <a:xfrm>
            <a:off x="1732002" y="4493182"/>
            <a:ext cx="574357" cy="274241"/>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13222B"/>
                </a:solidFill>
                <a:latin typeface="IBM Plex Sans" pitchFamily="34" charset="0"/>
                <a:ea typeface="IBM Plex Sans" pitchFamily="34" charset="-122"/>
                <a:cs typeface="IBM Plex Sans" pitchFamily="34" charset="-120"/>
              </a:rPr>
              <a:t>:8081</a:t>
            </a:r>
            <a:endParaRPr lang="en-US" sz="1400" dirty="0"/>
          </a:p>
        </p:txBody>
      </p:sp>
      <p:sp>
        <p:nvSpPr>
          <p:cNvPr id="18" name="Shape 16"/>
          <p:cNvSpPr/>
          <p:nvPr/>
        </p:nvSpPr>
        <p:spPr>
          <a:xfrm>
            <a:off x="3539966" y="4136946"/>
            <a:ext cx="2393990" cy="615910"/>
          </a:xfrm>
          <a:prstGeom prst="roundRect">
            <a:avLst>
              <a:gd name="adj" fmla="val 14949"/>
            </a:avLst>
          </a:prstGeom>
          <a:solidFill>
            <a:srgbClr val="E1D5E7"/>
          </a:solidFill>
          <a:ln w="19050">
            <a:solidFill>
              <a:srgbClr val="9673A6"/>
            </a:solidFill>
            <a:prstDash val="solid"/>
          </a:ln>
        </p:spPr>
      </p:sp>
      <p:sp>
        <p:nvSpPr>
          <p:cNvPr id="19" name="Text 17"/>
          <p:cNvSpPr/>
          <p:nvPr/>
        </p:nvSpPr>
        <p:spPr>
          <a:xfrm>
            <a:off x="4295692" y="4147781"/>
            <a:ext cx="882539" cy="345440"/>
          </a:xfrm>
          <a:prstGeom prst="rect">
            <a:avLst/>
          </a:prstGeom>
          <a:noFill/>
          <a:ln/>
        </p:spPr>
        <p:txBody>
          <a:bodyPr wrap="square" lIns="0" tIns="0" rIns="0" bIns="0" rtlCol="0" anchor="t">
            <a:normAutofit/>
          </a:bodyPr>
          <a:lstStyle/>
          <a:p>
            <a:pPr algn="ctr" indent="0" marL="0">
              <a:lnSpc>
                <a:spcPts val="2520"/>
              </a:lnSpc>
              <a:buNone/>
            </a:pPr>
            <a:r>
              <a:rPr lang="en-US" sz="1800" b="1" dirty="0">
                <a:solidFill>
                  <a:srgbClr val="13222B"/>
                </a:solidFill>
                <a:latin typeface="Rubik" pitchFamily="34" charset="0"/>
                <a:ea typeface="Rubik" pitchFamily="34" charset="-122"/>
                <a:cs typeface="Rubik" pitchFamily="34" charset="-120"/>
              </a:rPr>
              <a:t>Clases</a:t>
            </a:r>
            <a:endParaRPr lang="en-US" sz="1800" dirty="0"/>
          </a:p>
        </p:txBody>
      </p:sp>
      <p:sp>
        <p:nvSpPr>
          <p:cNvPr id="20" name="Text 18"/>
          <p:cNvSpPr/>
          <p:nvPr/>
        </p:nvSpPr>
        <p:spPr>
          <a:xfrm>
            <a:off x="4449723" y="4493182"/>
            <a:ext cx="574357" cy="274241"/>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13222B"/>
                </a:solidFill>
                <a:latin typeface="IBM Plex Sans" pitchFamily="34" charset="0"/>
                <a:ea typeface="IBM Plex Sans" pitchFamily="34" charset="-122"/>
                <a:cs typeface="IBM Plex Sans" pitchFamily="34" charset="-120"/>
              </a:rPr>
              <a:t>:8082</a:t>
            </a:r>
            <a:endParaRPr lang="en-US" sz="1400" dirty="0"/>
          </a:p>
        </p:txBody>
      </p:sp>
      <p:sp>
        <p:nvSpPr>
          <p:cNvPr id="21" name="Shape 19"/>
          <p:cNvSpPr/>
          <p:nvPr/>
        </p:nvSpPr>
        <p:spPr>
          <a:xfrm>
            <a:off x="6257806" y="4136946"/>
            <a:ext cx="2393871" cy="615910"/>
          </a:xfrm>
          <a:prstGeom prst="roundRect">
            <a:avLst>
              <a:gd name="adj" fmla="val 14949"/>
            </a:avLst>
          </a:prstGeom>
          <a:solidFill>
            <a:srgbClr val="E1D5E7"/>
          </a:solidFill>
          <a:ln w="19050">
            <a:solidFill>
              <a:srgbClr val="9673A6"/>
            </a:solidFill>
            <a:prstDash val="solid"/>
          </a:ln>
        </p:spPr>
      </p:sp>
      <p:sp>
        <p:nvSpPr>
          <p:cNvPr id="22" name="Text 20"/>
          <p:cNvSpPr/>
          <p:nvPr/>
        </p:nvSpPr>
        <p:spPr>
          <a:xfrm>
            <a:off x="6534198" y="4147781"/>
            <a:ext cx="1841087" cy="345440"/>
          </a:xfrm>
          <a:prstGeom prst="rect">
            <a:avLst/>
          </a:prstGeom>
          <a:noFill/>
          <a:ln/>
        </p:spPr>
        <p:txBody>
          <a:bodyPr wrap="square" lIns="0" tIns="0" rIns="0" bIns="0" rtlCol="0" anchor="t">
            <a:normAutofit/>
          </a:bodyPr>
          <a:lstStyle/>
          <a:p>
            <a:pPr algn="ctr" indent="0" marL="0">
              <a:lnSpc>
                <a:spcPts val="2520"/>
              </a:lnSpc>
              <a:buNone/>
            </a:pPr>
            <a:r>
              <a:rPr lang="en-US" sz="1800" b="1" dirty="0">
                <a:solidFill>
                  <a:srgbClr val="13222B"/>
                </a:solidFill>
                <a:latin typeface="Rubik" pitchFamily="34" charset="0"/>
                <a:ea typeface="Rubik" pitchFamily="34" charset="-122"/>
                <a:cs typeface="Rubik" pitchFamily="34" charset="-120"/>
              </a:rPr>
              <a:t>Entrenadores</a:t>
            </a:r>
            <a:endParaRPr lang="en-US" sz="1800" dirty="0"/>
          </a:p>
        </p:txBody>
      </p:sp>
      <p:sp>
        <p:nvSpPr>
          <p:cNvPr id="23" name="Text 21"/>
          <p:cNvSpPr/>
          <p:nvPr/>
        </p:nvSpPr>
        <p:spPr>
          <a:xfrm>
            <a:off x="7167563" y="4493182"/>
            <a:ext cx="574357" cy="274241"/>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13222B"/>
                </a:solidFill>
                <a:latin typeface="IBM Plex Sans" pitchFamily="34" charset="0"/>
                <a:ea typeface="IBM Plex Sans" pitchFamily="34" charset="-122"/>
                <a:cs typeface="IBM Plex Sans" pitchFamily="34" charset="-120"/>
              </a:rPr>
              <a:t>:8083</a:t>
            </a:r>
            <a:endParaRPr lang="en-US" sz="1400" dirty="0"/>
          </a:p>
        </p:txBody>
      </p:sp>
      <p:sp>
        <p:nvSpPr>
          <p:cNvPr id="24" name="Shape 22"/>
          <p:cNvSpPr/>
          <p:nvPr/>
        </p:nvSpPr>
        <p:spPr>
          <a:xfrm>
            <a:off x="8975527" y="4136946"/>
            <a:ext cx="2393990" cy="615910"/>
          </a:xfrm>
          <a:prstGeom prst="roundRect">
            <a:avLst>
              <a:gd name="adj" fmla="val 14949"/>
            </a:avLst>
          </a:prstGeom>
          <a:solidFill>
            <a:srgbClr val="E1D5E7"/>
          </a:solidFill>
          <a:ln w="19050">
            <a:solidFill>
              <a:srgbClr val="9673A6"/>
            </a:solidFill>
            <a:prstDash val="solid"/>
          </a:ln>
        </p:spPr>
      </p:sp>
      <p:sp>
        <p:nvSpPr>
          <p:cNvPr id="25" name="Text 23"/>
          <p:cNvSpPr/>
          <p:nvPr/>
        </p:nvSpPr>
        <p:spPr>
          <a:xfrm>
            <a:off x="9634966" y="4147781"/>
            <a:ext cx="1074992" cy="345440"/>
          </a:xfrm>
          <a:prstGeom prst="rect">
            <a:avLst/>
          </a:prstGeom>
          <a:noFill/>
          <a:ln/>
        </p:spPr>
        <p:txBody>
          <a:bodyPr wrap="square" lIns="0" tIns="0" rIns="0" bIns="0" rtlCol="0" anchor="t">
            <a:normAutofit/>
          </a:bodyPr>
          <a:lstStyle/>
          <a:p>
            <a:pPr algn="ctr" indent="0" marL="0">
              <a:lnSpc>
                <a:spcPts val="2520"/>
              </a:lnSpc>
              <a:buNone/>
            </a:pPr>
            <a:r>
              <a:rPr lang="en-US" sz="1800" b="1" dirty="0">
                <a:solidFill>
                  <a:srgbClr val="13222B"/>
                </a:solidFill>
                <a:latin typeface="Rubik" pitchFamily="34" charset="0"/>
                <a:ea typeface="Rubik" pitchFamily="34" charset="-122"/>
                <a:cs typeface="Rubik" pitchFamily="34" charset="-120"/>
              </a:rPr>
              <a:t>Equipos</a:t>
            </a:r>
            <a:endParaRPr lang="en-US" sz="1800" dirty="0"/>
          </a:p>
        </p:txBody>
      </p:sp>
      <p:sp>
        <p:nvSpPr>
          <p:cNvPr id="26" name="Text 24"/>
          <p:cNvSpPr/>
          <p:nvPr/>
        </p:nvSpPr>
        <p:spPr>
          <a:xfrm>
            <a:off x="9885283" y="4493182"/>
            <a:ext cx="574357" cy="274241"/>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13222B"/>
                </a:solidFill>
                <a:latin typeface="IBM Plex Sans" pitchFamily="34" charset="0"/>
                <a:ea typeface="IBM Plex Sans" pitchFamily="34" charset="-122"/>
                <a:cs typeface="IBM Plex Sans" pitchFamily="34" charset="-120"/>
              </a:rPr>
              <a:t>:8084</a:t>
            </a:r>
            <a:endParaRPr lang="en-US" sz="1400" dirty="0"/>
          </a:p>
        </p:txBody>
      </p:sp>
      <p:sp>
        <p:nvSpPr>
          <p:cNvPr id="27" name="Text 25"/>
          <p:cNvSpPr/>
          <p:nvPr/>
        </p:nvSpPr>
        <p:spPr>
          <a:xfrm>
            <a:off x="822246" y="5406986"/>
            <a:ext cx="10547271" cy="615910"/>
          </a:xfrm>
          <a:prstGeom prst="roundRect">
            <a:avLst>
              <a:gd name="adj" fmla="val 19073"/>
            </a:avLst>
          </a:prstGeom>
          <a:solidFill>
            <a:srgbClr val="DAE8FC"/>
          </a:solidFill>
          <a:ln w="19050">
            <a:solidFill>
              <a:srgbClr val="6C8EBF"/>
            </a:solidFill>
            <a:prstDash val="solid"/>
          </a:ln>
        </p:spPr>
        <p:txBody>
          <a:bodyPr wrap="square" lIns="0" tIns="0" rIns="0" bIns="0" rtlCol="0" anchor="ctr">
            <a:normAutofit/>
          </a:bodyPr>
          <a:lstStyle/>
          <a:p>
            <a:pPr algn="ctr" indent="0" marL="0">
              <a:lnSpc>
                <a:spcPts val="2240"/>
              </a:lnSpc>
              <a:buNone/>
            </a:pPr>
            <a:r>
              <a:rPr lang="en-US" sz="1600" b="1" dirty="0">
                <a:solidFill>
                  <a:srgbClr val="13222B"/>
                </a:solidFill>
                <a:latin typeface="IBM Plex Sans" pitchFamily="34" charset="0"/>
                <a:ea typeface="IBM Plex Sans" pitchFamily="34" charset="-122"/>
                <a:cs typeface="IBM Plex Sans" pitchFamily="34" charset="-120"/>
              </a:rPr>
              <a:t>Eureka Server :8761 · registro y descubrimiento de servicios</a:t>
            </a:r>
            <a:endParaRPr lang="en-US" sz="1600" dirty="0"/>
          </a:p>
        </p:txBody>
      </p:sp>
      <p:pic>
        <p:nvPicPr>
          <p:cNvPr id="28" name="Image 0" descr="connector">    </p:cNvPr>
          <p:cNvPicPr>
            <a:picLocks noChangeAspect="1"/>
          </p:cNvPicPr>
          <p:nvPr/>
        </p:nvPicPr>
        <p:blipFill>
          <a:blip r:embed="rId1"/>
          <a:srcRect l="-16" r="-16" t="0" b="0"/>
          <a:stretch/>
        </p:blipFill>
        <p:spPr>
          <a:xfrm>
            <a:off x="2158960" y="2616161"/>
            <a:ext cx="1193721" cy="101560"/>
          </a:xfrm>
          <a:prstGeom prst="rect">
            <a:avLst/>
          </a:prstGeom>
        </p:spPr>
      </p:pic>
      <p:pic>
        <p:nvPicPr>
          <p:cNvPr id="29" name="Image 1" descr="connector">    </p:cNvPr>
          <p:cNvPicPr>
            <a:picLocks noChangeAspect="1"/>
          </p:cNvPicPr>
          <p:nvPr/>
        </p:nvPicPr>
        <p:blipFill>
          <a:blip r:embed="rId2"/>
          <a:srcRect l="-20" r="-20" t="0" b="0"/>
          <a:stretch/>
        </p:blipFill>
        <p:spPr>
          <a:xfrm>
            <a:off x="7823121" y="2489121"/>
            <a:ext cx="1371600" cy="101560"/>
          </a:xfrm>
          <a:prstGeom prst="rect">
            <a:avLst/>
          </a:prstGeom>
        </p:spPr>
      </p:pic>
      <p:pic>
        <p:nvPicPr>
          <p:cNvPr id="30" name="Image 2" descr="connector">    </p:cNvPr>
          <p:cNvPicPr>
            <a:picLocks noChangeAspect="1"/>
          </p:cNvPicPr>
          <p:nvPr/>
        </p:nvPicPr>
        <p:blipFill>
          <a:blip r:embed="rId3"/>
          <a:srcRect l="-5" r="-5" t="0" b="0"/>
          <a:stretch/>
        </p:blipFill>
        <p:spPr>
          <a:xfrm>
            <a:off x="1968460" y="3441621"/>
            <a:ext cx="1638300" cy="736521"/>
          </a:xfrm>
          <a:prstGeom prst="rect">
            <a:avLst/>
          </a:prstGeom>
        </p:spPr>
      </p:pic>
      <p:pic>
        <p:nvPicPr>
          <p:cNvPr id="31" name="Image 3" descr="connector">    </p:cNvPr>
          <p:cNvPicPr>
            <a:picLocks noChangeAspect="1"/>
          </p:cNvPicPr>
          <p:nvPr/>
        </p:nvPicPr>
        <p:blipFill>
          <a:blip r:embed="rId4"/>
          <a:srcRect l="-5" r="-5" t="0" b="0"/>
          <a:stretch/>
        </p:blipFill>
        <p:spPr>
          <a:xfrm>
            <a:off x="4521160" y="3441621"/>
            <a:ext cx="266700" cy="736521"/>
          </a:xfrm>
          <a:prstGeom prst="rect">
            <a:avLst/>
          </a:prstGeom>
        </p:spPr>
      </p:pic>
      <p:pic>
        <p:nvPicPr>
          <p:cNvPr id="32" name="Image 4" descr="connector">    </p:cNvPr>
          <p:cNvPicPr>
            <a:picLocks noChangeAspect="1"/>
          </p:cNvPicPr>
          <p:nvPr/>
        </p:nvPicPr>
        <p:blipFill>
          <a:blip r:embed="rId5"/>
          <a:srcRect l="-5" r="-5" t="0" b="0"/>
          <a:stretch/>
        </p:blipFill>
        <p:spPr>
          <a:xfrm>
            <a:off x="6553200" y="3441621"/>
            <a:ext cx="952500" cy="736521"/>
          </a:xfrm>
          <a:prstGeom prst="rect">
            <a:avLst/>
          </a:prstGeom>
        </p:spPr>
      </p:pic>
      <p:pic>
        <p:nvPicPr>
          <p:cNvPr id="33" name="Image 5" descr="connector">    </p:cNvPr>
          <p:cNvPicPr>
            <a:picLocks noChangeAspect="1"/>
          </p:cNvPicPr>
          <p:nvPr/>
        </p:nvPicPr>
        <p:blipFill>
          <a:blip r:embed="rId6"/>
          <a:srcRect l="-5" r="-5" t="0" b="0"/>
          <a:stretch/>
        </p:blipFill>
        <p:spPr>
          <a:xfrm>
            <a:off x="7569160" y="3441621"/>
            <a:ext cx="2654260" cy="736521"/>
          </a:xfrm>
          <a:prstGeom prst="rect">
            <a:avLst/>
          </a:prstGeom>
        </p:spPr>
      </p:pic>
      <p:pic>
        <p:nvPicPr>
          <p:cNvPr id="34" name="Image 6" descr="connector">    </p:cNvPr>
          <p:cNvPicPr>
            <a:picLocks noChangeAspect="1"/>
          </p:cNvPicPr>
          <p:nvPr/>
        </p:nvPicPr>
        <p:blipFill>
          <a:blip r:embed="rId7"/>
          <a:srcRect l="0" r="0" t="-14" b="-14"/>
          <a:stretch/>
        </p:blipFill>
        <p:spPr>
          <a:xfrm>
            <a:off x="1968460" y="4711661"/>
            <a:ext cx="101560" cy="736521"/>
          </a:xfrm>
          <a:prstGeom prst="rect">
            <a:avLst/>
          </a:prstGeom>
        </p:spPr>
      </p:pic>
      <p:pic>
        <p:nvPicPr>
          <p:cNvPr id="35" name="Image 7" descr="connector">    </p:cNvPr>
          <p:cNvPicPr>
            <a:picLocks noChangeAspect="1"/>
          </p:cNvPicPr>
          <p:nvPr/>
        </p:nvPicPr>
        <p:blipFill>
          <a:blip r:embed="rId8"/>
          <a:srcRect l="0" r="0" t="-14" b="-14"/>
          <a:stretch/>
        </p:blipFill>
        <p:spPr>
          <a:xfrm>
            <a:off x="4686300" y="4711661"/>
            <a:ext cx="101560" cy="736521"/>
          </a:xfrm>
          <a:prstGeom prst="rect">
            <a:avLst/>
          </a:prstGeom>
        </p:spPr>
      </p:pic>
      <p:pic>
        <p:nvPicPr>
          <p:cNvPr id="36" name="Image 8" descr="connector">    </p:cNvPr>
          <p:cNvPicPr>
            <a:picLocks noChangeAspect="1"/>
          </p:cNvPicPr>
          <p:nvPr/>
        </p:nvPicPr>
        <p:blipFill>
          <a:blip r:embed="rId9"/>
          <a:srcRect l="0" r="0" t="-14" b="-14"/>
          <a:stretch/>
        </p:blipFill>
        <p:spPr>
          <a:xfrm>
            <a:off x="7404021" y="4711661"/>
            <a:ext cx="101560" cy="736521"/>
          </a:xfrm>
          <a:prstGeom prst="rect">
            <a:avLst/>
          </a:prstGeom>
        </p:spPr>
      </p:pic>
      <p:pic>
        <p:nvPicPr>
          <p:cNvPr id="37" name="Image 9" descr="connector">    </p:cNvPr>
          <p:cNvPicPr>
            <a:picLocks noChangeAspect="1"/>
          </p:cNvPicPr>
          <p:nvPr/>
        </p:nvPicPr>
        <p:blipFill>
          <a:blip r:embed="rId10"/>
          <a:srcRect l="0" r="0" t="-14" b="-14"/>
          <a:stretch/>
        </p:blipFill>
        <p:spPr>
          <a:xfrm>
            <a:off x="10121860" y="4711661"/>
            <a:ext cx="101560" cy="736521"/>
          </a:xfrm>
          <a:prstGeom prst="rect">
            <a:avLst/>
          </a:prstGeom>
        </p:spPr>
      </p:pic>
      <p:sp>
        <p:nvSpPr>
          <p:cNvPr id="38" name="Text 26"/>
          <p:cNvSpPr/>
          <p:nvPr/>
        </p:nvSpPr>
        <p:spPr>
          <a:xfrm>
            <a:off x="2209760" y="2349461"/>
            <a:ext cx="1092121"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Bearer JWT</a:t>
            </a:r>
            <a:endParaRPr lang="en-US" sz="1200" dirty="0"/>
          </a:p>
        </p:txBody>
      </p:sp>
      <p:sp>
        <p:nvSpPr>
          <p:cNvPr id="39" name="Text 27"/>
          <p:cNvSpPr/>
          <p:nvPr/>
        </p:nvSpPr>
        <p:spPr>
          <a:xfrm>
            <a:off x="7873921" y="2222421"/>
            <a:ext cx="12700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A4A00"/>
                </a:solidFill>
                <a:latin typeface="IBM Plex Sans" pitchFamily="34" charset="0"/>
                <a:ea typeface="IBM Plex Sans" pitchFamily="34" charset="-122"/>
                <a:cs typeface="IBM Plex Sans" pitchFamily="34" charset="-120"/>
              </a:rPr>
              <a:t>valida firma</a:t>
            </a:r>
            <a:endParaRPr lang="en-US" sz="1200" dirty="0"/>
          </a:p>
        </p:txBody>
      </p:sp>
      <p:sp>
        <p:nvSpPr>
          <p:cNvPr id="40" name="Text 28"/>
          <p:cNvSpPr/>
          <p:nvPr/>
        </p:nvSpPr>
        <p:spPr>
          <a:xfrm>
            <a:off x="4927600" y="3530561"/>
            <a:ext cx="1574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lb://nombre</a:t>
            </a:r>
            <a:endParaRPr lang="en-US" sz="1200" dirty="0"/>
          </a:p>
        </p:txBody>
      </p:sp>
      <p:sp>
        <p:nvSpPr>
          <p:cNvPr id="41" name="Text 29"/>
          <p:cNvSpPr/>
          <p:nvPr/>
        </p:nvSpPr>
        <p:spPr>
          <a:xfrm>
            <a:off x="4825960" y="4965621"/>
            <a:ext cx="132072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F6AA0"/>
                </a:solidFill>
                <a:latin typeface="IBM Plex Sans" pitchFamily="34" charset="0"/>
                <a:ea typeface="IBM Plex Sans" pitchFamily="34" charset="-122"/>
                <a:cs typeface="IBM Plex Sans" pitchFamily="34" charset="-120"/>
              </a:rPr>
              <a:t>se registran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721" y="812719"/>
            <a:ext cx="10883556" cy="25650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2A724A"/>
                </a:solidFill>
                <a:latin typeface="IBM Plex Sans" pitchFamily="34" charset="0"/>
                <a:ea typeface="IBM Plex Sans" pitchFamily="34" charset="-122"/>
                <a:cs typeface="IBM Plex Sans" pitchFamily="34" charset="-120"/>
              </a:rPr>
              <a:t>ENRUTAMIENTO</a:t>
            </a:r>
            <a:endParaRPr lang="en-US" sz="1300" dirty="0"/>
          </a:p>
        </p:txBody>
      </p:sp>
      <p:sp>
        <p:nvSpPr>
          <p:cNvPr id="3" name="Text 1"/>
          <p:cNvSpPr/>
          <p:nvPr>
            <p:ph type="title"/>
          </p:nvPr>
        </p:nvSpPr>
        <p:spPr>
          <a:xfrm>
            <a:off x="812721" y="1297781"/>
            <a:ext cx="10883556" cy="472361"/>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22B"/>
                </a:solidFill>
                <a:latin typeface="Rubik" pitchFamily="34" charset="0"/>
                <a:ea typeface="Rubik" pitchFamily="34" charset="-122"/>
                <a:cs typeface="Rubik" pitchFamily="34" charset="-120"/>
              </a:rPr>
              <a:t>Rutas en YAML y en Java DSL</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0341" y="2006321"/>
          <a:ext cx="6088380" cy="2293620"/>
        </p:xfrm>
        <a:graphic>
          <a:graphicData uri="http://schemas.openxmlformats.org/drawingml/2006/table">
            <a:tbl>
              <a:tblPr/>
              <a:tblGrid>
                <a:gridCol w="2800655"/>
                <a:gridCol w="2191817"/>
                <a:gridCol w="1095908"/>
              </a:tblGrid>
              <a:tr h="327660">
                <a:tc>
                  <a:txBody>
                    <a:bodyPr/>
                    <a:lstStyle/>
                    <a:p>
                      <a:pPr indent="0" marL="0">
                        <a:lnSpc>
                          <a:spcPts val="1680"/>
                        </a:lnSpc>
                        <a:buNone/>
                      </a:pPr>
                      <a:r>
                        <a:rPr lang="en-US" sz="1200" b="1" dirty="0">
                          <a:solidFill>
                            <a:srgbClr val="13222B"/>
                          </a:solidFill>
                          <a:latin typeface="IBM Plex Sans" pitchFamily="34" charset="0"/>
                          <a:ea typeface="IBM Plex Sans" pitchFamily="34" charset="-122"/>
                          <a:cs typeface="IBM Plex Sans" pitchFamily="34" charset="-120"/>
                        </a:rPr>
                        <a:t>Ruta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indent="0" marL="0">
                        <a:lnSpc>
                          <a:spcPts val="1680"/>
                        </a:lnSpc>
                        <a:buNone/>
                      </a:pPr>
                      <a:r>
                        <a:rPr lang="en-US" sz="1200" b="1" dirty="0">
                          <a:solidFill>
                            <a:srgbClr val="13222B"/>
                          </a:solidFill>
                          <a:latin typeface="IBM Plex Sans" pitchFamily="34" charset="0"/>
                          <a:ea typeface="IBM Plex Sans" pitchFamily="34" charset="-122"/>
                          <a:cs typeface="IBM Plex Sans" pitchFamily="34" charset="-120"/>
                        </a:rPr>
                        <a:t>Servicio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indent="0" marL="0">
                        <a:lnSpc>
                          <a:spcPts val="1680"/>
                        </a:lnSpc>
                        <a:buNone/>
                      </a:pPr>
                      <a:r>
                        <a:rPr lang="en-US" sz="1200" b="1" dirty="0">
                          <a:solidFill>
                            <a:srgbClr val="13222B"/>
                          </a:solidFill>
                          <a:latin typeface="IBM Plex Sans" pitchFamily="34" charset="0"/>
                          <a:ea typeface="IBM Plex Sans" pitchFamily="34" charset="-122"/>
                          <a:cs typeface="IBM Plex Sans" pitchFamily="34" charset="-120"/>
                        </a:rPr>
                        <a:t>Puerto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r>
              <a:tr h="327660">
                <a:tc>
                  <a:txBody>
                    <a:bodyPr/>
                    <a:lstStyle/>
                    <a:p>
                      <a:pPr indent="0" marL="0">
                        <a:lnSpc>
                          <a:spcPts val="1680"/>
                        </a:lnSpc>
                        <a:buNone/>
                      </a:pPr>
                      <a:r>
                        <a:rPr lang="en-US" sz="1200" dirty="0">
                          <a:solidFill>
                            <a:srgbClr val="13222B"/>
                          </a:solidFill>
                          <a:latin typeface="IBM Plex Sans" pitchFamily="34" charset="0"/>
                          <a:ea typeface="IBM Plex Sans" pitchFamily="34" charset="-122"/>
                          <a:cs typeface="IBM Plex Sans" pitchFamily="34" charset="-120"/>
                        </a:rPr>
                        <a:t>/api/miembros/**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3222B"/>
                          </a:solidFill>
                          <a:latin typeface="IBM Plex Sans" pitchFamily="34" charset="0"/>
                          <a:ea typeface="IBM Plex Sans" pitchFamily="34" charset="-122"/>
                          <a:cs typeface="IBM Plex Sans" pitchFamily="34" charset="-120"/>
                        </a:rPr>
                        <a:t>miembros-service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3222B"/>
                          </a:solidFill>
                          <a:latin typeface="IBM Plex Sans" pitchFamily="34" charset="0"/>
                          <a:ea typeface="IBM Plex Sans" pitchFamily="34" charset="-122"/>
                          <a:cs typeface="IBM Plex Sans" pitchFamily="34" charset="-120"/>
                        </a:rPr>
                        <a:t>8081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27660">
                <a:tc>
                  <a:txBody>
                    <a:bodyPr/>
                    <a:lstStyle/>
                    <a:p>
                      <a:pPr indent="0" marL="0">
                        <a:lnSpc>
                          <a:spcPts val="1680"/>
                        </a:lnSpc>
                        <a:buNone/>
                      </a:pPr>
                      <a:r>
                        <a:rPr lang="en-US" sz="1200" dirty="0">
                          <a:solidFill>
                            <a:srgbClr val="13222B"/>
                          </a:solidFill>
                          <a:latin typeface="IBM Plex Sans" pitchFamily="34" charset="0"/>
                          <a:ea typeface="IBM Plex Sans" pitchFamily="34" charset="-122"/>
                          <a:cs typeface="IBM Plex Sans" pitchFamily="34" charset="-120"/>
                        </a:rPr>
                        <a:t>/api/pagos/**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3222B"/>
                          </a:solidFill>
                          <a:latin typeface="IBM Plex Sans" pitchFamily="34" charset="0"/>
                          <a:ea typeface="IBM Plex Sans" pitchFamily="34" charset="-122"/>
                          <a:cs typeface="IBM Plex Sans" pitchFamily="34" charset="-120"/>
                        </a:rPr>
                        <a:t>miembros-service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3222B"/>
                          </a:solidFill>
                          <a:latin typeface="IBM Plex Sans" pitchFamily="34" charset="0"/>
                          <a:ea typeface="IBM Plex Sans" pitchFamily="34" charset="-122"/>
                          <a:cs typeface="IBM Plex Sans" pitchFamily="34" charset="-120"/>
                        </a:rPr>
                        <a:t>8081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27660">
                <a:tc>
                  <a:txBody>
                    <a:bodyPr/>
                    <a:lstStyle/>
                    <a:p>
                      <a:pPr indent="0" marL="0">
                        <a:lnSpc>
                          <a:spcPts val="1680"/>
                        </a:lnSpc>
                        <a:buNone/>
                      </a:pPr>
                      <a:r>
                        <a:rPr lang="en-US" sz="1200" dirty="0">
                          <a:solidFill>
                            <a:srgbClr val="13222B"/>
                          </a:solidFill>
                          <a:latin typeface="IBM Plex Sans" pitchFamily="34" charset="0"/>
                          <a:ea typeface="IBM Plex Sans" pitchFamily="34" charset="-122"/>
                          <a:cs typeface="IBM Plex Sans" pitchFamily="34" charset="-120"/>
                        </a:rPr>
                        <a:t>/api/clases/**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3222B"/>
                          </a:solidFill>
                          <a:latin typeface="IBM Plex Sans" pitchFamily="34" charset="0"/>
                          <a:ea typeface="IBM Plex Sans" pitchFamily="34" charset="-122"/>
                          <a:cs typeface="IBM Plex Sans" pitchFamily="34" charset="-120"/>
                        </a:rPr>
                        <a:t>clases-service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3222B"/>
                          </a:solidFill>
                          <a:latin typeface="IBM Plex Sans" pitchFamily="34" charset="0"/>
                          <a:ea typeface="IBM Plex Sans" pitchFamily="34" charset="-122"/>
                          <a:cs typeface="IBM Plex Sans" pitchFamily="34" charset="-120"/>
                        </a:rPr>
                        <a:t>8082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27660">
                <a:tc>
                  <a:txBody>
                    <a:bodyPr/>
                    <a:lstStyle/>
                    <a:p>
                      <a:pPr indent="0" marL="0">
                        <a:lnSpc>
                          <a:spcPts val="1680"/>
                        </a:lnSpc>
                        <a:buNone/>
                      </a:pPr>
                      <a:r>
                        <a:rPr lang="en-US" sz="1200" dirty="0">
                          <a:solidFill>
                            <a:srgbClr val="13222B"/>
                          </a:solidFill>
                          <a:latin typeface="IBM Plex Sans" pitchFamily="34" charset="0"/>
                          <a:ea typeface="IBM Plex Sans" pitchFamily="34" charset="-122"/>
                          <a:cs typeface="IBM Plex Sans" pitchFamily="34" charset="-120"/>
                        </a:rPr>
                        <a:t>/api/entrenadores/**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3222B"/>
                          </a:solidFill>
                          <a:latin typeface="IBM Plex Sans" pitchFamily="34" charset="0"/>
                          <a:ea typeface="IBM Plex Sans" pitchFamily="34" charset="-122"/>
                          <a:cs typeface="IBM Plex Sans" pitchFamily="34" charset="-120"/>
                        </a:rPr>
                        <a:t>entrenadores-service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3222B"/>
                          </a:solidFill>
                          <a:latin typeface="IBM Plex Sans" pitchFamily="34" charset="0"/>
                          <a:ea typeface="IBM Plex Sans" pitchFamily="34" charset="-122"/>
                          <a:cs typeface="IBM Plex Sans" pitchFamily="34" charset="-120"/>
                        </a:rPr>
                        <a:t>8083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27660">
                <a:tc>
                  <a:txBody>
                    <a:bodyPr/>
                    <a:lstStyle/>
                    <a:p>
                      <a:pPr indent="0" marL="0">
                        <a:lnSpc>
                          <a:spcPts val="1680"/>
                        </a:lnSpc>
                        <a:buNone/>
                      </a:pPr>
                      <a:r>
                        <a:rPr lang="en-US" sz="1200" dirty="0">
                          <a:solidFill>
                            <a:srgbClr val="13222B"/>
                          </a:solidFill>
                          <a:latin typeface="IBM Plex Sans" pitchFamily="34" charset="0"/>
                          <a:ea typeface="IBM Plex Sans" pitchFamily="34" charset="-122"/>
                          <a:cs typeface="IBM Plex Sans" pitchFamily="34" charset="-120"/>
                        </a:rPr>
                        <a:t>/api/equipos/**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3222B"/>
                          </a:solidFill>
                          <a:latin typeface="IBM Plex Sans" pitchFamily="34" charset="0"/>
                          <a:ea typeface="IBM Plex Sans" pitchFamily="34" charset="-122"/>
                          <a:cs typeface="IBM Plex Sans" pitchFamily="34" charset="-120"/>
                        </a:rPr>
                        <a:t>equipos-service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3222B"/>
                          </a:solidFill>
                          <a:latin typeface="IBM Plex Sans" pitchFamily="34" charset="0"/>
                          <a:ea typeface="IBM Plex Sans" pitchFamily="34" charset="-122"/>
                          <a:cs typeface="IBM Plex Sans" pitchFamily="34" charset="-120"/>
                        </a:rPr>
                        <a:t>8084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27660">
                <a:tc>
                  <a:txBody>
                    <a:bodyPr/>
                    <a:lstStyle/>
                    <a:p>
                      <a:pPr indent="0" marL="0">
                        <a:lnSpc>
                          <a:spcPts val="1680"/>
                        </a:lnSpc>
                        <a:buNone/>
                      </a:pPr>
                      <a:r>
                        <a:rPr lang="en-US" sz="1200" dirty="0">
                          <a:solidFill>
                            <a:srgbClr val="13222B"/>
                          </a:solidFill>
                          <a:latin typeface="IBM Plex Sans" pitchFamily="34" charset="0"/>
                          <a:ea typeface="IBM Plex Sans" pitchFamily="34" charset="-122"/>
                          <a:cs typeface="IBM Plex Sans" pitchFamily="34" charset="-120"/>
                        </a:rPr>
                        <a:t>/api/resumen/miembros/{id}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3222B"/>
                          </a:solidFill>
                          <a:latin typeface="IBM Plex Sans" pitchFamily="34" charset="0"/>
                          <a:ea typeface="IBM Plex Sans" pitchFamily="34" charset="-122"/>
                          <a:cs typeface="IBM Plex Sans" pitchFamily="34" charset="-120"/>
                        </a:rPr>
                        <a:t>filtro propio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3222B"/>
                          </a:solidFill>
                          <a:latin typeface="IBM Plex Sans" pitchFamily="34" charset="0"/>
                          <a:ea typeface="IBM Plex Sans" pitchFamily="34" charset="-122"/>
                          <a:cs typeface="IBM Plex Sans" pitchFamily="34" charset="-120"/>
                        </a:rPr>
                        <a:t>sin backend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5" name="Shape 2"/>
          <p:cNvSpPr/>
          <p:nvPr/>
        </p:nvSpPr>
        <p:spPr>
          <a:xfrm>
            <a:off x="7213521" y="1998701"/>
            <a:ext cx="4165759" cy="2555081"/>
          </a:xfrm>
          <a:prstGeom prst="roundRect">
            <a:avLst>
              <a:gd name="adj" fmla="val 3976"/>
            </a:avLst>
          </a:prstGeom>
          <a:solidFill>
            <a:srgbClr val="13222B"/>
          </a:solidFill>
          <a:ln/>
        </p:spPr>
      </p:sp>
      <p:sp>
        <p:nvSpPr>
          <p:cNvPr id="6" name="Text 3"/>
          <p:cNvSpPr/>
          <p:nvPr/>
        </p:nvSpPr>
        <p:spPr>
          <a:xfrm>
            <a:off x="7416642" y="2201822"/>
            <a:ext cx="387230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FD1A0"/>
                </a:solidFill>
                <a:latin typeface="IBM Plex Sans" pitchFamily="34" charset="0"/>
                <a:ea typeface="IBM Plex Sans" pitchFamily="34" charset="-122"/>
                <a:cs typeface="IBM Plex Sans" pitchFamily="34" charset="-120"/>
              </a:rPr>
              <a:t>application.yml</a:t>
            </a:r>
            <a:endParaRPr lang="en-US" sz="1200" dirty="0"/>
          </a:p>
        </p:txBody>
      </p:sp>
      <p:sp>
        <p:nvSpPr>
          <p:cNvPr id="7" name="Text 4"/>
          <p:cNvSpPr/>
          <p:nvPr/>
        </p:nvSpPr>
        <p:spPr>
          <a:xfrm>
            <a:off x="7416642" y="2491383"/>
            <a:ext cx="3872303" cy="87884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8EEF0"/>
                </a:solidFill>
                <a:latin typeface="JetBrains Mono" pitchFamily="49" charset="0"/>
                <a:ea typeface="JetBrains Mono" pitchFamily="49" charset="-122"/>
                <a:cs typeface="JetBrains Mono" pitchFamily="49" charset="-120"/>
              </a:rPr>
              <a:t>- id: clases</a:t>
            </a:r>
            <a:endParaRPr lang="en-US" sz="1200" dirty="0"/>
          </a:p>
          <a:p>
            <a:pPr algn="l" indent="0" marL="0">
              <a:lnSpc>
                <a:spcPts val="1680"/>
              </a:lnSpc>
              <a:buNone/>
            </a:pPr>
            <a:r>
              <a:rPr lang="en-US" sz="1200" dirty="0">
                <a:solidFill>
                  <a:srgbClr val="E8EEF0"/>
                </a:solidFill>
                <a:latin typeface="JetBrains Mono" pitchFamily="49" charset="0"/>
                <a:ea typeface="JetBrains Mono" pitchFamily="49" charset="-122"/>
                <a:cs typeface="JetBrains Mono" pitchFamily="49" charset="-120"/>
              </a:rPr>
              <a:t>  uri: lb://clases-service</a:t>
            </a:r>
            <a:endParaRPr lang="en-US" sz="1200" dirty="0"/>
          </a:p>
          <a:p>
            <a:pPr algn="l" indent="0" marL="0">
              <a:lnSpc>
                <a:spcPts val="1680"/>
              </a:lnSpc>
              <a:buNone/>
            </a:pPr>
            <a:r>
              <a:rPr lang="en-US" sz="1200" dirty="0">
                <a:solidFill>
                  <a:srgbClr val="E8EEF0"/>
                </a:solidFill>
                <a:latin typeface="JetBrains Mono" pitchFamily="49" charset="0"/>
                <a:ea typeface="JetBrains Mono" pitchFamily="49" charset="-122"/>
                <a:cs typeface="JetBrains Mono" pitchFamily="49" charset="-120"/>
              </a:rPr>
              <a:t>  predicates:</a:t>
            </a:r>
            <a:endParaRPr lang="en-US" sz="1200" dirty="0"/>
          </a:p>
          <a:p>
            <a:pPr algn="l" indent="0" marL="0">
              <a:lnSpc>
                <a:spcPts val="1680"/>
              </a:lnSpc>
              <a:buNone/>
            </a:pPr>
            <a:r>
              <a:rPr lang="en-US" sz="1200" dirty="0">
                <a:solidFill>
                  <a:srgbClr val="E8EEF0"/>
                </a:solidFill>
                <a:latin typeface="JetBrains Mono" pitchFamily="49" charset="0"/>
                <a:ea typeface="JetBrains Mono" pitchFamily="49" charset="-122"/>
                <a:cs typeface="JetBrains Mono" pitchFamily="49" charset="-120"/>
              </a:rPr>
              <a:t>    - Path=/api/clases/**</a:t>
            </a:r>
            <a:endParaRPr lang="en-US" sz="1200" dirty="0"/>
          </a:p>
        </p:txBody>
      </p:sp>
      <p:sp>
        <p:nvSpPr>
          <p:cNvPr id="8" name="Text 5"/>
          <p:cNvSpPr/>
          <p:nvPr/>
        </p:nvSpPr>
        <p:spPr>
          <a:xfrm>
            <a:off x="7416642" y="3421022"/>
            <a:ext cx="387230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FD1A0"/>
                </a:solidFill>
                <a:latin typeface="IBM Plex Sans" pitchFamily="34" charset="0"/>
                <a:ea typeface="IBM Plex Sans" pitchFamily="34" charset="-122"/>
                <a:cs typeface="IBM Plex Sans" pitchFamily="34" charset="-120"/>
              </a:rPr>
              <a:t>GatewayConfig.java</a:t>
            </a:r>
            <a:endParaRPr lang="en-US" sz="1200" dirty="0"/>
          </a:p>
        </p:txBody>
      </p:sp>
      <p:sp>
        <p:nvSpPr>
          <p:cNvPr id="9" name="Text 6"/>
          <p:cNvSpPr/>
          <p:nvPr/>
        </p:nvSpPr>
        <p:spPr>
          <a:xfrm>
            <a:off x="7416642" y="3710583"/>
            <a:ext cx="3872303" cy="66548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8EEF0"/>
                </a:solidFill>
                <a:latin typeface="JetBrains Mono" pitchFamily="49" charset="0"/>
                <a:ea typeface="JetBrains Mono" pitchFamily="49" charset="-122"/>
                <a:cs typeface="JetBrains Mono" pitchFamily="49" charset="-120"/>
              </a:rPr>
              <a:t>.route("equipos", r -&gt; r</a:t>
            </a:r>
            <a:endParaRPr lang="en-US" sz="1200" dirty="0"/>
          </a:p>
          <a:p>
            <a:pPr algn="l" indent="0" marL="0">
              <a:lnSpc>
                <a:spcPts val="1680"/>
              </a:lnSpc>
              <a:buNone/>
            </a:pPr>
            <a:r>
              <a:rPr lang="en-US" sz="1200" dirty="0">
                <a:solidFill>
                  <a:srgbClr val="E8EEF0"/>
                </a:solidFill>
                <a:latin typeface="JetBrains Mono" pitchFamily="49" charset="0"/>
                <a:ea typeface="JetBrains Mono" pitchFamily="49" charset="-122"/>
                <a:cs typeface="JetBrains Mono" pitchFamily="49" charset="-120"/>
              </a:rPr>
              <a:t>  .path("/api/equipos/**")</a:t>
            </a:r>
            <a:endParaRPr lang="en-US" sz="1200" dirty="0"/>
          </a:p>
          <a:p>
            <a:pPr algn="l" indent="0" marL="0">
              <a:lnSpc>
                <a:spcPts val="1680"/>
              </a:lnSpc>
              <a:buNone/>
            </a:pPr>
            <a:r>
              <a:rPr lang="en-US" sz="1200" dirty="0">
                <a:solidFill>
                  <a:srgbClr val="E8EEF0"/>
                </a:solidFill>
                <a:latin typeface="JetBrains Mono" pitchFamily="49" charset="0"/>
                <a:ea typeface="JetBrains Mono" pitchFamily="49" charset="-122"/>
                <a:cs typeface="JetBrains Mono" pitchFamily="49" charset="-120"/>
              </a:rPr>
              <a:t>  .uri("lb://equipos-service"))</a:t>
            </a:r>
            <a:endParaRPr lang="en-US" sz="1200" dirty="0"/>
          </a:p>
        </p:txBody>
      </p:sp>
      <p:sp>
        <p:nvSpPr>
          <p:cNvPr id="10" name="Text 7"/>
          <p:cNvSpPr/>
          <p:nvPr/>
        </p:nvSpPr>
        <p:spPr>
          <a:xfrm>
            <a:off x="812721" y="4807744"/>
            <a:ext cx="1088355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0"/>
                </a:solidFill>
                <a:latin typeface="IBM Plex Sans" pitchFamily="34" charset="0"/>
                <a:ea typeface="IBM Plex Sans" pitchFamily="34" charset="-122"/>
                <a:cs typeface="IBM Plex Sans" pitchFamily="34" charset="-120"/>
              </a:rPr>
              <a:t>Las dos formas definen rutas equivalentes. Usamos ambas a propósito, como pide el enunciado.</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721" y="812722"/>
            <a:ext cx="10883556" cy="25650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2A724A"/>
                </a:solidFill>
                <a:latin typeface="IBM Plex Sans" pitchFamily="34" charset="0"/>
                <a:ea typeface="IBM Plex Sans" pitchFamily="34" charset="-122"/>
                <a:cs typeface="IBM Plex Sans" pitchFamily="34" charset="-120"/>
              </a:rPr>
              <a:t>SEGURIDAD</a:t>
            </a:r>
            <a:endParaRPr lang="en-US" sz="1300" dirty="0"/>
          </a:p>
        </p:txBody>
      </p:sp>
      <p:sp>
        <p:nvSpPr>
          <p:cNvPr id="3" name="Text 1"/>
          <p:cNvSpPr/>
          <p:nvPr>
            <p:ph type="title"/>
          </p:nvPr>
        </p:nvSpPr>
        <p:spPr>
          <a:xfrm>
            <a:off x="812721" y="1297781"/>
            <a:ext cx="10883556" cy="472361"/>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22B"/>
                </a:solidFill>
                <a:latin typeface="Rubik" pitchFamily="34" charset="0"/>
                <a:ea typeface="Rubik" pitchFamily="34" charset="-122"/>
                <a:cs typeface="Rubik" pitchFamily="34" charset="-120"/>
              </a:rPr>
              <a:t>Autenticación y roles en el gateway</a:t>
            </a:r>
            <a:endParaRPr lang="en-US" sz="3200" dirty="0"/>
          </a:p>
        </p:txBody>
      </p:sp>
      <p:sp>
        <p:nvSpPr>
          <p:cNvPr id="4" name="Shape 2"/>
          <p:cNvSpPr/>
          <p:nvPr/>
        </p:nvSpPr>
        <p:spPr>
          <a:xfrm>
            <a:off x="819071" y="2005053"/>
            <a:ext cx="5448221" cy="871101"/>
          </a:xfrm>
          <a:prstGeom prst="roundRect">
            <a:avLst>
              <a:gd name="adj" fmla="val 10934"/>
            </a:avLst>
          </a:prstGeom>
          <a:solidFill>
            <a:srgbClr val="FBFAF6"/>
          </a:solidFill>
          <a:ln w="12700">
            <a:solidFill>
              <a:srgbClr val="D9D5C8"/>
            </a:solidFill>
            <a:prstDash val="solid"/>
          </a:ln>
        </p:spPr>
      </p:sp>
      <p:sp>
        <p:nvSpPr>
          <p:cNvPr id="5" name="Text 3"/>
          <p:cNvSpPr/>
          <p:nvPr/>
        </p:nvSpPr>
        <p:spPr>
          <a:xfrm>
            <a:off x="1023461" y="2184084"/>
            <a:ext cx="519062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A724A"/>
                </a:solidFill>
                <a:latin typeface="Rubik" pitchFamily="34" charset="0"/>
                <a:ea typeface="Rubik" pitchFamily="34" charset="-122"/>
                <a:cs typeface="Rubik" pitchFamily="34" charset="-120"/>
              </a:rPr>
              <a:t>1. Login en Keycloak</a:t>
            </a:r>
            <a:endParaRPr lang="en-US" sz="1600" dirty="0"/>
          </a:p>
        </p:txBody>
      </p:sp>
      <p:sp>
        <p:nvSpPr>
          <p:cNvPr id="6" name="Text 4"/>
          <p:cNvSpPr/>
          <p:nvPr/>
        </p:nvSpPr>
        <p:spPr>
          <a:xfrm>
            <a:off x="1023461" y="2466023"/>
            <a:ext cx="5190623" cy="2565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0"/>
                </a:solidFill>
                <a:latin typeface="IBM Plex Sans" pitchFamily="34" charset="0"/>
                <a:ea typeface="IBM Plex Sans" pitchFamily="34" charset="-122"/>
                <a:cs typeface="IBM Plex Sans" pitchFamily="34" charset="-120"/>
              </a:rPr>
              <a:t>El usuario recibe un JWT firmado que trae sus roles.</a:t>
            </a:r>
            <a:endParaRPr lang="en-US" sz="1300" dirty="0"/>
          </a:p>
        </p:txBody>
      </p:sp>
      <p:sp>
        <p:nvSpPr>
          <p:cNvPr id="7" name="Shape 5"/>
          <p:cNvSpPr/>
          <p:nvPr/>
        </p:nvSpPr>
        <p:spPr>
          <a:xfrm>
            <a:off x="819071" y="3015776"/>
            <a:ext cx="5448221" cy="1102201"/>
          </a:xfrm>
          <a:prstGeom prst="roundRect">
            <a:avLst>
              <a:gd name="adj" fmla="val 8642"/>
            </a:avLst>
          </a:prstGeom>
          <a:solidFill>
            <a:srgbClr val="FBFAF6"/>
          </a:solidFill>
          <a:ln w="12700">
            <a:solidFill>
              <a:srgbClr val="D9D5C8"/>
            </a:solidFill>
            <a:prstDash val="solid"/>
          </a:ln>
        </p:spPr>
      </p:sp>
      <p:sp>
        <p:nvSpPr>
          <p:cNvPr id="8" name="Text 6"/>
          <p:cNvSpPr/>
          <p:nvPr/>
        </p:nvSpPr>
        <p:spPr>
          <a:xfrm>
            <a:off x="1023461" y="3194807"/>
            <a:ext cx="519062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A724A"/>
                </a:solidFill>
                <a:latin typeface="Rubik" pitchFamily="34" charset="0"/>
                <a:ea typeface="Rubik" pitchFamily="34" charset="-122"/>
                <a:cs typeface="Rubik" pitchFamily="34" charset="-120"/>
              </a:rPr>
              <a:t>2. El gateway valida</a:t>
            </a:r>
            <a:endParaRPr lang="en-US" sz="1600" dirty="0"/>
          </a:p>
        </p:txBody>
      </p:sp>
      <p:sp>
        <p:nvSpPr>
          <p:cNvPr id="9" name="Text 7"/>
          <p:cNvSpPr/>
          <p:nvPr/>
        </p:nvSpPr>
        <p:spPr>
          <a:xfrm>
            <a:off x="1023461" y="3476746"/>
            <a:ext cx="5190623" cy="48760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0"/>
                </a:solidFill>
                <a:latin typeface="IBM Plex Sans" pitchFamily="34" charset="0"/>
                <a:ea typeface="IBM Plex Sans" pitchFamily="34" charset="-122"/>
                <a:cs typeface="IBM Plex Sans" pitchFamily="34" charset="-120"/>
              </a:rPr>
              <a:t>Comprueba la firma y el rol. Sin token responde 401 y con rol insuficiente 403, sin llegar al servicio.</a:t>
            </a:r>
            <a:endParaRPr lang="en-US" sz="1300" dirty="0"/>
          </a:p>
        </p:txBody>
      </p:sp>
      <p:sp>
        <p:nvSpPr>
          <p:cNvPr id="10" name="Shape 8"/>
          <p:cNvSpPr/>
          <p:nvPr/>
        </p:nvSpPr>
        <p:spPr>
          <a:xfrm>
            <a:off x="819071" y="4257597"/>
            <a:ext cx="5448221" cy="1102201"/>
          </a:xfrm>
          <a:prstGeom prst="roundRect">
            <a:avLst>
              <a:gd name="adj" fmla="val 8642"/>
            </a:avLst>
          </a:prstGeom>
          <a:solidFill>
            <a:srgbClr val="FBFAF6"/>
          </a:solidFill>
          <a:ln w="12700">
            <a:solidFill>
              <a:srgbClr val="D9D5C8"/>
            </a:solidFill>
            <a:prstDash val="solid"/>
          </a:ln>
        </p:spPr>
      </p:sp>
      <p:sp>
        <p:nvSpPr>
          <p:cNvPr id="11" name="Text 9"/>
          <p:cNvSpPr/>
          <p:nvPr/>
        </p:nvSpPr>
        <p:spPr>
          <a:xfrm>
            <a:off x="1023461" y="4436628"/>
            <a:ext cx="519062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A724A"/>
                </a:solidFill>
                <a:latin typeface="Rubik" pitchFamily="34" charset="0"/>
                <a:ea typeface="Rubik" pitchFamily="34" charset="-122"/>
                <a:cs typeface="Rubik" pitchFamily="34" charset="-120"/>
              </a:rPr>
              <a:t>3. Reenvía el token</a:t>
            </a:r>
            <a:endParaRPr lang="en-US" sz="1600" dirty="0"/>
          </a:p>
        </p:txBody>
      </p:sp>
      <p:sp>
        <p:nvSpPr>
          <p:cNvPr id="12" name="Text 10"/>
          <p:cNvSpPr/>
          <p:nvPr/>
        </p:nvSpPr>
        <p:spPr>
          <a:xfrm>
            <a:off x="1023461" y="4718568"/>
            <a:ext cx="5190623" cy="48760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0"/>
                </a:solidFill>
                <a:latin typeface="IBM Plex Sans" pitchFamily="34" charset="0"/>
                <a:ea typeface="IBM Plex Sans" pitchFamily="34" charset="-122"/>
                <a:cs typeface="IBM Plex Sans" pitchFamily="34" charset="-120"/>
              </a:rPr>
              <a:t>El header Authorization llega intacto y cada servicio vuelve a validarlo (defensa en profundidad).</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586062" y="2006323"/>
          <a:ext cx="4792980" cy="1771055"/>
        </p:xfrm>
        <a:graphic>
          <a:graphicData uri="http://schemas.openxmlformats.org/drawingml/2006/table">
            <a:tbl>
              <a:tblPr/>
              <a:tblGrid>
                <a:gridCol w="3450946"/>
                <a:gridCol w="1342034"/>
              </a:tblGrid>
              <a:tr h="354211">
                <a:tc>
                  <a:txBody>
                    <a:bodyPr/>
                    <a:lstStyle/>
                    <a:p>
                      <a:pPr indent="0" marL="0">
                        <a:lnSpc>
                          <a:spcPts val="1820"/>
                        </a:lnSpc>
                        <a:buNone/>
                      </a:pPr>
                      <a:r>
                        <a:rPr lang="en-US" sz="1300" b="1" dirty="0">
                          <a:solidFill>
                            <a:srgbClr val="13222B"/>
                          </a:solidFill>
                          <a:latin typeface="IBM Plex Sans" pitchFamily="34" charset="0"/>
                          <a:ea typeface="IBM Plex Sans" pitchFamily="34" charset="-122"/>
                          <a:cs typeface="IBM Plex Sans" pitchFamily="34" charset="-120"/>
                        </a:rPr>
                        <a:t>Prueba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indent="0" marL="0">
                        <a:lnSpc>
                          <a:spcPts val="1820"/>
                        </a:lnSpc>
                        <a:buNone/>
                      </a:pPr>
                      <a:r>
                        <a:rPr lang="en-US" sz="1300" b="1" dirty="0">
                          <a:solidFill>
                            <a:srgbClr val="13222B"/>
                          </a:solidFill>
                          <a:latin typeface="IBM Plex Sans" pitchFamily="34" charset="0"/>
                          <a:ea typeface="IBM Plex Sans" pitchFamily="34" charset="-122"/>
                          <a:cs typeface="IBM Plex Sans" pitchFamily="34" charset="-120"/>
                        </a:rPr>
                        <a:t>Resultado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r>
              <a:tr h="354211">
                <a:tc>
                  <a:txBody>
                    <a:bodyPr/>
                    <a:lstStyle/>
                    <a:p>
                      <a:pPr indent="0" marL="0">
                        <a:lnSpc>
                          <a:spcPts val="1820"/>
                        </a:lnSpc>
                        <a:buNone/>
                      </a:pPr>
                      <a:r>
                        <a:rPr lang="en-US" sz="1300" dirty="0">
                          <a:solidFill>
                            <a:srgbClr val="13222B"/>
                          </a:solidFill>
                          <a:latin typeface="IBM Plex Sans" pitchFamily="34" charset="0"/>
                          <a:ea typeface="IBM Plex Sans" pitchFamily="34" charset="-122"/>
                          <a:cs typeface="IBM Plex Sans" pitchFamily="34" charset="-120"/>
                        </a:rPr>
                        <a:t>Sin token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3222B"/>
                          </a:solidFill>
                          <a:latin typeface="IBM Plex Sans" pitchFamily="34" charset="0"/>
                          <a:ea typeface="IBM Plex Sans" pitchFamily="34" charset="-122"/>
                          <a:cs typeface="IBM Plex Sans" pitchFamily="34" charset="-120"/>
                        </a:rPr>
                        <a:t>401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54211">
                <a:tc>
                  <a:txBody>
                    <a:bodyPr/>
                    <a:lstStyle/>
                    <a:p>
                      <a:pPr indent="0" marL="0">
                        <a:lnSpc>
                          <a:spcPts val="1820"/>
                        </a:lnSpc>
                        <a:buNone/>
                      </a:pPr>
                      <a:r>
                        <a:rPr lang="en-US" sz="1300" dirty="0">
                          <a:solidFill>
                            <a:srgbClr val="13222B"/>
                          </a:solidFill>
                          <a:latin typeface="IBM Plex Sans" pitchFamily="34" charset="0"/>
                          <a:ea typeface="IBM Plex Sans" pitchFamily="34" charset="-122"/>
                          <a:cs typeface="IBM Plex Sans" pitchFamily="34" charset="-120"/>
                        </a:rPr>
                        <a:t>member: POST /api/miembros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3222B"/>
                          </a:solidFill>
                          <a:latin typeface="IBM Plex Sans" pitchFamily="34" charset="0"/>
                          <a:ea typeface="IBM Plex Sans" pitchFamily="34" charset="-122"/>
                          <a:cs typeface="IBM Plex Sans" pitchFamily="34" charset="-120"/>
                        </a:rPr>
                        <a:t>403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54211">
                <a:tc>
                  <a:txBody>
                    <a:bodyPr/>
                    <a:lstStyle/>
                    <a:p>
                      <a:pPr indent="0" marL="0">
                        <a:lnSpc>
                          <a:spcPts val="1820"/>
                        </a:lnSpc>
                        <a:buNone/>
                      </a:pPr>
                      <a:r>
                        <a:rPr lang="en-US" sz="1300" dirty="0">
                          <a:solidFill>
                            <a:srgbClr val="13222B"/>
                          </a:solidFill>
                          <a:latin typeface="IBM Plex Sans" pitchFamily="34" charset="0"/>
                          <a:ea typeface="IBM Plex Sans" pitchFamily="34" charset="-122"/>
                          <a:cs typeface="IBM Plex Sans" pitchFamily="34" charset="-120"/>
                        </a:rPr>
                        <a:t>admin: POST /api/miembros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3222B"/>
                          </a:solidFill>
                          <a:latin typeface="IBM Plex Sans" pitchFamily="34" charset="0"/>
                          <a:ea typeface="IBM Plex Sans" pitchFamily="34" charset="-122"/>
                          <a:cs typeface="IBM Plex Sans" pitchFamily="34" charset="-120"/>
                        </a:rPr>
                        <a:t>201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54211">
                <a:tc>
                  <a:txBody>
                    <a:bodyPr/>
                    <a:lstStyle/>
                    <a:p>
                      <a:pPr indent="0" marL="0">
                        <a:lnSpc>
                          <a:spcPts val="1820"/>
                        </a:lnSpc>
                        <a:buNone/>
                      </a:pPr>
                      <a:r>
                        <a:rPr lang="en-US" sz="1300" dirty="0">
                          <a:solidFill>
                            <a:srgbClr val="13222B"/>
                          </a:solidFill>
                          <a:latin typeface="IBM Plex Sans" pitchFamily="34" charset="0"/>
                          <a:ea typeface="IBM Plex Sans" pitchFamily="34" charset="-122"/>
                          <a:cs typeface="IBM Plex Sans" pitchFamily="34" charset="-120"/>
                        </a:rPr>
                        <a:t>member: GET /api/clases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3222B"/>
                          </a:solidFill>
                          <a:latin typeface="IBM Plex Sans" pitchFamily="34" charset="0"/>
                          <a:ea typeface="IBM Plex Sans" pitchFamily="34" charset="-122"/>
                          <a:cs typeface="IBM Plex Sans" pitchFamily="34" charset="-120"/>
                        </a:rPr>
                        <a:t>200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14" name="Text 11"/>
          <p:cNvSpPr/>
          <p:nvPr/>
        </p:nvSpPr>
        <p:spPr>
          <a:xfrm>
            <a:off x="6578442" y="3929779"/>
            <a:ext cx="4944864" cy="71870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0"/>
                </a:solidFill>
                <a:latin typeface="IBM Plex Sans" pitchFamily="34" charset="0"/>
                <a:ea typeface="IBM Plex Sans" pitchFamily="34" charset="-122"/>
                <a:cs typeface="IBM Plex Sans" pitchFamily="34" charset="-120"/>
              </a:rPr>
              <a:t>Roles del realm gimnasio: ROLE_ADMIN, ROLE_MEMBER y ROLE_TRAINER, leídos de realm_access.roles. El script de pruebas corre 33 casos de extremo a extremo.</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721" y="812722"/>
            <a:ext cx="10883556" cy="25650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2A724A"/>
                </a:solidFill>
                <a:latin typeface="IBM Plex Sans" pitchFamily="34" charset="0"/>
                <a:ea typeface="IBM Plex Sans" pitchFamily="34" charset="-122"/>
                <a:cs typeface="IBM Plex Sans" pitchFamily="34" charset="-120"/>
              </a:rPr>
              <a:t>EUREKA Y LOADBALANCER</a:t>
            </a:r>
            <a:endParaRPr lang="en-US" sz="1300" dirty="0"/>
          </a:p>
        </p:txBody>
      </p:sp>
      <p:sp>
        <p:nvSpPr>
          <p:cNvPr id="3" name="Text 1"/>
          <p:cNvSpPr/>
          <p:nvPr>
            <p:ph type="title"/>
          </p:nvPr>
        </p:nvSpPr>
        <p:spPr>
          <a:xfrm>
            <a:off x="812721" y="1297781"/>
            <a:ext cx="10883556" cy="472361"/>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22B"/>
                </a:solidFill>
                <a:latin typeface="Rubik" pitchFamily="34" charset="0"/>
                <a:ea typeface="Rubik" pitchFamily="34" charset="-122"/>
                <a:cs typeface="Rubik" pitchFamily="34" charset="-120"/>
              </a:rPr>
              <a:t>Servicios por nombre, no por puerto</a:t>
            </a:r>
            <a:endParaRPr lang="en-US" sz="3200" dirty="0"/>
          </a:p>
        </p:txBody>
      </p:sp>
      <p:sp>
        <p:nvSpPr>
          <p:cNvPr id="4" name="Shape 2"/>
          <p:cNvSpPr/>
          <p:nvPr/>
        </p:nvSpPr>
        <p:spPr>
          <a:xfrm>
            <a:off x="819071" y="2005053"/>
            <a:ext cx="5448221" cy="871101"/>
          </a:xfrm>
          <a:prstGeom prst="roundRect">
            <a:avLst>
              <a:gd name="adj" fmla="val 10934"/>
            </a:avLst>
          </a:prstGeom>
          <a:solidFill>
            <a:srgbClr val="FBFAF6"/>
          </a:solidFill>
          <a:ln w="12700">
            <a:solidFill>
              <a:srgbClr val="D9D5C8"/>
            </a:solidFill>
            <a:prstDash val="solid"/>
          </a:ln>
        </p:spPr>
      </p:sp>
      <p:sp>
        <p:nvSpPr>
          <p:cNvPr id="5" name="Text 3"/>
          <p:cNvSpPr/>
          <p:nvPr/>
        </p:nvSpPr>
        <p:spPr>
          <a:xfrm>
            <a:off x="1023461" y="2184084"/>
            <a:ext cx="519062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F5F9E"/>
                </a:solidFill>
                <a:latin typeface="Rubik" pitchFamily="34" charset="0"/>
                <a:ea typeface="Rubik" pitchFamily="34" charset="-122"/>
                <a:cs typeface="Rubik" pitchFamily="34" charset="-120"/>
              </a:rPr>
              <a:t>1. Se registran</a:t>
            </a:r>
            <a:endParaRPr lang="en-US" sz="1600" dirty="0"/>
          </a:p>
        </p:txBody>
      </p:sp>
      <p:sp>
        <p:nvSpPr>
          <p:cNvPr id="6" name="Text 4"/>
          <p:cNvSpPr/>
          <p:nvPr/>
        </p:nvSpPr>
        <p:spPr>
          <a:xfrm>
            <a:off x="1023461" y="2466023"/>
            <a:ext cx="5237480" cy="2565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0"/>
                </a:solidFill>
                <a:latin typeface="IBM Plex Sans" pitchFamily="34" charset="0"/>
                <a:ea typeface="IBM Plex Sans" pitchFamily="34" charset="-122"/>
                <a:cs typeface="IBM Plex Sans" pitchFamily="34" charset="-120"/>
              </a:rPr>
              <a:t>Cada servicio se anuncia a Eureka con su spring.application.name.</a:t>
            </a:r>
            <a:endParaRPr lang="en-US" sz="1300" dirty="0"/>
          </a:p>
        </p:txBody>
      </p:sp>
      <p:sp>
        <p:nvSpPr>
          <p:cNvPr id="7" name="Shape 5"/>
          <p:cNvSpPr/>
          <p:nvPr/>
        </p:nvSpPr>
        <p:spPr>
          <a:xfrm>
            <a:off x="819071" y="3015776"/>
            <a:ext cx="5448221" cy="871101"/>
          </a:xfrm>
          <a:prstGeom prst="roundRect">
            <a:avLst>
              <a:gd name="adj" fmla="val 10934"/>
            </a:avLst>
          </a:prstGeom>
          <a:solidFill>
            <a:srgbClr val="FBFAF6"/>
          </a:solidFill>
          <a:ln w="12700">
            <a:solidFill>
              <a:srgbClr val="D9D5C8"/>
            </a:solidFill>
            <a:prstDash val="solid"/>
          </a:ln>
        </p:spPr>
      </p:sp>
      <p:sp>
        <p:nvSpPr>
          <p:cNvPr id="8" name="Text 6"/>
          <p:cNvSpPr/>
          <p:nvPr/>
        </p:nvSpPr>
        <p:spPr>
          <a:xfrm>
            <a:off x="1023461" y="3194807"/>
            <a:ext cx="519062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F5F9E"/>
                </a:solidFill>
                <a:latin typeface="Rubik" pitchFamily="34" charset="0"/>
                <a:ea typeface="Rubik" pitchFamily="34" charset="-122"/>
                <a:cs typeface="Rubik" pitchFamily="34" charset="-120"/>
              </a:rPr>
              <a:t>2. Se buscan por nombre</a:t>
            </a:r>
            <a:endParaRPr lang="en-US" sz="1600" dirty="0"/>
          </a:p>
        </p:txBody>
      </p:sp>
      <p:sp>
        <p:nvSpPr>
          <p:cNvPr id="9" name="Text 7"/>
          <p:cNvSpPr/>
          <p:nvPr/>
        </p:nvSpPr>
        <p:spPr>
          <a:xfrm>
            <a:off x="1023461" y="3476746"/>
            <a:ext cx="5190623" cy="2565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0"/>
                </a:solidFill>
                <a:latin typeface="IBM Plex Sans" pitchFamily="34" charset="0"/>
                <a:ea typeface="IBM Plex Sans" pitchFamily="34" charset="-122"/>
                <a:cs typeface="IBM Plex Sans" pitchFamily="34" charset="-120"/>
              </a:rPr>
              <a:t>Las rutas pasan de una URL fija a lb://entrenadores-service.</a:t>
            </a:r>
            <a:endParaRPr lang="en-US" sz="1300" dirty="0"/>
          </a:p>
        </p:txBody>
      </p:sp>
      <p:sp>
        <p:nvSpPr>
          <p:cNvPr id="10" name="Shape 8"/>
          <p:cNvSpPr/>
          <p:nvPr/>
        </p:nvSpPr>
        <p:spPr>
          <a:xfrm>
            <a:off x="819071" y="4026495"/>
            <a:ext cx="5448221" cy="1102201"/>
          </a:xfrm>
          <a:prstGeom prst="roundRect">
            <a:avLst>
              <a:gd name="adj" fmla="val 8642"/>
            </a:avLst>
          </a:prstGeom>
          <a:solidFill>
            <a:srgbClr val="FBFAF6"/>
          </a:solidFill>
          <a:ln w="12700">
            <a:solidFill>
              <a:srgbClr val="D9D5C8"/>
            </a:solidFill>
            <a:prstDash val="solid"/>
          </a:ln>
        </p:spPr>
      </p:sp>
      <p:sp>
        <p:nvSpPr>
          <p:cNvPr id="11" name="Text 9"/>
          <p:cNvSpPr/>
          <p:nvPr/>
        </p:nvSpPr>
        <p:spPr>
          <a:xfrm>
            <a:off x="1023461" y="4205526"/>
            <a:ext cx="519062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F5F9E"/>
                </a:solidFill>
                <a:latin typeface="Rubik" pitchFamily="34" charset="0"/>
                <a:ea typeface="Rubik" pitchFamily="34" charset="-122"/>
                <a:cs typeface="Rubik" pitchFamily="34" charset="-120"/>
              </a:rPr>
              <a:t>3. Se reparten</a:t>
            </a:r>
            <a:endParaRPr lang="en-US" sz="1600" dirty="0"/>
          </a:p>
        </p:txBody>
      </p:sp>
      <p:sp>
        <p:nvSpPr>
          <p:cNvPr id="12" name="Text 10"/>
          <p:cNvSpPr/>
          <p:nvPr/>
        </p:nvSpPr>
        <p:spPr>
          <a:xfrm>
            <a:off x="1023461" y="4487466"/>
            <a:ext cx="5190623" cy="48760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0"/>
                </a:solidFill>
                <a:latin typeface="IBM Plex Sans" pitchFamily="34" charset="0"/>
                <a:ea typeface="IBM Plex Sans" pitchFamily="34" charset="-122"/>
                <a:cs typeface="IBM Plex Sans" pitchFamily="34" charset="-120"/>
              </a:rPr>
              <a:t>Spring Cloud LoadBalancer elige una instancia por turnos (round-robin).</a:t>
            </a:r>
            <a:endParaRPr lang="en-US" sz="1300" dirty="0"/>
          </a:p>
        </p:txBody>
      </p:sp>
      <p:sp>
        <p:nvSpPr>
          <p:cNvPr id="13" name="Shape 11"/>
          <p:cNvSpPr/>
          <p:nvPr/>
        </p:nvSpPr>
        <p:spPr>
          <a:xfrm>
            <a:off x="6584792" y="2005053"/>
            <a:ext cx="4788138" cy="2369503"/>
          </a:xfrm>
          <a:prstGeom prst="roundRect">
            <a:avLst>
              <a:gd name="adj" fmla="val 5092"/>
            </a:avLst>
          </a:prstGeom>
          <a:solidFill>
            <a:srgbClr val="DAE8FC"/>
          </a:solidFill>
          <a:ln w="12700">
            <a:solidFill>
              <a:srgbClr val="6C8EBF"/>
            </a:solidFill>
            <a:prstDash val="solid"/>
          </a:ln>
        </p:spPr>
      </p:sp>
      <p:sp>
        <p:nvSpPr>
          <p:cNvPr id="14" name="Text 12"/>
          <p:cNvSpPr/>
          <p:nvPr/>
        </p:nvSpPr>
        <p:spPr>
          <a:xfrm>
            <a:off x="6814662" y="2234924"/>
            <a:ext cx="4458250" cy="25650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2F5F9E"/>
                </a:solidFill>
                <a:latin typeface="IBM Plex Sans" pitchFamily="34" charset="0"/>
                <a:ea typeface="IBM Plex Sans" pitchFamily="34" charset="-122"/>
                <a:cs typeface="IBM Plex Sans" pitchFamily="34" charset="-120"/>
              </a:rPr>
              <a:t>PRUEBA REAL</a:t>
            </a:r>
            <a:endParaRPr lang="en-US" sz="1300" dirty="0"/>
          </a:p>
        </p:txBody>
      </p:sp>
      <p:sp>
        <p:nvSpPr>
          <p:cNvPr id="15" name="Text 13"/>
          <p:cNvSpPr/>
          <p:nvPr/>
        </p:nvSpPr>
        <p:spPr>
          <a:xfrm>
            <a:off x="6814662" y="2618423"/>
            <a:ext cx="445825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22B"/>
                </a:solidFill>
                <a:latin typeface="IBM Plex Sans" pitchFamily="34" charset="0"/>
                <a:ea typeface="IBM Plex Sans" pitchFamily="34" charset="-122"/>
                <a:cs typeface="IBM Plex Sans" pitchFamily="34" charset="-120"/>
              </a:rPr>
              <a:t>6 peticiones GET a /api/entrenadores por el gateway, con dos instancias registradas.</a:t>
            </a:r>
            <a:endParaRPr lang="en-US" sz="1400" dirty="0"/>
          </a:p>
        </p:txBody>
      </p:sp>
      <p:sp>
        <p:nvSpPr>
          <p:cNvPr id="16" name="Text 14"/>
          <p:cNvSpPr/>
          <p:nvPr/>
        </p:nvSpPr>
        <p:spPr>
          <a:xfrm>
            <a:off x="6821012" y="3274854"/>
            <a:ext cx="645120" cy="479981"/>
          </a:xfrm>
          <a:custGeom>
            <a:avLst/>
            <a:gdLst/>
            <a:ahLst/>
            <a:cxnLst/>
            <a:rect l="l" t="t" r="r" b="b"/>
            <a:pathLst>
              <a:path w="645120" h="479981">
                <a:moveTo>
                  <a:pt x="69850" y="0"/>
                </a:moveTo>
                <a:lnTo>
                  <a:pt x="575270" y="0"/>
                </a:lnTo>
                <a:arcTo hR="69850" wR="69850" stAng="16200000" swAng="5400000"/>
                <a:lnTo>
                  <a:pt x="645120" y="410131"/>
                </a:lnTo>
                <a:arcTo hR="69850" wR="69850" stAng="0" swAng="5400000"/>
                <a:lnTo>
                  <a:pt x="69850" y="479981"/>
                </a:lnTo>
                <a:arcTo hR="69850" wR="69850" stAng="5400000" swAng="5400000"/>
                <a:lnTo>
                  <a:pt x="0" y="69850"/>
                </a:lnTo>
                <a:arcTo hR="69850" wR="69850" stAng="10800000" swAng="5400000"/>
                <a:close/>
              </a:path>
            </a:pathLst>
          </a:custGeom>
          <a:solidFill>
            <a:srgbClr val="E1D5E7"/>
          </a:solidFill>
          <a:ln w="12700">
            <a:solidFill>
              <a:srgbClr val="9673A6"/>
            </a:solidFill>
            <a:prstDash val="solid"/>
          </a:ln>
        </p:spPr>
        <p:txBody>
          <a:bodyPr wrap="square" lIns="0" tIns="115570" rIns="0" bIns="90170" rtlCol="0" anchor="t">
            <a:normAutofit/>
          </a:bodyPr>
          <a:lstStyle/>
          <a:p>
            <a:pPr algn="ctr" indent="0" marL="0">
              <a:lnSpc>
                <a:spcPts val="1960"/>
              </a:lnSpc>
              <a:buNone/>
            </a:pPr>
            <a:r>
              <a:rPr lang="en-US" sz="1400" b="1" dirty="0">
                <a:solidFill>
                  <a:srgbClr val="13222B"/>
                </a:solidFill>
                <a:latin typeface="IBM Plex Sans" pitchFamily="34" charset="0"/>
                <a:ea typeface="IBM Plex Sans" pitchFamily="34" charset="-122"/>
                <a:cs typeface="IBM Plex Sans" pitchFamily="34" charset="-120"/>
              </a:rPr>
              <a:t>8083</a:t>
            </a:r>
            <a:endParaRPr lang="en-US" sz="1400" dirty="0"/>
          </a:p>
        </p:txBody>
      </p:sp>
      <p:sp>
        <p:nvSpPr>
          <p:cNvPr id="17" name="Text 15"/>
          <p:cNvSpPr/>
          <p:nvPr/>
        </p:nvSpPr>
        <p:spPr>
          <a:xfrm>
            <a:off x="7555032" y="3274854"/>
            <a:ext cx="645239" cy="479981"/>
          </a:xfrm>
          <a:custGeom>
            <a:avLst/>
            <a:gdLst/>
            <a:ahLst/>
            <a:cxnLst/>
            <a:rect l="l" t="t" r="r" b="b"/>
            <a:pathLst>
              <a:path w="645239" h="479981">
                <a:moveTo>
                  <a:pt x="69850" y="0"/>
                </a:moveTo>
                <a:lnTo>
                  <a:pt x="575389" y="0"/>
                </a:lnTo>
                <a:arcTo hR="69850" wR="69850" stAng="16200000" swAng="5400000"/>
                <a:lnTo>
                  <a:pt x="645239" y="410131"/>
                </a:lnTo>
                <a:arcTo hR="69850" wR="69850" stAng="0" swAng="5400000"/>
                <a:lnTo>
                  <a:pt x="69850" y="479981"/>
                </a:lnTo>
                <a:arcTo hR="69850" wR="69850" stAng="5400000" swAng="5400000"/>
                <a:lnTo>
                  <a:pt x="0" y="69850"/>
                </a:lnTo>
                <a:arcTo hR="69850" wR="69850" stAng="10800000" swAng="5400000"/>
                <a:close/>
              </a:path>
            </a:pathLst>
          </a:custGeom>
          <a:solidFill>
            <a:srgbClr val="FFE6CC"/>
          </a:solidFill>
          <a:ln w="12700">
            <a:solidFill>
              <a:srgbClr val="D79B00"/>
            </a:solidFill>
            <a:prstDash val="solid"/>
          </a:ln>
        </p:spPr>
        <p:txBody>
          <a:bodyPr wrap="square" lIns="0" tIns="115570" rIns="0" bIns="90170" rtlCol="0" anchor="t">
            <a:normAutofit/>
          </a:bodyPr>
          <a:lstStyle/>
          <a:p>
            <a:pPr algn="ctr" indent="0" marL="0">
              <a:lnSpc>
                <a:spcPts val="1960"/>
              </a:lnSpc>
              <a:buNone/>
            </a:pPr>
            <a:r>
              <a:rPr lang="en-US" sz="1400" b="1" dirty="0">
                <a:solidFill>
                  <a:srgbClr val="13222B"/>
                </a:solidFill>
                <a:latin typeface="IBM Plex Sans" pitchFamily="34" charset="0"/>
                <a:ea typeface="IBM Plex Sans" pitchFamily="34" charset="-122"/>
                <a:cs typeface="IBM Plex Sans" pitchFamily="34" charset="-120"/>
              </a:rPr>
              <a:t>8093</a:t>
            </a:r>
            <a:endParaRPr lang="en-US" sz="1400" dirty="0"/>
          </a:p>
        </p:txBody>
      </p:sp>
      <p:sp>
        <p:nvSpPr>
          <p:cNvPr id="18" name="Text 16"/>
          <p:cNvSpPr/>
          <p:nvPr/>
        </p:nvSpPr>
        <p:spPr>
          <a:xfrm>
            <a:off x="8289172" y="3274854"/>
            <a:ext cx="645120" cy="479981"/>
          </a:xfrm>
          <a:custGeom>
            <a:avLst/>
            <a:gdLst/>
            <a:ahLst/>
            <a:cxnLst/>
            <a:rect l="l" t="t" r="r" b="b"/>
            <a:pathLst>
              <a:path w="645120" h="479981">
                <a:moveTo>
                  <a:pt x="69850" y="0"/>
                </a:moveTo>
                <a:lnTo>
                  <a:pt x="575270" y="0"/>
                </a:lnTo>
                <a:arcTo hR="69850" wR="69850" stAng="16200000" swAng="5400000"/>
                <a:lnTo>
                  <a:pt x="645120" y="410131"/>
                </a:lnTo>
                <a:arcTo hR="69850" wR="69850" stAng="0" swAng="5400000"/>
                <a:lnTo>
                  <a:pt x="69850" y="479981"/>
                </a:lnTo>
                <a:arcTo hR="69850" wR="69850" stAng="5400000" swAng="5400000"/>
                <a:lnTo>
                  <a:pt x="0" y="69850"/>
                </a:lnTo>
                <a:arcTo hR="69850" wR="69850" stAng="10800000" swAng="5400000"/>
                <a:close/>
              </a:path>
            </a:pathLst>
          </a:custGeom>
          <a:solidFill>
            <a:srgbClr val="E1D5E7"/>
          </a:solidFill>
          <a:ln w="12700">
            <a:solidFill>
              <a:srgbClr val="9673A6"/>
            </a:solidFill>
            <a:prstDash val="solid"/>
          </a:ln>
        </p:spPr>
        <p:txBody>
          <a:bodyPr wrap="square" lIns="0" tIns="115570" rIns="0" bIns="90170" rtlCol="0" anchor="t">
            <a:normAutofit/>
          </a:bodyPr>
          <a:lstStyle/>
          <a:p>
            <a:pPr algn="ctr" indent="0" marL="0">
              <a:lnSpc>
                <a:spcPts val="1960"/>
              </a:lnSpc>
              <a:buNone/>
            </a:pPr>
            <a:r>
              <a:rPr lang="en-US" sz="1400" b="1" dirty="0">
                <a:solidFill>
                  <a:srgbClr val="13222B"/>
                </a:solidFill>
                <a:latin typeface="IBM Plex Sans" pitchFamily="34" charset="0"/>
                <a:ea typeface="IBM Plex Sans" pitchFamily="34" charset="-122"/>
                <a:cs typeface="IBM Plex Sans" pitchFamily="34" charset="-120"/>
              </a:rPr>
              <a:t>8083</a:t>
            </a:r>
            <a:endParaRPr lang="en-US" sz="1400" dirty="0"/>
          </a:p>
        </p:txBody>
      </p:sp>
      <p:sp>
        <p:nvSpPr>
          <p:cNvPr id="19" name="Text 17"/>
          <p:cNvSpPr/>
          <p:nvPr/>
        </p:nvSpPr>
        <p:spPr>
          <a:xfrm>
            <a:off x="9023192" y="3274854"/>
            <a:ext cx="645239" cy="479981"/>
          </a:xfrm>
          <a:custGeom>
            <a:avLst/>
            <a:gdLst/>
            <a:ahLst/>
            <a:cxnLst/>
            <a:rect l="l" t="t" r="r" b="b"/>
            <a:pathLst>
              <a:path w="645239" h="479981">
                <a:moveTo>
                  <a:pt x="69850" y="0"/>
                </a:moveTo>
                <a:lnTo>
                  <a:pt x="575389" y="0"/>
                </a:lnTo>
                <a:arcTo hR="69850" wR="69850" stAng="16200000" swAng="5400000"/>
                <a:lnTo>
                  <a:pt x="645239" y="410131"/>
                </a:lnTo>
                <a:arcTo hR="69850" wR="69850" stAng="0" swAng="5400000"/>
                <a:lnTo>
                  <a:pt x="69850" y="479981"/>
                </a:lnTo>
                <a:arcTo hR="69850" wR="69850" stAng="5400000" swAng="5400000"/>
                <a:lnTo>
                  <a:pt x="0" y="69850"/>
                </a:lnTo>
                <a:arcTo hR="69850" wR="69850" stAng="10800000" swAng="5400000"/>
                <a:close/>
              </a:path>
            </a:pathLst>
          </a:custGeom>
          <a:solidFill>
            <a:srgbClr val="FFE6CC"/>
          </a:solidFill>
          <a:ln w="12700">
            <a:solidFill>
              <a:srgbClr val="D79B00"/>
            </a:solidFill>
            <a:prstDash val="solid"/>
          </a:ln>
        </p:spPr>
        <p:txBody>
          <a:bodyPr wrap="square" lIns="0" tIns="115570" rIns="0" bIns="90170" rtlCol="0" anchor="t">
            <a:normAutofit/>
          </a:bodyPr>
          <a:lstStyle/>
          <a:p>
            <a:pPr algn="ctr" indent="0" marL="0">
              <a:lnSpc>
                <a:spcPts val="1960"/>
              </a:lnSpc>
              <a:buNone/>
            </a:pPr>
            <a:r>
              <a:rPr lang="en-US" sz="1400" b="1" dirty="0">
                <a:solidFill>
                  <a:srgbClr val="13222B"/>
                </a:solidFill>
                <a:latin typeface="IBM Plex Sans" pitchFamily="34" charset="0"/>
                <a:ea typeface="IBM Plex Sans" pitchFamily="34" charset="-122"/>
                <a:cs typeface="IBM Plex Sans" pitchFamily="34" charset="-120"/>
              </a:rPr>
              <a:t>8093</a:t>
            </a:r>
            <a:endParaRPr lang="en-US" sz="1400" dirty="0"/>
          </a:p>
        </p:txBody>
      </p:sp>
      <p:sp>
        <p:nvSpPr>
          <p:cNvPr id="20" name="Text 18"/>
          <p:cNvSpPr/>
          <p:nvPr/>
        </p:nvSpPr>
        <p:spPr>
          <a:xfrm>
            <a:off x="9757331" y="3274854"/>
            <a:ext cx="645239" cy="479981"/>
          </a:xfrm>
          <a:custGeom>
            <a:avLst/>
            <a:gdLst/>
            <a:ahLst/>
            <a:cxnLst/>
            <a:rect l="l" t="t" r="r" b="b"/>
            <a:pathLst>
              <a:path w="645239" h="479981">
                <a:moveTo>
                  <a:pt x="69850" y="0"/>
                </a:moveTo>
                <a:lnTo>
                  <a:pt x="575389" y="0"/>
                </a:lnTo>
                <a:arcTo hR="69850" wR="69850" stAng="16200000" swAng="5400000"/>
                <a:lnTo>
                  <a:pt x="645239" y="410131"/>
                </a:lnTo>
                <a:arcTo hR="69850" wR="69850" stAng="0" swAng="5400000"/>
                <a:lnTo>
                  <a:pt x="69850" y="479981"/>
                </a:lnTo>
                <a:arcTo hR="69850" wR="69850" stAng="5400000" swAng="5400000"/>
                <a:lnTo>
                  <a:pt x="0" y="69850"/>
                </a:lnTo>
                <a:arcTo hR="69850" wR="69850" stAng="10800000" swAng="5400000"/>
                <a:close/>
              </a:path>
            </a:pathLst>
          </a:custGeom>
          <a:solidFill>
            <a:srgbClr val="E1D5E7"/>
          </a:solidFill>
          <a:ln w="12700">
            <a:solidFill>
              <a:srgbClr val="9673A6"/>
            </a:solidFill>
            <a:prstDash val="solid"/>
          </a:ln>
        </p:spPr>
        <p:txBody>
          <a:bodyPr wrap="square" lIns="0" tIns="115570" rIns="0" bIns="90170" rtlCol="0" anchor="t">
            <a:normAutofit/>
          </a:bodyPr>
          <a:lstStyle/>
          <a:p>
            <a:pPr algn="ctr" indent="0" marL="0">
              <a:lnSpc>
                <a:spcPts val="1960"/>
              </a:lnSpc>
              <a:buNone/>
            </a:pPr>
            <a:r>
              <a:rPr lang="en-US" sz="1400" b="1" dirty="0">
                <a:solidFill>
                  <a:srgbClr val="13222B"/>
                </a:solidFill>
                <a:latin typeface="IBM Plex Sans" pitchFamily="34" charset="0"/>
                <a:ea typeface="IBM Plex Sans" pitchFamily="34" charset="-122"/>
                <a:cs typeface="IBM Plex Sans" pitchFamily="34" charset="-120"/>
              </a:rPr>
              <a:t>8083</a:t>
            </a:r>
            <a:endParaRPr lang="en-US" sz="1400" dirty="0"/>
          </a:p>
        </p:txBody>
      </p:sp>
      <p:sp>
        <p:nvSpPr>
          <p:cNvPr id="21" name="Text 19"/>
          <p:cNvSpPr/>
          <p:nvPr/>
        </p:nvSpPr>
        <p:spPr>
          <a:xfrm>
            <a:off x="10491470" y="3274854"/>
            <a:ext cx="645239" cy="479981"/>
          </a:xfrm>
          <a:custGeom>
            <a:avLst/>
            <a:gdLst/>
            <a:ahLst/>
            <a:cxnLst/>
            <a:rect l="l" t="t" r="r" b="b"/>
            <a:pathLst>
              <a:path w="645239" h="479981">
                <a:moveTo>
                  <a:pt x="69850" y="0"/>
                </a:moveTo>
                <a:lnTo>
                  <a:pt x="575389" y="0"/>
                </a:lnTo>
                <a:arcTo hR="69850" wR="69850" stAng="16200000" swAng="5400000"/>
                <a:lnTo>
                  <a:pt x="645239" y="410131"/>
                </a:lnTo>
                <a:arcTo hR="69850" wR="69850" stAng="0" swAng="5400000"/>
                <a:lnTo>
                  <a:pt x="69850" y="479981"/>
                </a:lnTo>
                <a:arcTo hR="69850" wR="69850" stAng="5400000" swAng="5400000"/>
                <a:lnTo>
                  <a:pt x="0" y="69850"/>
                </a:lnTo>
                <a:arcTo hR="69850" wR="69850" stAng="10800000" swAng="5400000"/>
                <a:close/>
              </a:path>
            </a:pathLst>
          </a:custGeom>
          <a:solidFill>
            <a:srgbClr val="FFE6CC"/>
          </a:solidFill>
          <a:ln w="12700">
            <a:solidFill>
              <a:srgbClr val="D79B00"/>
            </a:solidFill>
            <a:prstDash val="solid"/>
          </a:ln>
        </p:spPr>
        <p:txBody>
          <a:bodyPr wrap="square" lIns="0" tIns="115570" rIns="0" bIns="90170" rtlCol="0" anchor="t">
            <a:normAutofit/>
          </a:bodyPr>
          <a:lstStyle/>
          <a:p>
            <a:pPr algn="ctr" indent="0" marL="0">
              <a:lnSpc>
                <a:spcPts val="1960"/>
              </a:lnSpc>
              <a:buNone/>
            </a:pPr>
            <a:r>
              <a:rPr lang="en-US" sz="1400" b="1" dirty="0">
                <a:solidFill>
                  <a:srgbClr val="13222B"/>
                </a:solidFill>
                <a:latin typeface="IBM Plex Sans" pitchFamily="34" charset="0"/>
                <a:ea typeface="IBM Plex Sans" pitchFamily="34" charset="-122"/>
                <a:cs typeface="IBM Plex Sans" pitchFamily="34" charset="-120"/>
              </a:rPr>
              <a:t>8093</a:t>
            </a:r>
            <a:endParaRPr lang="en-US" sz="1400" dirty="0"/>
          </a:p>
        </p:txBody>
      </p:sp>
      <p:sp>
        <p:nvSpPr>
          <p:cNvPr id="22" name="Text 20"/>
          <p:cNvSpPr/>
          <p:nvPr/>
        </p:nvSpPr>
        <p:spPr>
          <a:xfrm>
            <a:off x="6814662" y="3913584"/>
            <a:ext cx="4458250" cy="2565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0"/>
                </a:solidFill>
                <a:latin typeface="IBM Plex Sans" pitchFamily="34" charset="0"/>
                <a:ea typeface="IBM Plex Sans" pitchFamily="34" charset="-122"/>
                <a:cs typeface="IBM Plex Sans" pitchFamily="34" charset="-120"/>
              </a:rPr>
              <a:t>La segunda instancia se levanta con --server.port=8093.</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721" y="812719"/>
            <a:ext cx="10883556" cy="25650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2A724A"/>
                </a:solidFill>
                <a:latin typeface="IBM Plex Sans" pitchFamily="34" charset="0"/>
                <a:ea typeface="IBM Plex Sans" pitchFamily="34" charset="-122"/>
                <a:cs typeface="IBM Plex Sans" pitchFamily="34" charset="-120"/>
              </a:rPr>
              <a:t>FILTRO DE AGREGACIÓN</a:t>
            </a:r>
            <a:endParaRPr lang="en-US" sz="1300" dirty="0"/>
          </a:p>
        </p:txBody>
      </p:sp>
      <p:sp>
        <p:nvSpPr>
          <p:cNvPr id="3" name="Text 1"/>
          <p:cNvSpPr/>
          <p:nvPr>
            <p:ph type="title"/>
          </p:nvPr>
        </p:nvSpPr>
        <p:spPr>
          <a:xfrm>
            <a:off x="812721" y="1246941"/>
            <a:ext cx="10883556" cy="472361"/>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22B"/>
                </a:solidFill>
                <a:latin typeface="Rubik" pitchFamily="34" charset="0"/>
                <a:ea typeface="Rubik" pitchFamily="34" charset="-122"/>
                <a:cs typeface="Rubik" pitchFamily="34" charset="-120"/>
              </a:rPr>
              <a:t>Una petición, tres llamadas en paralelo</a:t>
            </a:r>
            <a:endParaRPr lang="en-US" sz="3200" dirty="0"/>
          </a:p>
        </p:txBody>
      </p:sp>
      <p:sp>
        <p:nvSpPr>
          <p:cNvPr id="4" name="Shape 2"/>
          <p:cNvSpPr/>
          <p:nvPr/>
        </p:nvSpPr>
        <p:spPr>
          <a:xfrm>
            <a:off x="822246" y="1906547"/>
            <a:ext cx="10547509" cy="933212"/>
          </a:xfrm>
          <a:prstGeom prst="roundRect">
            <a:avLst>
              <a:gd name="adj" fmla="val 12588"/>
            </a:avLst>
          </a:prstGeom>
          <a:solidFill>
            <a:srgbClr val="D5E8D4"/>
          </a:solidFill>
          <a:ln w="19050">
            <a:solidFill>
              <a:srgbClr val="82B366"/>
            </a:solidFill>
            <a:prstDash val="solid"/>
          </a:ln>
        </p:spPr>
      </p:sp>
      <p:sp>
        <p:nvSpPr>
          <p:cNvPr id="5" name="Text 3"/>
          <p:cNvSpPr/>
          <p:nvPr/>
        </p:nvSpPr>
        <p:spPr>
          <a:xfrm>
            <a:off x="1056561" y="2090021"/>
            <a:ext cx="1038124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3222B"/>
                </a:solidFill>
                <a:latin typeface="JetBrains Mono" pitchFamily="49" charset="0"/>
                <a:ea typeface="JetBrains Mono" pitchFamily="49" charset="-122"/>
                <a:cs typeface="JetBrains Mono" pitchFamily="49" charset="-120"/>
              </a:rPr>
              <a:t>GET /api/resumen/miembros/1</a:t>
            </a:r>
            <a:endParaRPr lang="en-US" sz="1500" dirty="0"/>
          </a:p>
        </p:txBody>
      </p:sp>
      <p:sp>
        <p:nvSpPr>
          <p:cNvPr id="6" name="Text 4"/>
          <p:cNvSpPr/>
          <p:nvPr/>
        </p:nvSpPr>
        <p:spPr>
          <a:xfrm>
            <a:off x="1056561" y="2407444"/>
            <a:ext cx="1038124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22B"/>
                </a:solidFill>
                <a:latin typeface="IBM Plex Sans" pitchFamily="34" charset="0"/>
                <a:ea typeface="IBM Plex Sans" pitchFamily="34" charset="-122"/>
                <a:cs typeface="IBM Plex Sans" pitchFamily="34" charset="-120"/>
              </a:rPr>
              <a:t>El filtro ResumenMiembro no reenvía la petición: llama a los servicios y arma él mismo la respuesta.</a:t>
            </a:r>
            <a:endParaRPr lang="en-US" sz="1400" dirty="0"/>
          </a:p>
        </p:txBody>
      </p:sp>
      <p:pic>
        <p:nvPicPr>
          <p:cNvPr id="7" name="Image 0" descr="arrow-down">    </p:cNvPr>
          <p:cNvPicPr>
            <a:picLocks noChangeAspect="1"/>
          </p:cNvPicPr>
          <p:nvPr/>
        </p:nvPicPr>
        <p:blipFill>
          <a:blip r:embed="rId1"/>
          <a:srcRect l="0" r="0" t="-8" b="-8"/>
          <a:stretch/>
        </p:blipFill>
        <p:spPr>
          <a:xfrm>
            <a:off x="5956340" y="3052403"/>
            <a:ext cx="279321" cy="330160"/>
          </a:xfrm>
          <a:prstGeom prst="rect">
            <a:avLst/>
          </a:prstGeom>
        </p:spPr>
      </p:pic>
      <p:sp>
        <p:nvSpPr>
          <p:cNvPr id="8" name="Shape 5"/>
          <p:cNvSpPr/>
          <p:nvPr/>
        </p:nvSpPr>
        <p:spPr>
          <a:xfrm>
            <a:off x="819071" y="3592035"/>
            <a:ext cx="3374033" cy="1389142"/>
          </a:xfrm>
          <a:prstGeom prst="roundRect">
            <a:avLst>
              <a:gd name="adj" fmla="val 6857"/>
            </a:avLst>
          </a:prstGeom>
          <a:solidFill>
            <a:srgbClr val="E1D5E7"/>
          </a:solidFill>
          <a:ln w="12700">
            <a:solidFill>
              <a:srgbClr val="9673A6"/>
            </a:solidFill>
            <a:prstDash val="solid"/>
          </a:ln>
        </p:spPr>
      </p:sp>
      <p:sp>
        <p:nvSpPr>
          <p:cNvPr id="9" name="Text 6"/>
          <p:cNvSpPr/>
          <p:nvPr/>
        </p:nvSpPr>
        <p:spPr>
          <a:xfrm>
            <a:off x="998101" y="3771066"/>
            <a:ext cx="310645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22B"/>
                </a:solidFill>
                <a:latin typeface="Rubik" pitchFamily="34" charset="0"/>
                <a:ea typeface="Rubik" pitchFamily="34" charset="-122"/>
                <a:cs typeface="Rubik" pitchFamily="34" charset="-120"/>
              </a:rPr>
              <a:t>miembros-service</a:t>
            </a:r>
            <a:endParaRPr lang="en-US" sz="1500" dirty="0"/>
          </a:p>
        </p:txBody>
      </p:sp>
      <p:sp>
        <p:nvSpPr>
          <p:cNvPr id="10" name="Text 7"/>
          <p:cNvSpPr/>
          <p:nvPr/>
        </p:nvSpPr>
        <p:spPr>
          <a:xfrm>
            <a:off x="998101" y="4063126"/>
            <a:ext cx="310645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22B"/>
                </a:solidFill>
                <a:latin typeface="JetBrains Mono" pitchFamily="49" charset="0"/>
                <a:ea typeface="JetBrains Mono" pitchFamily="49" charset="-122"/>
                <a:cs typeface="JetBrains Mono" pitchFamily="49" charset="-120"/>
              </a:rPr>
              <a:t>GET /api/miembros/{id}</a:t>
            </a:r>
            <a:endParaRPr lang="en-US" sz="1200" dirty="0"/>
          </a:p>
        </p:txBody>
      </p:sp>
      <p:sp>
        <p:nvSpPr>
          <p:cNvPr id="11" name="Text 8"/>
          <p:cNvSpPr/>
          <p:nvPr/>
        </p:nvSpPr>
        <p:spPr>
          <a:xfrm>
            <a:off x="998101" y="4339946"/>
            <a:ext cx="3106451" cy="2565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22B"/>
                </a:solidFill>
                <a:latin typeface="IBM Plex Sans" pitchFamily="34" charset="0"/>
                <a:ea typeface="IBM Plex Sans" pitchFamily="34" charset="-122"/>
                <a:cs typeface="IBM Plex Sans" pitchFamily="34" charset="-120"/>
              </a:rPr>
              <a:t>Los datos del miembro.</a:t>
            </a:r>
            <a:endParaRPr lang="en-US" sz="1300" dirty="0"/>
          </a:p>
        </p:txBody>
      </p:sp>
      <p:sp>
        <p:nvSpPr>
          <p:cNvPr id="12" name="Shape 9"/>
          <p:cNvSpPr/>
          <p:nvPr/>
        </p:nvSpPr>
        <p:spPr>
          <a:xfrm>
            <a:off x="4408924" y="3592035"/>
            <a:ext cx="3374152" cy="1389142"/>
          </a:xfrm>
          <a:prstGeom prst="roundRect">
            <a:avLst>
              <a:gd name="adj" fmla="val 6857"/>
            </a:avLst>
          </a:prstGeom>
          <a:solidFill>
            <a:srgbClr val="E1D5E7"/>
          </a:solidFill>
          <a:ln w="12700">
            <a:solidFill>
              <a:srgbClr val="9673A6"/>
            </a:solidFill>
            <a:prstDash val="solid"/>
          </a:ln>
        </p:spPr>
      </p:sp>
      <p:sp>
        <p:nvSpPr>
          <p:cNvPr id="13" name="Text 10"/>
          <p:cNvSpPr/>
          <p:nvPr/>
        </p:nvSpPr>
        <p:spPr>
          <a:xfrm>
            <a:off x="4587954" y="3771066"/>
            <a:ext cx="310657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22B"/>
                </a:solidFill>
                <a:latin typeface="Rubik" pitchFamily="34" charset="0"/>
                <a:ea typeface="Rubik" pitchFamily="34" charset="-122"/>
                <a:cs typeface="Rubik" pitchFamily="34" charset="-120"/>
              </a:rPr>
              <a:t>clases-service</a:t>
            </a:r>
            <a:endParaRPr lang="en-US" sz="1500" dirty="0"/>
          </a:p>
        </p:txBody>
      </p:sp>
      <p:sp>
        <p:nvSpPr>
          <p:cNvPr id="14" name="Text 11"/>
          <p:cNvSpPr/>
          <p:nvPr/>
        </p:nvSpPr>
        <p:spPr>
          <a:xfrm>
            <a:off x="4587954" y="4063126"/>
            <a:ext cx="310657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22B"/>
                </a:solidFill>
                <a:latin typeface="JetBrains Mono" pitchFamily="49" charset="0"/>
                <a:ea typeface="JetBrains Mono" pitchFamily="49" charset="-122"/>
                <a:cs typeface="JetBrains Mono" pitchFamily="49" charset="-120"/>
              </a:rPr>
              <a:t>GET /api/clases</a:t>
            </a:r>
            <a:endParaRPr lang="en-US" sz="1200" dirty="0"/>
          </a:p>
        </p:txBody>
      </p:sp>
      <p:sp>
        <p:nvSpPr>
          <p:cNvPr id="15" name="Text 12"/>
          <p:cNvSpPr/>
          <p:nvPr/>
        </p:nvSpPr>
        <p:spPr>
          <a:xfrm>
            <a:off x="4587954" y="4339946"/>
            <a:ext cx="3106574" cy="48760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22B"/>
                </a:solidFill>
                <a:latin typeface="IBM Plex Sans" pitchFamily="34" charset="0"/>
                <a:ea typeface="IBM Plex Sans" pitchFamily="34" charset="-122"/>
                <a:cs typeface="IBM Plex Sans" pitchFamily="34" charset="-120"/>
              </a:rPr>
              <a:t>Se queda con las clases donde está inscrito, con su entrenador.</a:t>
            </a:r>
            <a:endParaRPr lang="en-US" sz="1300" dirty="0"/>
          </a:p>
        </p:txBody>
      </p:sp>
      <p:sp>
        <p:nvSpPr>
          <p:cNvPr id="16" name="Shape 13"/>
          <p:cNvSpPr/>
          <p:nvPr/>
        </p:nvSpPr>
        <p:spPr>
          <a:xfrm>
            <a:off x="7998897" y="3592035"/>
            <a:ext cx="3374033" cy="1389142"/>
          </a:xfrm>
          <a:prstGeom prst="roundRect">
            <a:avLst>
              <a:gd name="adj" fmla="val 6857"/>
            </a:avLst>
          </a:prstGeom>
          <a:solidFill>
            <a:srgbClr val="E1D5E7"/>
          </a:solidFill>
          <a:ln w="12700">
            <a:solidFill>
              <a:srgbClr val="9673A6"/>
            </a:solidFill>
            <a:prstDash val="solid"/>
          </a:ln>
        </p:spPr>
      </p:sp>
      <p:sp>
        <p:nvSpPr>
          <p:cNvPr id="17" name="Text 14"/>
          <p:cNvSpPr/>
          <p:nvPr/>
        </p:nvSpPr>
        <p:spPr>
          <a:xfrm>
            <a:off x="8177927" y="3771066"/>
            <a:ext cx="310645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22B"/>
                </a:solidFill>
                <a:latin typeface="Rubik" pitchFamily="34" charset="0"/>
                <a:ea typeface="Rubik" pitchFamily="34" charset="-122"/>
                <a:cs typeface="Rubik" pitchFamily="34" charset="-120"/>
              </a:rPr>
              <a:t>miembros-service</a:t>
            </a:r>
            <a:endParaRPr lang="en-US" sz="1500" dirty="0"/>
          </a:p>
        </p:txBody>
      </p:sp>
      <p:sp>
        <p:nvSpPr>
          <p:cNvPr id="18" name="Text 15"/>
          <p:cNvSpPr/>
          <p:nvPr/>
        </p:nvSpPr>
        <p:spPr>
          <a:xfrm>
            <a:off x="8177927" y="4063126"/>
            <a:ext cx="310645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22B"/>
                </a:solidFill>
                <a:latin typeface="JetBrains Mono" pitchFamily="49" charset="0"/>
                <a:ea typeface="JetBrains Mono" pitchFamily="49" charset="-122"/>
                <a:cs typeface="JetBrains Mono" pitchFamily="49" charset="-120"/>
              </a:rPr>
              <a:t>GET /api/miembros/{id}/pagos</a:t>
            </a:r>
            <a:endParaRPr lang="en-US" sz="1200" dirty="0"/>
          </a:p>
        </p:txBody>
      </p:sp>
      <p:sp>
        <p:nvSpPr>
          <p:cNvPr id="19" name="Text 16"/>
          <p:cNvSpPr/>
          <p:nvPr/>
        </p:nvSpPr>
        <p:spPr>
          <a:xfrm>
            <a:off x="8177927" y="4339946"/>
            <a:ext cx="3106451" cy="2565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22B"/>
                </a:solidFill>
                <a:latin typeface="IBM Plex Sans" pitchFamily="34" charset="0"/>
                <a:ea typeface="IBM Plex Sans" pitchFamily="34" charset="-122"/>
                <a:cs typeface="IBM Plex Sans" pitchFamily="34" charset="-120"/>
              </a:rPr>
              <a:t>El historial de pagos.</a:t>
            </a:r>
            <a:endParaRPr lang="en-US" sz="1300" dirty="0"/>
          </a:p>
        </p:txBody>
      </p:sp>
      <p:sp>
        <p:nvSpPr>
          <p:cNvPr id="20" name="Text 17"/>
          <p:cNvSpPr/>
          <p:nvPr/>
        </p:nvSpPr>
        <p:spPr>
          <a:xfrm>
            <a:off x="812721" y="5190648"/>
            <a:ext cx="1088355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0"/>
                </a:solidFill>
                <a:latin typeface="IBM Plex Sans" pitchFamily="34" charset="0"/>
                <a:ea typeface="IBM Plex Sans" pitchFamily="34" charset="-122"/>
                <a:cs typeface="IBM Plex Sans" pitchFamily="34" charset="-120"/>
              </a:rPr>
              <a:t>En paralelo con Mono.zip, timeout de 3 s por llamada y el Authorization original reenviado.</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721" y="812719"/>
            <a:ext cx="10883556" cy="25650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2A724A"/>
                </a:solidFill>
                <a:latin typeface="IBM Plex Sans" pitchFamily="34" charset="0"/>
                <a:ea typeface="IBM Plex Sans" pitchFamily="34" charset="-122"/>
                <a:cs typeface="IBM Plex Sans" pitchFamily="34" charset="-120"/>
              </a:rPr>
              <a:t>FILTRO DE AGREGACIÓN</a:t>
            </a:r>
            <a:endParaRPr lang="en-US" sz="1300" dirty="0"/>
          </a:p>
        </p:txBody>
      </p:sp>
      <p:sp>
        <p:nvSpPr>
          <p:cNvPr id="3" name="Text 1"/>
          <p:cNvSpPr/>
          <p:nvPr>
            <p:ph type="title"/>
          </p:nvPr>
        </p:nvSpPr>
        <p:spPr>
          <a:xfrm>
            <a:off x="812721" y="1297781"/>
            <a:ext cx="10883556" cy="472361"/>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22B"/>
                </a:solidFill>
                <a:latin typeface="Rubik" pitchFamily="34" charset="0"/>
                <a:ea typeface="Rubik" pitchFamily="34" charset="-122"/>
                <a:cs typeface="Rubik" pitchFamily="34" charset="-120"/>
              </a:rPr>
              <a:t>Respuesta y degradación controlada</a:t>
            </a:r>
            <a:endParaRPr lang="en-US" sz="3200" dirty="0"/>
          </a:p>
        </p:txBody>
      </p:sp>
      <p:sp>
        <p:nvSpPr>
          <p:cNvPr id="4" name="Text 2"/>
          <p:cNvSpPr/>
          <p:nvPr/>
        </p:nvSpPr>
        <p:spPr>
          <a:xfrm>
            <a:off x="812721" y="1998700"/>
            <a:ext cx="4953000" cy="2837021"/>
          </a:xfrm>
          <a:prstGeom prst="roundRect">
            <a:avLst>
              <a:gd name="adj" fmla="val 3581"/>
            </a:avLst>
          </a:prstGeom>
          <a:solidFill>
            <a:srgbClr val="13222B"/>
          </a:solidFill>
          <a:ln/>
        </p:spPr>
        <p:txBody>
          <a:bodyPr wrap="none" lIns="173363" tIns="173442" rIns="36960" bIns="147884" rtlCol="0" anchor="t">
            <a:normAutofit/>
          </a:bodyPr>
          <a:lstStyle/>
          <a:p>
            <a:pPr algn="l" indent="0" marL="0">
              <a:lnSpc>
                <a:spcPts val="1740"/>
              </a:lnSpc>
              <a:buNone/>
            </a:pPr>
            <a:r>
              <a:rPr lang="en-US" sz="1200" dirty="0">
                <a:solidFill>
                  <a:srgbClr val="E8EEF0"/>
                </a:solidFill>
                <a:latin typeface="JetBrains Mono" pitchFamily="49" charset="0"/>
                <a:ea typeface="JetBrains Mono" pitchFamily="49" charset="-122"/>
                <a:cs typeface="JetBrains Mono" pitchFamily="49" charset="-120"/>
              </a:rPr>
              <a:t>{</a:t>
            </a:r>
            <a:endParaRPr lang="en-US" sz="1200" dirty="0"/>
          </a:p>
          <a:p>
            <a:pPr algn="l" indent="0" marL="0">
              <a:lnSpc>
                <a:spcPts val="1740"/>
              </a:lnSpc>
              <a:buNone/>
            </a:pPr>
            <a:r>
              <a:rPr lang="en-US" sz="1200" dirty="0">
                <a:solidFill>
                  <a:srgbClr val="E8EEF0"/>
                </a:solidFill>
                <a:latin typeface="JetBrains Mono" pitchFamily="49" charset="0"/>
                <a:ea typeface="JetBrains Mono" pitchFamily="49" charset="-122"/>
                <a:cs typeface="JetBrains Mono" pitchFamily="49" charset="-120"/>
              </a:rPr>
              <a:t>  "miembro": { "id": 1, ... },</a:t>
            </a:r>
            <a:endParaRPr lang="en-US" sz="1200" dirty="0"/>
          </a:p>
          <a:p>
            <a:pPr algn="l" indent="0" marL="0">
              <a:lnSpc>
                <a:spcPts val="1740"/>
              </a:lnSpc>
              <a:buNone/>
            </a:pPr>
            <a:r>
              <a:rPr lang="en-US" sz="1200" dirty="0">
                <a:solidFill>
                  <a:srgbClr val="E8EEF0"/>
                </a:solidFill>
                <a:latin typeface="JetBrains Mono" pitchFamily="49" charset="0"/>
                <a:ea typeface="JetBrains Mono" pitchFamily="49" charset="-122"/>
                <a:cs typeface="JetBrains Mono" pitchFamily="49" charset="-120"/>
              </a:rPr>
              <a:t>  "clases": [ {</a:t>
            </a:r>
            <a:endParaRPr lang="en-US" sz="1200" dirty="0"/>
          </a:p>
          <a:p>
            <a:pPr algn="l" indent="0" marL="0">
              <a:lnSpc>
                <a:spcPts val="1740"/>
              </a:lnSpc>
              <a:buNone/>
            </a:pPr>
            <a:r>
              <a:rPr lang="en-US" sz="1200" dirty="0">
                <a:solidFill>
                  <a:srgbClr val="E8EEF0"/>
                </a:solidFill>
                <a:latin typeface="JetBrains Mono" pitchFamily="49" charset="0"/>
                <a:ea typeface="JetBrains Mono" pitchFamily="49" charset="-122"/>
                <a:cs typeface="JetBrains Mono" pitchFamily="49" charset="-120"/>
              </a:rPr>
              <a:t>    "nombre": "Yoga Matutino",</a:t>
            </a:r>
            <a:endParaRPr lang="en-US" sz="1200" dirty="0"/>
          </a:p>
          <a:p>
            <a:pPr algn="l" indent="0" marL="0">
              <a:lnSpc>
                <a:spcPts val="1740"/>
              </a:lnSpc>
              <a:buNone/>
            </a:pPr>
            <a:r>
              <a:rPr lang="en-US" sz="1200" dirty="0">
                <a:solidFill>
                  <a:srgbClr val="E8EEF0"/>
                </a:solidFill>
                <a:latin typeface="JetBrains Mono" pitchFamily="49" charset="0"/>
                <a:ea typeface="JetBrains Mono" pitchFamily="49" charset="-122"/>
                <a:cs typeface="JetBrains Mono" pitchFamily="49" charset="-120"/>
              </a:rPr>
              <a:t>    "entrenadorNombre": "Carlos Rodriguez"</a:t>
            </a:r>
            <a:endParaRPr lang="en-US" sz="1200" dirty="0"/>
          </a:p>
          <a:p>
            <a:pPr algn="l" indent="0" marL="0">
              <a:lnSpc>
                <a:spcPts val="1740"/>
              </a:lnSpc>
              <a:buNone/>
            </a:pPr>
            <a:r>
              <a:rPr lang="en-US" sz="1200" dirty="0">
                <a:solidFill>
                  <a:srgbClr val="E8EEF0"/>
                </a:solidFill>
                <a:latin typeface="JetBrains Mono" pitchFamily="49" charset="0"/>
                <a:ea typeface="JetBrains Mono" pitchFamily="49" charset="-122"/>
                <a:cs typeface="JetBrains Mono" pitchFamily="49" charset="-120"/>
              </a:rPr>
              <a:t>  } ],</a:t>
            </a:r>
            <a:endParaRPr lang="en-US" sz="1200" dirty="0"/>
          </a:p>
          <a:p>
            <a:pPr algn="l" indent="0" marL="0">
              <a:lnSpc>
                <a:spcPts val="1740"/>
              </a:lnSpc>
              <a:buNone/>
            </a:pPr>
            <a:r>
              <a:rPr lang="en-US" sz="1200" dirty="0">
                <a:solidFill>
                  <a:srgbClr val="E8EEF0"/>
                </a:solidFill>
                <a:latin typeface="JetBrains Mono" pitchFamily="49" charset="0"/>
                <a:ea typeface="JetBrains Mono" pitchFamily="49" charset="-122"/>
                <a:cs typeface="JetBrains Mono" pitchFamily="49" charset="-120"/>
              </a:rPr>
              <a:t>  "totalClases": 1,</a:t>
            </a:r>
            <a:endParaRPr lang="en-US" sz="1200" dirty="0"/>
          </a:p>
          <a:p>
            <a:pPr algn="l" indent="0" marL="0">
              <a:lnSpc>
                <a:spcPts val="1740"/>
              </a:lnSpc>
              <a:buNone/>
            </a:pPr>
            <a:r>
              <a:rPr lang="en-US" sz="1200" dirty="0">
                <a:solidFill>
                  <a:srgbClr val="E8EEF0"/>
                </a:solidFill>
                <a:latin typeface="JetBrains Mono" pitchFamily="49" charset="0"/>
                <a:ea typeface="JetBrains Mono" pitchFamily="49" charset="-122"/>
                <a:cs typeface="JetBrains Mono" pitchFamily="49" charset="-120"/>
              </a:rPr>
              <a:t>  "pagos": [ { "monto": 120000.0 } ],</a:t>
            </a:r>
            <a:endParaRPr lang="en-US" sz="1200" dirty="0"/>
          </a:p>
          <a:p>
            <a:pPr algn="l" indent="0" marL="0">
              <a:lnSpc>
                <a:spcPts val="1740"/>
              </a:lnSpc>
              <a:buNone/>
            </a:pPr>
            <a:r>
              <a:rPr lang="en-US" sz="1200" dirty="0">
                <a:solidFill>
                  <a:srgbClr val="E8EEF0"/>
                </a:solidFill>
                <a:latin typeface="JetBrains Mono" pitchFamily="49" charset="0"/>
                <a:ea typeface="JetBrains Mono" pitchFamily="49" charset="-122"/>
                <a:cs typeface="JetBrains Mono" pitchFamily="49" charset="-120"/>
              </a:rPr>
              <a:t>  "totalPagado": 120000.0,</a:t>
            </a:r>
            <a:endParaRPr lang="en-US" sz="1200" dirty="0"/>
          </a:p>
          <a:p>
            <a:pPr algn="l" indent="0" marL="0">
              <a:lnSpc>
                <a:spcPts val="1740"/>
              </a:lnSpc>
              <a:buNone/>
            </a:pPr>
            <a:r>
              <a:rPr lang="en-US" sz="1200" dirty="0">
                <a:solidFill>
                  <a:srgbClr val="E8EEF0"/>
                </a:solidFill>
                <a:latin typeface="JetBrains Mono" pitchFamily="49" charset="0"/>
                <a:ea typeface="JetBrains Mono" pitchFamily="49" charset="-122"/>
                <a:cs typeface="JetBrains Mono" pitchFamily="49" charset="-120"/>
              </a:rPr>
              <a:t>  "advertencias": []</a:t>
            </a:r>
            <a:endParaRPr lang="en-US" sz="1200" dirty="0"/>
          </a:p>
          <a:p>
            <a:pPr algn="l" indent="0" marL="0">
              <a:lnSpc>
                <a:spcPts val="1740"/>
              </a:lnSpc>
              <a:buNone/>
            </a:pPr>
            <a:r>
              <a:rPr lang="en-US" sz="1200" dirty="0">
                <a:solidFill>
                  <a:srgbClr val="E8EEF0"/>
                </a:solidFill>
                <a:latin typeface="JetBrains Mono" pitchFamily="49" charset="0"/>
                <a:ea typeface="JetBrains Mono" pitchFamily="49" charset="-122"/>
                <a:cs typeface="JetBrains Mono" pitchFamily="49" charset="-120"/>
              </a:rPr>
              <a:t>}</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078141" y="2006320"/>
          <a:ext cx="5300901" cy="2002155"/>
        </p:xfrm>
        <a:graphic>
          <a:graphicData uri="http://schemas.openxmlformats.org/drawingml/2006/table">
            <a:tbl>
              <a:tblPr/>
              <a:tblGrid>
                <a:gridCol w="2650450"/>
                <a:gridCol w="2650450"/>
              </a:tblGrid>
              <a:tr h="354211">
                <a:tc>
                  <a:txBody>
                    <a:bodyPr/>
                    <a:lstStyle/>
                    <a:p>
                      <a:pPr indent="0" marL="0">
                        <a:lnSpc>
                          <a:spcPts val="1820"/>
                        </a:lnSpc>
                        <a:buNone/>
                      </a:pPr>
                      <a:r>
                        <a:rPr lang="en-US" sz="1300" b="1" dirty="0">
                          <a:solidFill>
                            <a:srgbClr val="13222B"/>
                          </a:solidFill>
                          <a:latin typeface="IBM Plex Sans" pitchFamily="34" charset="0"/>
                          <a:ea typeface="IBM Plex Sans" pitchFamily="34" charset="-122"/>
                          <a:cs typeface="IBM Plex Sans" pitchFamily="34" charset="-120"/>
                        </a:rPr>
                        <a:t>Situación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indent="0" marL="0">
                        <a:lnSpc>
                          <a:spcPts val="1820"/>
                        </a:lnSpc>
                        <a:buNone/>
                      </a:pPr>
                      <a:r>
                        <a:rPr lang="en-US" sz="1300" b="1" dirty="0">
                          <a:solidFill>
                            <a:srgbClr val="13222B"/>
                          </a:solidFill>
                          <a:latin typeface="IBM Plex Sans" pitchFamily="34" charset="0"/>
                          <a:ea typeface="IBM Plex Sans" pitchFamily="34" charset="-122"/>
                          <a:cs typeface="IBM Plex Sans" pitchFamily="34" charset="-120"/>
                        </a:rPr>
                        <a:t>Respuesta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r>
              <a:tr h="354211">
                <a:tc>
                  <a:txBody>
                    <a:bodyPr/>
                    <a:lstStyle/>
                    <a:p>
                      <a:pPr indent="0" marL="0">
                        <a:lnSpc>
                          <a:spcPts val="1820"/>
                        </a:lnSpc>
                        <a:buNone/>
                      </a:pPr>
                      <a:r>
                        <a:rPr lang="en-US" sz="1300" dirty="0">
                          <a:solidFill>
                            <a:srgbClr val="13222B"/>
                          </a:solidFill>
                          <a:latin typeface="IBM Plex Sans" pitchFamily="34" charset="0"/>
                          <a:ea typeface="IBM Plex Sans" pitchFamily="34" charset="-122"/>
                          <a:cs typeface="IBM Plex Sans" pitchFamily="34" charset="-120"/>
                        </a:rPr>
                        <a:t>Miembro inexistente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3222B"/>
                          </a:solidFill>
                          <a:latin typeface="IBM Plex Sans" pitchFamily="34" charset="0"/>
                          <a:ea typeface="IBM Plex Sans" pitchFamily="34" charset="-122"/>
                          <a:cs typeface="IBM Plex Sans" pitchFamily="34" charset="-120"/>
                        </a:rPr>
                        <a:t>404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54211">
                <a:tc>
                  <a:txBody>
                    <a:bodyPr/>
                    <a:lstStyle/>
                    <a:p>
                      <a:pPr indent="0" marL="0">
                        <a:lnSpc>
                          <a:spcPts val="1820"/>
                        </a:lnSpc>
                        <a:buNone/>
                      </a:pPr>
                      <a:r>
                        <a:rPr lang="en-US" sz="1300" dirty="0">
                          <a:solidFill>
                            <a:srgbClr val="13222B"/>
                          </a:solidFill>
                          <a:latin typeface="IBM Plex Sans" pitchFamily="34" charset="0"/>
                          <a:ea typeface="IBM Plex Sans" pitchFamily="34" charset="-122"/>
                          <a:cs typeface="IBM Plex Sans" pitchFamily="34" charset="-120"/>
                        </a:rPr>
                        <a:t>Sin token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3222B"/>
                          </a:solidFill>
                          <a:latin typeface="IBM Plex Sans" pitchFamily="34" charset="0"/>
                          <a:ea typeface="IBM Plex Sans" pitchFamily="34" charset="-122"/>
                          <a:cs typeface="IBM Plex Sans" pitchFamily="34" charset="-120"/>
                        </a:rPr>
                        <a:t>401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585311">
                <a:tc>
                  <a:txBody>
                    <a:bodyPr/>
                    <a:lstStyle/>
                    <a:p>
                      <a:pPr indent="0" marL="0">
                        <a:lnSpc>
                          <a:spcPts val="1820"/>
                        </a:lnSpc>
                        <a:buNone/>
                      </a:pPr>
                      <a:r>
                        <a:rPr lang="en-US" sz="1300" dirty="0">
                          <a:solidFill>
                            <a:srgbClr val="13222B"/>
                          </a:solidFill>
                          <a:latin typeface="IBM Plex Sans" pitchFamily="34" charset="0"/>
                          <a:ea typeface="IBM Plex Sans" pitchFamily="34" charset="-122"/>
                          <a:cs typeface="IBM Plex Sans" pitchFamily="34" charset="-120"/>
                        </a:rPr>
                        <a:t>Falla clases o pagos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3222B"/>
                          </a:solidFill>
                          <a:latin typeface="IBM Plex Sans" pitchFamily="34" charset="0"/>
                          <a:ea typeface="IBM Plex Sans" pitchFamily="34" charset="-122"/>
                          <a:cs typeface="IBM Plex Sans" pitchFamily="34" charset="-120"/>
                        </a:rPr>
                        <a:t>200 con esa parte en null y advertencias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54211">
                <a:tc>
                  <a:txBody>
                    <a:bodyPr/>
                    <a:lstStyle/>
                    <a:p>
                      <a:pPr indent="0" marL="0">
                        <a:lnSpc>
                          <a:spcPts val="1820"/>
                        </a:lnSpc>
                        <a:buNone/>
                      </a:pPr>
                      <a:r>
                        <a:rPr lang="en-US" sz="1300" dirty="0">
                          <a:solidFill>
                            <a:srgbClr val="13222B"/>
                          </a:solidFill>
                          <a:latin typeface="IBM Plex Sans" pitchFamily="34" charset="0"/>
                          <a:ea typeface="IBM Plex Sans" pitchFamily="34" charset="-122"/>
                          <a:cs typeface="IBM Plex Sans" pitchFamily="34" charset="-120"/>
                        </a:rPr>
                        <a:t>Falla el miembro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3222B"/>
                          </a:solidFill>
                          <a:latin typeface="IBM Plex Sans" pitchFamily="34" charset="0"/>
                          <a:ea typeface="IBM Plex Sans" pitchFamily="34" charset="-122"/>
                          <a:cs typeface="IBM Plex Sans" pitchFamily="34" charset="-120"/>
                        </a:rPr>
                        <a:t>503 o 502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6" name="Text 3"/>
          <p:cNvSpPr/>
          <p:nvPr/>
        </p:nvSpPr>
        <p:spPr>
          <a:xfrm>
            <a:off x="6070521" y="4160878"/>
            <a:ext cx="5468022" cy="48760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0"/>
                </a:solidFill>
                <a:latin typeface="IBM Plex Sans" pitchFamily="34" charset="0"/>
                <a:ea typeface="IBM Plex Sans" pitchFamily="34" charset="-122"/>
                <a:cs typeface="IBM Plex Sans" pitchFamily="34" charset="-120"/>
              </a:rPr>
              <a:t>Si clases o pagos caen, el resumen no se cae: entrega lo que sí pudo obtener y avisa qué faltó.</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3222B"/>
        </a:solidFill>
      </p:bgPr>
    </p:bg>
    <p:spTree>
      <p:nvGrpSpPr>
        <p:cNvPr id="1" name=""/>
        <p:cNvGrpSpPr/>
        <p:nvPr/>
      </p:nvGrpSpPr>
      <p:grpSpPr>
        <a:xfrm>
          <a:off x="0" y="0"/>
          <a:ext cx="0" cy="0"/>
          <a:chOff x="0" y="0"/>
          <a:chExt cx="0" cy="0"/>
        </a:xfrm>
      </p:grpSpPr>
      <p:sp>
        <p:nvSpPr>
          <p:cNvPr id="2" name="Text 0"/>
          <p:cNvSpPr/>
          <p:nvPr/>
        </p:nvSpPr>
        <p:spPr>
          <a:xfrm>
            <a:off x="812721" y="812726"/>
            <a:ext cx="10883556" cy="25650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7FD1A0"/>
                </a:solidFill>
                <a:latin typeface="IBM Plex Sans" pitchFamily="34" charset="0"/>
                <a:ea typeface="IBM Plex Sans" pitchFamily="34" charset="-122"/>
                <a:cs typeface="IBM Plex Sans" pitchFamily="34" charset="-120"/>
              </a:rPr>
              <a:t>DEMO EN VIVO</a:t>
            </a:r>
            <a:endParaRPr lang="en-US" sz="1300" dirty="0"/>
          </a:p>
        </p:txBody>
      </p:sp>
      <p:sp>
        <p:nvSpPr>
          <p:cNvPr id="3" name="Text 1"/>
          <p:cNvSpPr/>
          <p:nvPr>
            <p:ph type="title"/>
          </p:nvPr>
        </p:nvSpPr>
        <p:spPr>
          <a:xfrm>
            <a:off x="812721" y="1297781"/>
            <a:ext cx="10883556" cy="472361"/>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5F3EC"/>
                </a:solidFill>
                <a:latin typeface="Rubik" pitchFamily="34" charset="0"/>
                <a:ea typeface="Rubik" pitchFamily="34" charset="-122"/>
                <a:cs typeface="Rubik" pitchFamily="34" charset="-120"/>
              </a:rPr>
              <a:t>Seis pasos para verlo funcionar</a:t>
            </a:r>
            <a:endParaRPr lang="en-US" sz="3200" dirty="0"/>
          </a:p>
        </p:txBody>
      </p:sp>
      <p:sp>
        <p:nvSpPr>
          <p:cNvPr id="4" name="Shape 2"/>
          <p:cNvSpPr/>
          <p:nvPr/>
        </p:nvSpPr>
        <p:spPr>
          <a:xfrm>
            <a:off x="812721" y="1998706"/>
            <a:ext cx="3386733" cy="1594842"/>
          </a:xfrm>
          <a:prstGeom prst="roundRect">
            <a:avLst>
              <a:gd name="adj" fmla="val 6371"/>
            </a:avLst>
          </a:prstGeom>
          <a:solidFill>
            <a:srgbClr val="1D3340"/>
          </a:solidFill>
          <a:ln/>
        </p:spPr>
      </p:sp>
      <p:sp>
        <p:nvSpPr>
          <p:cNvPr id="5" name="Text 3"/>
          <p:cNvSpPr/>
          <p:nvPr/>
        </p:nvSpPr>
        <p:spPr>
          <a:xfrm>
            <a:off x="1015841" y="2201825"/>
            <a:ext cx="3069906" cy="38104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7FD1A0"/>
                </a:solidFill>
                <a:latin typeface="Rubik" pitchFamily="34" charset="0"/>
                <a:ea typeface="Rubik" pitchFamily="34" charset="-122"/>
                <a:cs typeface="Rubik" pitchFamily="34" charset="-120"/>
              </a:rPr>
              <a:t>1</a:t>
            </a:r>
            <a:endParaRPr lang="en-US" sz="2800" dirty="0"/>
          </a:p>
        </p:txBody>
      </p:sp>
      <p:sp>
        <p:nvSpPr>
          <p:cNvPr id="6" name="Text 4"/>
          <p:cNvSpPr/>
          <p:nvPr/>
        </p:nvSpPr>
        <p:spPr>
          <a:xfrm>
            <a:off x="1015841" y="2620925"/>
            <a:ext cx="3069906"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F3EC"/>
                </a:solidFill>
                <a:latin typeface="Rubik" pitchFamily="34" charset="0"/>
                <a:ea typeface="Rubik" pitchFamily="34" charset="-122"/>
                <a:cs typeface="Rubik" pitchFamily="34" charset="-120"/>
              </a:rPr>
              <a:t>Eureka</a:t>
            </a:r>
            <a:endParaRPr lang="en-US" sz="1600" dirty="0"/>
          </a:p>
        </p:txBody>
      </p:sp>
      <p:sp>
        <p:nvSpPr>
          <p:cNvPr id="7" name="Text 5"/>
          <p:cNvSpPr/>
          <p:nvPr/>
        </p:nvSpPr>
        <p:spPr>
          <a:xfrm>
            <a:off x="1015841" y="2928224"/>
            <a:ext cx="3069906" cy="48760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9C6CC"/>
                </a:solidFill>
                <a:latin typeface="IBM Plex Sans" pitchFamily="34" charset="0"/>
                <a:ea typeface="IBM Plex Sans" pitchFamily="34" charset="-122"/>
                <a:cs typeface="IBM Plex Sans" pitchFamily="34" charset="-120"/>
              </a:rPr>
              <a:t>Dashboard en :8761 con los 4 servicios y el gateway.</a:t>
            </a:r>
            <a:endParaRPr lang="en-US" sz="1300" dirty="0"/>
          </a:p>
        </p:txBody>
      </p:sp>
      <p:sp>
        <p:nvSpPr>
          <p:cNvPr id="8" name="Shape 6"/>
          <p:cNvSpPr/>
          <p:nvPr/>
        </p:nvSpPr>
        <p:spPr>
          <a:xfrm>
            <a:off x="4402574" y="1998706"/>
            <a:ext cx="3386733" cy="1594842"/>
          </a:xfrm>
          <a:prstGeom prst="roundRect">
            <a:avLst>
              <a:gd name="adj" fmla="val 6371"/>
            </a:avLst>
          </a:prstGeom>
          <a:solidFill>
            <a:srgbClr val="1D3340"/>
          </a:solidFill>
          <a:ln/>
        </p:spPr>
      </p:sp>
      <p:sp>
        <p:nvSpPr>
          <p:cNvPr id="9" name="Text 7"/>
          <p:cNvSpPr/>
          <p:nvPr/>
        </p:nvSpPr>
        <p:spPr>
          <a:xfrm>
            <a:off x="4605695" y="2201825"/>
            <a:ext cx="3069906" cy="38104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7FD1A0"/>
                </a:solidFill>
                <a:latin typeface="Rubik" pitchFamily="34" charset="0"/>
                <a:ea typeface="Rubik" pitchFamily="34" charset="-122"/>
                <a:cs typeface="Rubik" pitchFamily="34" charset="-120"/>
              </a:rPr>
              <a:t>2</a:t>
            </a:r>
            <a:endParaRPr lang="en-US" sz="2800" dirty="0"/>
          </a:p>
        </p:txBody>
      </p:sp>
      <p:sp>
        <p:nvSpPr>
          <p:cNvPr id="10" name="Text 8"/>
          <p:cNvSpPr/>
          <p:nvPr/>
        </p:nvSpPr>
        <p:spPr>
          <a:xfrm>
            <a:off x="4605695" y="2620925"/>
            <a:ext cx="3069906"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F3EC"/>
                </a:solidFill>
                <a:latin typeface="Rubik" pitchFamily="34" charset="0"/>
                <a:ea typeface="Rubik" pitchFamily="34" charset="-122"/>
                <a:cs typeface="Rubik" pitchFamily="34" charset="-120"/>
              </a:rPr>
              <a:t>Sin token</a:t>
            </a:r>
            <a:endParaRPr lang="en-US" sz="1600" dirty="0"/>
          </a:p>
        </p:txBody>
      </p:sp>
      <p:sp>
        <p:nvSpPr>
          <p:cNvPr id="11" name="Text 9"/>
          <p:cNvSpPr/>
          <p:nvPr/>
        </p:nvSpPr>
        <p:spPr>
          <a:xfrm>
            <a:off x="4605695" y="2928224"/>
            <a:ext cx="3069906" cy="48760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9C6CC"/>
                </a:solidFill>
                <a:latin typeface="IBM Plex Sans" pitchFamily="34" charset="0"/>
                <a:ea typeface="IBM Plex Sans" pitchFamily="34" charset="-122"/>
                <a:cs typeface="IBM Plex Sans" pitchFamily="34" charset="-120"/>
              </a:rPr>
              <a:t>GET /api/clases por el 8085 responde 401.</a:t>
            </a:r>
            <a:endParaRPr lang="en-US" sz="1300" dirty="0"/>
          </a:p>
        </p:txBody>
      </p:sp>
      <p:sp>
        <p:nvSpPr>
          <p:cNvPr id="12" name="Shape 10"/>
          <p:cNvSpPr/>
          <p:nvPr/>
        </p:nvSpPr>
        <p:spPr>
          <a:xfrm>
            <a:off x="7992428" y="1998706"/>
            <a:ext cx="3386852" cy="1594842"/>
          </a:xfrm>
          <a:prstGeom prst="roundRect">
            <a:avLst>
              <a:gd name="adj" fmla="val 6371"/>
            </a:avLst>
          </a:prstGeom>
          <a:solidFill>
            <a:srgbClr val="1D3340"/>
          </a:solidFill>
          <a:ln/>
        </p:spPr>
      </p:sp>
      <p:sp>
        <p:nvSpPr>
          <p:cNvPr id="13" name="Text 11"/>
          <p:cNvSpPr/>
          <p:nvPr/>
        </p:nvSpPr>
        <p:spPr>
          <a:xfrm>
            <a:off x="8195549" y="2201825"/>
            <a:ext cx="3070029" cy="38104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7FD1A0"/>
                </a:solidFill>
                <a:latin typeface="Rubik" pitchFamily="34" charset="0"/>
                <a:ea typeface="Rubik" pitchFamily="34" charset="-122"/>
                <a:cs typeface="Rubik" pitchFamily="34" charset="-120"/>
              </a:rPr>
              <a:t>3</a:t>
            </a:r>
            <a:endParaRPr lang="en-US" sz="2800" dirty="0"/>
          </a:p>
        </p:txBody>
      </p:sp>
      <p:sp>
        <p:nvSpPr>
          <p:cNvPr id="14" name="Text 12"/>
          <p:cNvSpPr/>
          <p:nvPr/>
        </p:nvSpPr>
        <p:spPr>
          <a:xfrm>
            <a:off x="8195549" y="2620925"/>
            <a:ext cx="307002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F3EC"/>
                </a:solidFill>
                <a:latin typeface="Rubik" pitchFamily="34" charset="0"/>
                <a:ea typeface="Rubik" pitchFamily="34" charset="-122"/>
                <a:cs typeface="Rubik" pitchFamily="34" charset="-120"/>
              </a:rPr>
              <a:t>Rol insuficiente</a:t>
            </a:r>
            <a:endParaRPr lang="en-US" sz="1600" dirty="0"/>
          </a:p>
        </p:txBody>
      </p:sp>
      <p:sp>
        <p:nvSpPr>
          <p:cNvPr id="15" name="Text 13"/>
          <p:cNvSpPr/>
          <p:nvPr/>
        </p:nvSpPr>
        <p:spPr>
          <a:xfrm>
            <a:off x="8195549" y="2928224"/>
            <a:ext cx="3070029" cy="48760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9C6CC"/>
                </a:solidFill>
                <a:latin typeface="IBM Plex Sans" pitchFamily="34" charset="0"/>
                <a:ea typeface="IBM Plex Sans" pitchFamily="34" charset="-122"/>
                <a:cs typeface="IBM Plex Sans" pitchFamily="34" charset="-120"/>
              </a:rPr>
              <a:t>member intenta POST /api/miembros y recibe 403.</a:t>
            </a:r>
            <a:endParaRPr lang="en-US" sz="1300" dirty="0"/>
          </a:p>
        </p:txBody>
      </p:sp>
      <p:sp>
        <p:nvSpPr>
          <p:cNvPr id="16" name="Shape 14"/>
          <p:cNvSpPr/>
          <p:nvPr/>
        </p:nvSpPr>
        <p:spPr>
          <a:xfrm>
            <a:off x="812721" y="3796667"/>
            <a:ext cx="3386733" cy="1825943"/>
          </a:xfrm>
          <a:prstGeom prst="roundRect">
            <a:avLst>
              <a:gd name="adj" fmla="val 5564"/>
            </a:avLst>
          </a:prstGeom>
          <a:solidFill>
            <a:srgbClr val="1D3340"/>
          </a:solidFill>
          <a:ln/>
        </p:spPr>
      </p:sp>
      <p:sp>
        <p:nvSpPr>
          <p:cNvPr id="17" name="Text 15"/>
          <p:cNvSpPr/>
          <p:nvPr/>
        </p:nvSpPr>
        <p:spPr>
          <a:xfrm>
            <a:off x="1015841" y="3999787"/>
            <a:ext cx="3069906" cy="38104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7FD1A0"/>
                </a:solidFill>
                <a:latin typeface="Rubik" pitchFamily="34" charset="0"/>
                <a:ea typeface="Rubik" pitchFamily="34" charset="-122"/>
                <a:cs typeface="Rubik" pitchFamily="34" charset="-120"/>
              </a:rPr>
              <a:t>4</a:t>
            </a:r>
            <a:endParaRPr lang="en-US" sz="2800" dirty="0"/>
          </a:p>
        </p:txBody>
      </p:sp>
      <p:sp>
        <p:nvSpPr>
          <p:cNvPr id="18" name="Text 16"/>
          <p:cNvSpPr/>
          <p:nvPr/>
        </p:nvSpPr>
        <p:spPr>
          <a:xfrm>
            <a:off x="1015841" y="4418887"/>
            <a:ext cx="3069906"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F3EC"/>
                </a:solidFill>
                <a:latin typeface="Rubik" pitchFamily="34" charset="0"/>
                <a:ea typeface="Rubik" pitchFamily="34" charset="-122"/>
                <a:cs typeface="Rubik" pitchFamily="34" charset="-120"/>
              </a:rPr>
              <a:t>Resumen</a:t>
            </a:r>
            <a:endParaRPr lang="en-US" sz="1600" dirty="0"/>
          </a:p>
        </p:txBody>
      </p:sp>
      <p:sp>
        <p:nvSpPr>
          <p:cNvPr id="19" name="Text 17"/>
          <p:cNvSpPr/>
          <p:nvPr/>
        </p:nvSpPr>
        <p:spPr>
          <a:xfrm>
            <a:off x="1015841" y="4726186"/>
            <a:ext cx="3069906" cy="48760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9C6CC"/>
                </a:solidFill>
                <a:latin typeface="IBM Plex Sans" pitchFamily="34" charset="0"/>
                <a:ea typeface="IBM Plex Sans" pitchFamily="34" charset="-122"/>
                <a:cs typeface="IBM Plex Sans" pitchFamily="34" charset="-120"/>
              </a:rPr>
              <a:t>admin pide /api/resumen/miembros/1 y ve miembro, clases y pagos.</a:t>
            </a:r>
            <a:endParaRPr lang="en-US" sz="1300" dirty="0"/>
          </a:p>
        </p:txBody>
      </p:sp>
      <p:sp>
        <p:nvSpPr>
          <p:cNvPr id="20" name="Shape 18"/>
          <p:cNvSpPr/>
          <p:nvPr/>
        </p:nvSpPr>
        <p:spPr>
          <a:xfrm>
            <a:off x="4402574" y="3796667"/>
            <a:ext cx="3386733" cy="1825943"/>
          </a:xfrm>
          <a:prstGeom prst="roundRect">
            <a:avLst>
              <a:gd name="adj" fmla="val 5564"/>
            </a:avLst>
          </a:prstGeom>
          <a:solidFill>
            <a:srgbClr val="1D3340"/>
          </a:solidFill>
          <a:ln/>
        </p:spPr>
      </p:sp>
      <p:sp>
        <p:nvSpPr>
          <p:cNvPr id="21" name="Text 19"/>
          <p:cNvSpPr/>
          <p:nvPr/>
        </p:nvSpPr>
        <p:spPr>
          <a:xfrm>
            <a:off x="4605695" y="3999787"/>
            <a:ext cx="3069906" cy="38104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7FD1A0"/>
                </a:solidFill>
                <a:latin typeface="Rubik" pitchFamily="34" charset="0"/>
                <a:ea typeface="Rubik" pitchFamily="34" charset="-122"/>
                <a:cs typeface="Rubik" pitchFamily="34" charset="-120"/>
              </a:rPr>
              <a:t>5</a:t>
            </a:r>
            <a:endParaRPr lang="en-US" sz="2800" dirty="0"/>
          </a:p>
        </p:txBody>
      </p:sp>
      <p:sp>
        <p:nvSpPr>
          <p:cNvPr id="22" name="Text 20"/>
          <p:cNvSpPr/>
          <p:nvPr/>
        </p:nvSpPr>
        <p:spPr>
          <a:xfrm>
            <a:off x="4605695" y="4418887"/>
            <a:ext cx="3069906"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F3EC"/>
                </a:solidFill>
                <a:latin typeface="Rubik" pitchFamily="34" charset="0"/>
                <a:ea typeface="Rubik" pitchFamily="34" charset="-122"/>
                <a:cs typeface="Rubik" pitchFamily="34" charset="-120"/>
              </a:rPr>
              <a:t>Balanceo</a:t>
            </a:r>
            <a:endParaRPr lang="en-US" sz="1600" dirty="0"/>
          </a:p>
        </p:txBody>
      </p:sp>
      <p:sp>
        <p:nvSpPr>
          <p:cNvPr id="23" name="Text 21"/>
          <p:cNvSpPr/>
          <p:nvPr/>
        </p:nvSpPr>
        <p:spPr>
          <a:xfrm>
            <a:off x="4605695" y="4726186"/>
            <a:ext cx="3069906" cy="48760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9C6CC"/>
                </a:solidFill>
                <a:latin typeface="IBM Plex Sans" pitchFamily="34" charset="0"/>
                <a:ea typeface="IBM Plex Sans" pitchFamily="34" charset="-122"/>
                <a:cs typeface="IBM Plex Sans" pitchFamily="34" charset="-120"/>
              </a:rPr>
              <a:t>Dos instancias de entrenadores: 8083 y 8093 se alternan.</a:t>
            </a:r>
            <a:endParaRPr lang="en-US" sz="1300" dirty="0"/>
          </a:p>
        </p:txBody>
      </p:sp>
      <p:sp>
        <p:nvSpPr>
          <p:cNvPr id="24" name="Shape 22"/>
          <p:cNvSpPr/>
          <p:nvPr/>
        </p:nvSpPr>
        <p:spPr>
          <a:xfrm>
            <a:off x="7992428" y="3796667"/>
            <a:ext cx="3386852" cy="1825943"/>
          </a:xfrm>
          <a:prstGeom prst="roundRect">
            <a:avLst>
              <a:gd name="adj" fmla="val 5564"/>
            </a:avLst>
          </a:prstGeom>
          <a:solidFill>
            <a:srgbClr val="1D3340"/>
          </a:solidFill>
          <a:ln/>
        </p:spPr>
      </p:sp>
      <p:sp>
        <p:nvSpPr>
          <p:cNvPr id="25" name="Text 23"/>
          <p:cNvSpPr/>
          <p:nvPr/>
        </p:nvSpPr>
        <p:spPr>
          <a:xfrm>
            <a:off x="8195549" y="3999787"/>
            <a:ext cx="3070029" cy="38104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7FD1A0"/>
                </a:solidFill>
                <a:latin typeface="Rubik" pitchFamily="34" charset="0"/>
                <a:ea typeface="Rubik" pitchFamily="34" charset="-122"/>
                <a:cs typeface="Rubik" pitchFamily="34" charset="-120"/>
              </a:rPr>
              <a:t>6</a:t>
            </a:r>
            <a:endParaRPr lang="en-US" sz="2800" dirty="0"/>
          </a:p>
        </p:txBody>
      </p:sp>
      <p:sp>
        <p:nvSpPr>
          <p:cNvPr id="26" name="Text 24"/>
          <p:cNvSpPr/>
          <p:nvPr/>
        </p:nvSpPr>
        <p:spPr>
          <a:xfrm>
            <a:off x="8195549" y="4418887"/>
            <a:ext cx="307002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F3EC"/>
                </a:solidFill>
                <a:latin typeface="Rubik" pitchFamily="34" charset="0"/>
                <a:ea typeface="Rubik" pitchFamily="34" charset="-122"/>
                <a:cs typeface="Rubik" pitchFamily="34" charset="-120"/>
              </a:rPr>
              <a:t>Degradación</a:t>
            </a:r>
            <a:endParaRPr lang="en-US" sz="1600" dirty="0"/>
          </a:p>
        </p:txBody>
      </p:sp>
      <p:sp>
        <p:nvSpPr>
          <p:cNvPr id="27" name="Text 25"/>
          <p:cNvSpPr/>
          <p:nvPr/>
        </p:nvSpPr>
        <p:spPr>
          <a:xfrm>
            <a:off x="8195549" y="4726186"/>
            <a:ext cx="3070029" cy="71870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9C6CC"/>
                </a:solidFill>
                <a:latin typeface="IBM Plex Sans" pitchFamily="34" charset="0"/>
                <a:ea typeface="IBM Plex Sans" pitchFamily="34" charset="-122"/>
                <a:cs typeface="IBM Plex Sans" pitchFamily="34" charset="-120"/>
              </a:rPr>
              <a:t>Con clases-service apagado, el resumen responde con clases en null y una advertencia.</a:t>
            </a:r>
            <a:endParaRPr lang="en-US" sz="1300" dirty="0"/>
          </a:p>
        </p:txBody>
      </p:sp>
    </p:spTree>
  </p:cSld>
  <p:clrMapOvr>
    <a:masterClrMapping/>
  </p:clrMapOvr>
</p:sld>
</file>

<file path=ppt/theme/theme1.xml><?xml version="1.0" encoding="utf-8"?>
<a:theme xmlns:a="http://schemas.openxmlformats.org/drawingml/2006/main" name="API Gateway del gimnasio">
  <a:themeElements>
    <a:clrScheme name="API Gateway del gimnasio">
      <a:dk1>
        <a:srgbClr val="13222B"/>
      </a:dk1>
      <a:lt1>
        <a:srgbClr val="F5F3EC"/>
      </a:lt1>
      <a:dk2>
        <a:srgbClr val="4C565B"/>
      </a:dk2>
      <a:lt2>
        <a:srgbClr val="DEDED9"/>
      </a:lt2>
      <a:accent1>
        <a:srgbClr val="7FD1A0"/>
      </a:accent1>
      <a:accent2>
        <a:srgbClr val="2A724A"/>
      </a:accent2>
      <a:accent3>
        <a:srgbClr val="FFE6CC"/>
      </a:accent3>
      <a:accent4>
        <a:srgbClr val="2F5F9E"/>
      </a:accent4>
      <a:accent5>
        <a:srgbClr val="A64B0C"/>
      </a:accent5>
      <a:accent6>
        <a:srgbClr val="8A4A00"/>
      </a:accent6>
      <a:hlink>
        <a:srgbClr val="0563C1"/>
      </a:hlink>
      <a:folHlink>
        <a:srgbClr val="954F72"/>
      </a:folHlink>
    </a:clrScheme>
    <a:fontScheme name="API Gateway del gimnasio">
      <a:majorFont>
        <a:latin typeface="Rubi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API Gateway del gimnasio</dc:title>
  <dc:subject/>
  <dc:creator/>
  <cp:lastModifiedBy/>
  <cp:revision>1</cp:revision>
  <dcterms:created xsi:type="dcterms:W3CDTF">2026-10-14T03:54:31Z</dcterms:created>
  <dcterms:modified xsi:type="dcterms:W3CDTF">2026-10-14T03:54:31Z</dcterms:modified>
</cp:coreProperties>
</file>