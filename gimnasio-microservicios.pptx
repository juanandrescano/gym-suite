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deck/icon_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576" y="771296"/>
            <a:ext cx="606247" cy="606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GIMNASIO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monolito a microservicios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Domain-Driven Design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arquitectura de software — migración de un monolito Spring Boot a 4 microservicios aplicando bounded contexts, agregados y value objects.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Ruiz  •  Juan Andrés Cano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— Noveno Semestre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monolito con 4 responsabilidades mezcladas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10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despliegue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17627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lógica de pagos obliga a redesplegar todo el sistema, con el riesgo de romper otras funciones en el proceso.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044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datos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41071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Miembros, Clases, Entrenadores y Equipos comparten tablas — nada impide que una consulta cruce límites que no debería cruzar.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46304" cy="14630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793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todo-o-nada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64515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módulo de Clases recibe mucha carga, hay que escalar el monolito completo, aunque Equipos casi no reciba tráfico.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7830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MONOLÍTICA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33172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3317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98280" y="233172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3317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310896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108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98280" y="310896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3108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4023360"/>
            <a:ext cx="457200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023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base de datos compartida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módulos leen y escriben directamente sobre las mismas tablas.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ENFOQUE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Domain-Driven Design como brújula del rediseño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29184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86484" y="2606040"/>
            <a:ext cx="621792" cy="621792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7" name="Image 0" descr="/home/claude/deck/icon_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881" y="2674437"/>
            <a:ext cx="484998" cy="4849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dominio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406908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capacidades reales del negocio: gestión de miembros, clases, entrenadores y equipos.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3250692" y="3547872"/>
            <a:ext cx="128016" cy="128016"/>
          </a:xfrm>
          <a:prstGeom prst="triangle">
            <a:avLst/>
          </a:prstGeom>
          <a:solidFill>
            <a:srgbClr val="FF6B4A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103120"/>
            <a:ext cx="2697480" cy="329184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421124" y="2606040"/>
            <a:ext cx="621792" cy="621792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1" descr="/home/claude/deck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521" y="2674437"/>
            <a:ext cx="484998" cy="4849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bounded contexts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84448" y="406908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límites explícitos: dentro de cada uno, el modelo y el lenguaje son consistentes.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rot="5400000">
            <a:off x="6085332" y="3547872"/>
            <a:ext cx="128016" cy="128016"/>
          </a:xfrm>
          <a:prstGeom prst="triangle">
            <a:avLst/>
          </a:prstGeom>
          <a:solidFill>
            <a:srgbClr val="FF6B4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17920" y="2103120"/>
            <a:ext cx="2697480" cy="329184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</p:spPr>
      </p:sp>
      <p:sp>
        <p:nvSpPr>
          <p:cNvPr id="19" name="Text 15"/>
          <p:cNvSpPr/>
          <p:nvPr/>
        </p:nvSpPr>
        <p:spPr>
          <a:xfrm>
            <a:off x="6382512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255764" y="2606040"/>
            <a:ext cx="621792" cy="621792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1" name="Image 2" descr="/home/claude/deck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161" y="2674437"/>
            <a:ext cx="484998" cy="48499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agregados y servicios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19088" y="406908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qué objetos son Aggregate Root, cuáles son Value Objects, y qué invariantes protegen.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rot="5400000">
            <a:off x="8919972" y="3547872"/>
            <a:ext cx="128016" cy="128016"/>
          </a:xfrm>
          <a:prstGeom prst="triangle">
            <a:avLst/>
          </a:prstGeom>
          <a:solidFill>
            <a:srgbClr val="FF6B4A"/>
          </a:solidFill>
          <a:ln/>
        </p:spPr>
      </p:sp>
      <p:sp>
        <p:nvSpPr>
          <p:cNvPr id="25" name="Shape 20"/>
          <p:cNvSpPr/>
          <p:nvPr/>
        </p:nvSpPr>
        <p:spPr>
          <a:xfrm>
            <a:off x="9052560" y="2103120"/>
            <a:ext cx="2697480" cy="329184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/>
        </p:spPr>
      </p:sp>
      <p:sp>
        <p:nvSpPr>
          <p:cNvPr id="26" name="Text 21"/>
          <p:cNvSpPr/>
          <p:nvPr/>
        </p:nvSpPr>
        <p:spPr>
          <a:xfrm>
            <a:off x="9217152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10090404" y="2606040"/>
            <a:ext cx="621792" cy="621792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8" name="Image 3" descr="/home/claude/deck/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801" y="2674437"/>
            <a:ext cx="484998" cy="48499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35440" y="3429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microservicios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253728" y="406908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bounded context se convierte en un microservicio independiente, con su propia base de datos.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microservicios, 4 bases de datos independientes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36692" y="1234440"/>
            <a:ext cx="493776" cy="493776"/>
          </a:xfrm>
          <a:prstGeom prst="ellipse">
            <a:avLst/>
          </a:prstGeom>
          <a:solidFill>
            <a:srgbClr val="5B6BB0"/>
          </a:solidFill>
          <a:ln/>
        </p:spPr>
      </p:sp>
      <p:pic>
        <p:nvPicPr>
          <p:cNvPr id="5" name="Image 0" descr="/home/claude/deck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007" y="1288755"/>
            <a:ext cx="385145" cy="3851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69180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(Postman)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 flipH="1">
            <a:off x="1737360" y="2148840"/>
            <a:ext cx="4046220" cy="3657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4343400" y="2148840"/>
            <a:ext cx="1440180" cy="3657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83580" y="2148840"/>
            <a:ext cx="1440180" cy="3657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83580" y="2148840"/>
            <a:ext cx="4046220" cy="3657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514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A356E"/>
          </a:solidFill>
          <a:ln w="12700">
            <a:solidFill>
              <a:srgbClr val="4C5A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" y="2688336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1" descr="/home/claude/deck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06" y="2750698"/>
            <a:ext cx="442204" cy="4422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624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737360" y="3429000"/>
            <a:ext cx="0" cy="8229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42519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miembros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154680" y="2514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A356E"/>
          </a:solidFill>
          <a:ln w="12700">
            <a:solidFill>
              <a:srgbClr val="4C5AA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00984" y="2688336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1" name="Image 2" descr="/home/claude/deck/icon_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46" y="2750698"/>
            <a:ext cx="442204" cy="4422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77640" y="2624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397764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8082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343400" y="3429000"/>
            <a:ext cx="0" cy="8229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154680" y="42519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26" name="Text 21"/>
          <p:cNvSpPr/>
          <p:nvPr/>
        </p:nvSpPr>
        <p:spPr>
          <a:xfrm>
            <a:off x="315468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clases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035040" y="2514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A356E"/>
          </a:solidFill>
          <a:ln w="12700">
            <a:solidFill>
              <a:srgbClr val="4C5AA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181344" y="2688336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9" name="Image 3" descr="/home/claude/deck/icon_usert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706" y="2750698"/>
            <a:ext cx="442204" cy="4422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58000" y="2624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Entrenadores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85800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8083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223760" y="3429000"/>
            <a:ext cx="0" cy="8229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035040" y="42519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4" name="Text 28"/>
          <p:cNvSpPr/>
          <p:nvPr/>
        </p:nvSpPr>
        <p:spPr>
          <a:xfrm>
            <a:off x="603504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entrenadores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641080" y="2514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A356E"/>
          </a:solidFill>
          <a:ln w="12700">
            <a:solidFill>
              <a:srgbClr val="4C5AA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787384" y="2688336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7" name="Image 4" descr="/home/claude/deck/icon_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746" y="2750698"/>
            <a:ext cx="442204" cy="44220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464040" y="2624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450" dirty="0"/>
          </a:p>
        </p:txBody>
      </p:sp>
      <p:sp>
        <p:nvSpPr>
          <p:cNvPr id="39" name="Text 32"/>
          <p:cNvSpPr/>
          <p:nvPr/>
        </p:nvSpPr>
        <p:spPr>
          <a:xfrm>
            <a:off x="946404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8084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9829800" y="3429000"/>
            <a:ext cx="0" cy="822960"/>
          </a:xfrm>
          <a:prstGeom prst="line">
            <a:avLst/>
          </a:prstGeom>
          <a:noFill/>
          <a:ln w="15875">
            <a:solidFill>
              <a:srgbClr val="5B6BB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641080" y="42519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42" name="Text 35"/>
          <p:cNvSpPr/>
          <p:nvPr/>
        </p:nvSpPr>
        <p:spPr>
          <a:xfrm>
            <a:off x="864108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equipos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5568696" y="2971800"/>
            <a:ext cx="429768" cy="0"/>
          </a:xfrm>
          <a:prstGeom prst="line">
            <a:avLst/>
          </a:prstGeom>
          <a:noFill/>
          <a:ln w="19050">
            <a:solidFill>
              <a:srgbClr val="FFB199"/>
            </a:solidFill>
            <a:prstDash val="dash"/>
          </a:ln>
        </p:spPr>
      </p:sp>
      <p:sp>
        <p:nvSpPr>
          <p:cNvPr id="44" name="Text 37"/>
          <p:cNvSpPr/>
          <p:nvPr/>
        </p:nvSpPr>
        <p:spPr>
          <a:xfrm>
            <a:off x="5394960" y="30815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corre en su propio puerto y persiste en su propia base H2 — sin bases compartidas entre contextos. La línea REST entre Clases y Entrenadores es opcional.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Miembros — el Aggregate Root más simple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deck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36" y="1960016"/>
            <a:ext cx="606247" cy="606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2395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nombre · email · fechaInscripcion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302666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8986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y el email son obligatorios.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346557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inscripción no puede ser futura.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90448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7764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miembro puede cambiar su email en cualquier momento.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0" y="182880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2084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2084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justifica como Value Object porque cumple los tres criterios de DDD: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3429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identidad propia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20840" y="36850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correos con el mismo texto son el mismo correo.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40507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0840" y="43068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email crea un Email nuevo, no lo modifica.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20840" y="4672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propia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20840" y="4928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su formato — esa lógica le pertenece a él, no al agregado.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Value Object del proyecto: los demás campos son datos simples sin reglas propias, y envolverlos sería ceremonia sin valor.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 2 Y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Entrenadores y Equipos — simples por 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" name="Image 0" descr="/home/claude/deck/icon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36646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50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Entrenador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nombre · especialidad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4572000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GET /api/entrenadores/{id}: es el único endpoint que otro servicio (Clases) necesita consultar.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228600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1" descr="/home/claude/deck/ic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987" y="236646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350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360920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nombre · descripcion · cantidad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46520" y="3383280"/>
            <a:ext cx="4572000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36118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relaciones con ningún otro contexto — el monolito tampoco las tenía, así que no se inventaron.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bounded context necesita reglas elaboradas — DDD modela lo que el dominio exige, no añade estructura porque sí.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— el agregado que protege las reglas del negocio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78" y="185851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1732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Root del contexto — controla sus propias inscripciones internamente.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2926080"/>
            <a:ext cx="118872" cy="11887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788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supera la capacidad máxima de inscritos.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3346704"/>
            <a:ext cx="118872" cy="11887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20954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miembro no puede inscribirse dos veces.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767328"/>
            <a:ext cx="118872" cy="11887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630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programan clases en el pasado.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" y="4187952"/>
            <a:ext cx="118872" cy="11887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0507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clase debe tener un entrenador asignado.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0" y="1783080"/>
            <a:ext cx="521208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DISEÑO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208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entrenadorId, no @ManyToOne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20840" y="28346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monolito, Clase tenía una relación JPA directa hacia Entrenador. En microservicios eso acoplaría dos bases de datos distintas.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20840" y="37033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ahora guarda solo el ID del entrenador (Long) — una referencia por identidad, no un objeto compartido entre bases de datos.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20840" y="457200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4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inscripciones viven dentro del agregado: es la única forma de garantizar la regla de capacidad sin condiciones de carrera.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ENTRE SERVICIOS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REST con degradación controlada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listar una clase, Clases-service consulta a Entrenadores-service por su nombre y especialidad — un enriquecimiento opcional, no una dependencia dura.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E9F7E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7" name="Image 0" descr="/home/claude/deck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280355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7614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Entrenadores-service disponible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46634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BEE3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61188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"Clases",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"entrenadorNombre": "Carlos Rodriguez",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"entrenadorEspecialidad": "Yoga"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212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/api/clases responde con los datos reales del entrenador.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4688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DECE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27432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1" descr="/home/claude/deck/icon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50" y="280355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7614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Entrenadores-service caído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3474720"/>
            <a:ext cx="46634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0" y="361188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2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2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"Clases",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2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"entrenadorNombre": "No disponible",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2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"entrenadorEspecialidad": "No disponible"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2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0" y="5212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Clases-service sigue respondiendo — no se cae en cascada.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aislamiento de fallos en la práctica: el límite de servicio actúa como compartimento estanco, igual que vimos en el Capítulo 1 de Newman.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94360" cy="5943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deck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214220"/>
            <a:ext cx="463601" cy="46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305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Levantar los 4 servicios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468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en su propio puerto, con su propia base H2 en memoria.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1" descr="/home/claude/deck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3174340"/>
            <a:ext cx="463601" cy="463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0906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Probar cada endpoint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429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 GET en Miembros, Clases, Entrenadores y Equipos desde Postman.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2" descr="/home/claude/deck/icon_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4134460"/>
            <a:ext cx="463601" cy="4636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0507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Crear una clase con entrenador real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43891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que Clases enriquece la respuesta consultando a Entrenadores por REST.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029200"/>
            <a:ext cx="594360" cy="5943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7" name="Image 3" descr="/home/claude/deck/icon_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5094580"/>
            <a:ext cx="463601" cy="4636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0109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Apagar Entrenadores-service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53492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mostrar que Clases-service sigue funcionando, degradado pero vivo.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DDD aportó a este rediseño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/home/claude/deck/icon_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1936882"/>
            <a:ext cx="442204" cy="442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2880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 como frontera de microservicio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80160" y="2441448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capacidad de negocio del monolito se convirtió en un servicio con límites explícitos y su propia base de datos.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8745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1" descr="/home/claude/deck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62" y="1936882"/>
            <a:ext cx="442204" cy="4422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82880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que protegen invariantes reales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903720" y="2441448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controla su propia capacidad y sus inscripciones — la regla de negocio vive donde debe vivir.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2" descr="/home/claude/deck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3811402"/>
            <a:ext cx="442204" cy="4422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0332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Objects solo donde aportan valor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80160" y="4315968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 justificó por sus tres criterios; ningún otro campo se envolvió sin necesidad.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72200" y="374904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7" name="Image 3" descr="/home/claude/deck/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562" y="3811402"/>
            <a:ext cx="442204" cy="4422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70332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por ID entre contextos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903720" y="4315968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entrenadorId y la comunicación REST resiliente evitan acoplar bases de datos distintas.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0" y="1371600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" name="Image 0" descr="/home/claude/deck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9766" y="1462126"/>
            <a:ext cx="641909" cy="641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514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sobre la arquitectura, las decisiones de DDD, o el código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Ruiz  •  Juan Andrés Cano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2026-08-31T23:22:13Z</dcterms:created>
  <dcterms:modified xsi:type="dcterms:W3CDTF">2026-08-31T23:22:13Z</dcterms:modified>
</cp:coreProperties>
</file>