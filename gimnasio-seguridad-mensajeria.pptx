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9" r:id="rId4"/>
    <p:sldId id="260" r:id="rId5"/>
    <p:sldId id="261" r:id="rId6"/>
    <p:sldId id="262" r:id="rId7"/>
    <p:sldId id="263" r:id="rId8"/>
    <p:sldId id="264"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25" d="100"/>
          <a:sy n="25" d="100"/>
        </p:scale>
        <p:origin x="2866" y="1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56259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Tiempos (30 min). 0:00 a 5:00 introducción y arquitectura (slides 1 a 3). 5:00 a 9:00 seguridad (4 y 5). 9:00 a 13:00 RabbitMQ (6 y 7). 13:00 a 17:00 Kafka (8 y 9). 17:00 a 27:00 demo en vivo de Cano (slide 10). 27:00 a 30:00 límites y preguntas (slide 11). Apertura: somos Juan Esteban Ruiz y Juan Andrés Cano. En el taller anterior partimos el monolito del gimnasio en 4 microservicios con DDD. En esta entrega les agregamos identidad con Keycloak, eventos de negocio con RabbitMQ y streaming con Kafka.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del taller anterior, 1 minuto. Cada contexto tiene un único Aggregate Root que protege sus invariantes: Clase no supera su capacidad, Equipo no queda en negativo, Miembro valida su email como Value Object. La decisión central es la línea punteada: en el monolito Clase tenía un @ManyToOne hacia Entrenador; en microservicios eso rompe la independencia de las bases, así que Clase guarda solo entrenadorId y pregunta al dueño del dato por REST. Si Entrenadores cae, responde No disponible, con timeouts de 2 y 3 segundos. Por qué cuatro servicios: el taller pedía máximo cuatro y coinciden con los cuatro contextos.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microservicio es un OAuth2 Resource Server. El cliente pide un token a Keycloak, que lo firma con su clave privada. El servicio solo necesita el issuer-uri para descargar la clave pública y verificar la firma; por eso no llama a Keycloak en cada petición. Los roles vienen en realm_access.roles y un JwtAuthenticationConverter los convierte en autoridades ROLE_*. Un realm, un cliente por servicio, tres roles y un usuario de prueba por rol. Para usuarios reales de una app se usaría Authorization Code con PKCE; aquí usamos el flujo con contraseña porque es práctico para probar. El detalle que casi se nos escapa: clases llama a entrenadores para traer el nombre, y al proteger entrenadores con JWT esa llamada se rompía porque el RestTemplate no tenía token; un interceptor reenvía el header Authorization de la petición entrante. Swagger: 18 operaciones con descripción, parámetros y respuestas; en la demo se abre la UI y se usa Authorize.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reglas salen de los SecurityConfig de cada servicio. Un trainer programa clases y reprograma horarios pero no inscribe; un member se inscribe y paga; solo el admin crea miembros, entrenadores y equipos y ajusta inventario. Las siete pruebas se corrieron contra los servicios en ejecución y todas dieron el resultado esperado. Autenticación contra autorización: el 401 es que no se pudo establecer quién eres (sin token, firma inválida, expirado); el 403 es que sí se estableció pero el rol no alcanza. El access token dura 300 segundos y Spring tolera 60 de desfase de reloj, por eso deja de servir a los seis minutos. En la demo: pedir un token al empezar y usarlo al final para mostrar la expiración; no pregenerar tokens antes de entrar al salón.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aquí toda la comunicación fue síncrona. RabbitMQ desacopla en el tiempo. Primer patrón: al inscribir a un miembro, clases-service publica una notificación en una cola y responde al cliente sin esperar; miembros-service la consume en paralelo. Segundo patrón, el publish/subscribe real: un exchange fanout con dos colas independientes, una de miembros y otra de entrenadores. Un solo PATCH de horario llega a los dos servicios con milisegundos de diferencia, y quien publica no sabe quiénes son. Por qué RabbitMQ y no Kafka aquí: RabbitMQ brilla en mensajería con enrutamiento flexible y garantías por mensaje (colas, fanout, DLQ), que es lo que necesita 'avisar a alguien' o 'no perder un pago'. Kafka brilla en streams de alto volumen que se pueden releer, que es lo que usamos para ocupación y entrenamiento.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el requisito de Dead Letter Queue. pagos-queue es durable y tiene x-dead-letter-exchange vacío y x-dead-letter-routing-key igual a pagos-dlq. El consumidor procesa el pago; si el monto no es positivo lanza AmqpRejectAndDontRequeueException, y RabbitMQ reenvía el mensaje a pagos-dlq en vez de perderlo o reintentarlo infinitamente. Un segundo listener en la DLQ lo deja registrado para atención manual: nada se pierde en silencio. Los logs son los reales de la prueba. Ojo: el POST responde en_proceso incluso para el pago inválido, porque el endpoint solo encola; el resultado se ve en el log y en la DLQ, y en producción haría falta un endpoint de estado. En la consola de RabbitMQ la DLQ aparece con 0 mensajes porque el listener los consume al instante; la evidencia ahí es la gráfica de message rates. Reintentos: el pago se reintenta 3 veces antes de ir a la DLQ (cubre 'después de un número específico de reintentos').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 usos de Kafka. Primero, ocupación: cada inscripción o cancelación en clases-service publica al topic ocupacion-clases con la clase como clave, y un consumidor del grupo monitoreo-grupo simula la actualización de un dashboard en tiempo real. Segundo, análisis: cada sesión de entrenamiento se publica en datos-entrenamiento con el miembro como clave y un stream processor la agrega en ventanas de 7 días hacia resumen-entrenamiento. Particiones: cada topic tiene 3, y la clave asegura que todos los eventos de una misma clase caen en la misma partición, por lo que conservan su orden. El resultado de abajo es lo que salió realmente del topic tras registrar dos sesiones: no se consume evento por evento, un stream processor agrupa por miembro y agrega en la ventana. En la demo el resumen puede tardar hasta unos 30 segundos por el caché interno de Streams.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Requisito de recuperación ante fallos usando los logs de Kafka. Tres piezas. Retención configurada: el log dura 7 días en ocupacion-clases y 14 en datos-entrenamiento, así el consumidor puede volver a leer. Checkpoint: en cada mensaje el consumidor guarda topic, partición y último offset en base de datos y solo después confirma el ack a Kafka. Recuperación: el consumidor implementa ConsumerSeekAware; cuando se le asigna una partición tras un arranque o un rebalanceo, hace seek al offset del checkpoint más uno. Honestidad: con H2 en memoria el checkpoint se perdería al reiniciar; por eso la base de clases quedó en archivo. Y si el checkpoint faltara, el offset confirmado en Kafka funciona de respaldo. No lo mostramos en vivo porque tras un kill Kafka tarda 20 a 40 segundos en detectar la caída (session.timeout.ms).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(Juan Andrés Cano, unos 10 minutos). Antes de empezar: Keycloak, RabbitMQ, Kafka y los 4 servicios arriba; pedir los tokens justo antes de cada bloque, vencen a los 5 minutos. Al empezar, guardar un token de admin para mostrarlo expirado al final.
1) SEGURIDAD (3 min). GET http://localhost:8081/api/miembros sin token: 401. Con token de member: 200. POST /api/miembros con token de member: 403. Con token de admin: 201. Token adulterado o basura: 401. Swagger UI en http://localhost:8081/swagger-ui/index.html, botón Authorize. Al final, el token guardado al empezar: 401 por expirado.
2) RABBITMQ (3 min). POST http://localhost:8082/api/clases/1/inscripciones con {"miembroId":1} y token de admin o member (trainer da 403): mirar el log de miembros-service. PATCH http://localhost:8082/api/clases/1/horario con {"nuevoHorario":"2026-12-01T09:00:00"} y token de trainer o admin: mirar los logs de miembros y entrenadores. POST http://localhost:8081/api/pagos con monto 50000: procesado. Con monto -100: Se envía a la DLQ y luego requiere atención manual. Consola de RabbitMQ en http://localhost:15672 (gimnasio / gimnasio123).
3) KAFKA (3 min). La inscripción del paso 2 ya dejó una línea [Dashboard] en el log de clases-service. POST http://localhost:8081/api/miembros/1/entrenamientos dos veces, {"tipoActividad":"Cardio","duracionMinutos":30,"calorias":250} y {"tipoActividad":"Pesas","duracionMinutos":45,"calorias":300}; luego docker exec gym-suite-kafka-1 kafka-console-consumer --bootstrap-server localhost:9092 --topic resumen-entrenamiento --from-beginning --timeout-ms 45000. Esperar el JSON con totalSesiones 2, totalMinutos 75 y totalCalorias 550 (puede tardar unos 30 segundos).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141B49"/>
          </a:solidFill>
          <a:ln/>
        </p:spPr>
        <p:txBody>
          <a:bodyPr/>
          <a:lstStyle/>
          <a:p>
            <a:endParaRPr lang="es-CO"/>
          </a:p>
        </p:txBody>
      </p:sp>
      <p:sp>
        <p:nvSpPr>
          <p:cNvPr id="3" name="Shape 1"/>
          <p:cNvSpPr/>
          <p:nvPr/>
        </p:nvSpPr>
        <p:spPr>
          <a:xfrm>
            <a:off x="10424160" y="3840480"/>
            <a:ext cx="4114800" cy="4114800"/>
          </a:xfrm>
          <a:prstGeom prst="ellipse">
            <a:avLst/>
          </a:prstGeom>
          <a:solidFill>
            <a:srgbClr val="141B49"/>
          </a:solidFill>
          <a:ln/>
        </p:spPr>
        <p:txBody>
          <a:bodyPr/>
          <a:lstStyle/>
          <a:p>
            <a:endParaRPr lang="es-CO"/>
          </a:p>
        </p:txBody>
      </p:sp>
      <p:sp>
        <p:nvSpPr>
          <p:cNvPr id="4" name="Shape 2"/>
          <p:cNvSpPr/>
          <p:nvPr/>
        </p:nvSpPr>
        <p:spPr>
          <a:xfrm>
            <a:off x="640080" y="685800"/>
            <a:ext cx="777240" cy="777240"/>
          </a:xfrm>
          <a:prstGeom prst="ellipse">
            <a:avLst/>
          </a:prstGeom>
          <a:solidFill>
            <a:srgbClr val="FF6B4A"/>
          </a:solidFill>
          <a:ln/>
        </p:spPr>
        <p:txBody>
          <a:bodyPr/>
          <a:lstStyle/>
          <a:p>
            <a:endParaRPr lang="es-CO"/>
          </a:p>
        </p:txBody>
      </p:sp>
      <p:pic>
        <p:nvPicPr>
          <p:cNvPr id="5" name="Image 0" descr="/home/claude/deck2/icon_dumbbell.png"/>
          <p:cNvPicPr>
            <a:picLocks noChangeAspect="1"/>
          </p:cNvPicPr>
          <p:nvPr/>
        </p:nvPicPr>
        <p:blipFill>
          <a:blip r:embed="rId3"/>
          <a:stretch>
            <a:fillRect/>
          </a:stretch>
        </p:blipFill>
        <p:spPr>
          <a:xfrm>
            <a:off x="842162" y="887882"/>
            <a:ext cx="373075" cy="373075"/>
          </a:xfrm>
          <a:prstGeom prst="rect">
            <a:avLst/>
          </a:prstGeom>
        </p:spPr>
      </p:pic>
      <p:sp>
        <p:nvSpPr>
          <p:cNvPr id="6" name="Text 3"/>
          <p:cNvSpPr txBox="1"/>
          <p:nvPr/>
        </p:nvSpPr>
        <p:spPr>
          <a:xfrm>
            <a:off x="1600200" y="841248"/>
            <a:ext cx="7315200" cy="365760"/>
          </a:xfrm>
          <a:prstGeom prst="rect">
            <a:avLst/>
          </a:prstGeom>
          <a:noFill/>
          <a:ln/>
        </p:spPr>
        <p:txBody>
          <a:bodyPr wrap="square" lIns="0" tIns="0" rIns="0" bIns="0" rtlCol="0" anchor="ctr"/>
          <a:lstStyle/>
          <a:p>
            <a:pPr marL="0" indent="0">
              <a:buNone/>
            </a:pPr>
            <a:r>
              <a:rPr lang="en-US" sz="1400" b="1" kern="0" spc="200" dirty="0">
                <a:solidFill>
                  <a:srgbClr val="CADCFC"/>
                </a:solidFill>
                <a:latin typeface="Calibri" pitchFamily="34" charset="0"/>
                <a:ea typeface="Calibri" pitchFamily="34" charset="-122"/>
                <a:cs typeface="Calibri" pitchFamily="34" charset="-120"/>
              </a:rPr>
              <a:t>SISTEMA DE GESTIÓN DE GIMNASIO</a:t>
            </a:r>
            <a:endParaRPr lang="en-US" sz="1400" dirty="0"/>
          </a:p>
        </p:txBody>
      </p:sp>
      <p:sp>
        <p:nvSpPr>
          <p:cNvPr id="7" name="Text 4"/>
          <p:cNvSpPr txBox="1"/>
          <p:nvPr/>
        </p:nvSpPr>
        <p:spPr>
          <a:xfrm>
            <a:off x="640080" y="2377440"/>
            <a:ext cx="10058400" cy="1828800"/>
          </a:xfrm>
          <a:prstGeom prst="rect">
            <a:avLst/>
          </a:prstGeom>
          <a:noFill/>
          <a:ln/>
        </p:spPr>
        <p:txBody>
          <a:bodyPr wrap="square" lIns="0" tIns="0" rIns="0" bIns="0" rtlCol="0" anchor="t"/>
          <a:lstStyle/>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Seguridad y mensajería asincrónica</a:t>
            </a:r>
            <a:endParaRPr lang="en-US" sz="3800" dirty="0"/>
          </a:p>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para los microservicios del gimnasio</a:t>
            </a:r>
            <a:endParaRPr lang="en-US" sz="3800" dirty="0"/>
          </a:p>
        </p:txBody>
      </p:sp>
      <p:sp>
        <p:nvSpPr>
          <p:cNvPr id="8" name="Text 5"/>
          <p:cNvSpPr txBox="1"/>
          <p:nvPr/>
        </p:nvSpPr>
        <p:spPr>
          <a:xfrm>
            <a:off x="640080" y="4206240"/>
            <a:ext cx="8778240" cy="731520"/>
          </a:xfrm>
          <a:prstGeom prst="rect">
            <a:avLst/>
          </a:prstGeom>
          <a:noFill/>
          <a:ln/>
        </p:spPr>
        <p:txBody>
          <a:bodyPr wrap="square" lIns="0" tIns="0" rIns="0" bIns="0" rtlCol="0" anchor="t"/>
          <a:lstStyle/>
          <a:p>
            <a:pPr marL="0" indent="0">
              <a:buNone/>
            </a:pPr>
            <a:r>
              <a:rPr lang="en-US" sz="1500" i="1" dirty="0">
                <a:solidFill>
                  <a:srgbClr val="CADCFC"/>
                </a:solidFill>
                <a:latin typeface="Calibri" pitchFamily="34" charset="0"/>
                <a:ea typeface="Calibri" pitchFamily="34" charset="-122"/>
                <a:cs typeface="Calibri" pitchFamily="34" charset="-120"/>
              </a:rPr>
              <a:t>Keycloak para la identidad, RabbitMQ para los eventos de negocio y Kafka para el streaming, sobre la arquitectura DDD del taller anterior.</a:t>
            </a:r>
            <a:endParaRPr lang="en-US" sz="1500" dirty="0"/>
          </a:p>
        </p:txBody>
      </p:sp>
      <p:sp>
        <p:nvSpPr>
          <p:cNvPr id="9" name="Text 6"/>
          <p:cNvSpPr txBox="1"/>
          <p:nvPr/>
        </p:nvSpPr>
        <p:spPr>
          <a:xfrm>
            <a:off x="640080" y="5257800"/>
            <a:ext cx="73152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Juan Esteban Ruiz  •  Juan Andrés Cano</a:t>
            </a:r>
            <a:endParaRPr lang="en-US" sz="1500" dirty="0"/>
          </a:p>
        </p:txBody>
      </p:sp>
      <p:sp>
        <p:nvSpPr>
          <p:cNvPr id="10" name="Text 7"/>
          <p:cNvSpPr txBox="1"/>
          <p:nvPr/>
        </p:nvSpPr>
        <p:spPr>
          <a:xfrm>
            <a:off x="640080" y="5623560"/>
            <a:ext cx="7315200" cy="320040"/>
          </a:xfrm>
          <a:prstGeom prst="rect">
            <a:avLst/>
          </a:prstGeom>
          <a:noFill/>
          <a:ln/>
        </p:spPr>
        <p:txBody>
          <a:bodyPr wrap="square" lIns="0" tIns="0" rIns="0" bIns="0" rtlCol="0" anchor="ctr"/>
          <a:lstStyle/>
          <a:p>
            <a:pPr marL="0" indent="0">
              <a:buNone/>
            </a:pPr>
            <a:r>
              <a:rPr lang="en-US" sz="1200" dirty="0">
                <a:solidFill>
                  <a:srgbClr val="8A93C7"/>
                </a:solidFill>
                <a:latin typeface="Calibri" pitchFamily="34" charset="0"/>
                <a:ea typeface="Calibri" pitchFamily="34" charset="-122"/>
                <a:cs typeface="Calibri" pitchFamily="34" charset="-120"/>
              </a:rPr>
              <a:t>Microservicios — Universidad Icesi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251460" y="0"/>
            <a:ext cx="8229600" cy="274320"/>
          </a:xfrm>
          <a:prstGeom prst="rect">
            <a:avLst/>
          </a:prstGeom>
          <a:noFill/>
          <a:ln/>
        </p:spPr>
        <p:txBody>
          <a:bodyPr wrap="square" lIns="0" tIns="0" rIns="0" bIns="0"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ARQUITECTURA  </a:t>
            </a:r>
            <a:endParaRPr lang="en-US" sz="1200" dirty="0"/>
          </a:p>
        </p:txBody>
      </p:sp>
      <p:sp>
        <p:nvSpPr>
          <p:cNvPr id="3" name="Text 1"/>
          <p:cNvSpPr txBox="1"/>
          <p:nvPr/>
        </p:nvSpPr>
        <p:spPr>
          <a:xfrm>
            <a:off x="251460" y="168977"/>
            <a:ext cx="11064240" cy="822960"/>
          </a:xfrm>
          <a:prstGeom prst="rect">
            <a:avLst/>
          </a:prstGeom>
          <a:noFill/>
          <a:ln/>
        </p:spPr>
        <p:txBody>
          <a:bodyPr wrap="square" lIns="0" tIns="0" rIns="0" bIns="0" rtlCol="0" anchor="t"/>
          <a:lstStyle/>
          <a:p>
            <a:pPr marL="0" indent="0">
              <a:buNone/>
            </a:pPr>
            <a:r>
              <a:rPr lang="en-US" sz="3200" b="1" dirty="0" err="1">
                <a:solidFill>
                  <a:srgbClr val="1E2761"/>
                </a:solidFill>
                <a:latin typeface="Cambria" pitchFamily="34" charset="0"/>
                <a:ea typeface="Cambria" pitchFamily="34" charset="-122"/>
                <a:cs typeface="Cambria" pitchFamily="34" charset="-120"/>
              </a:rPr>
              <a:t>Diagrama</a:t>
            </a:r>
            <a:r>
              <a:rPr lang="en-US" sz="3200" b="1" dirty="0">
                <a:solidFill>
                  <a:srgbClr val="1E2761"/>
                </a:solidFill>
                <a:latin typeface="Cambria" pitchFamily="34" charset="0"/>
                <a:ea typeface="Cambria" pitchFamily="34" charset="-122"/>
                <a:cs typeface="Cambria" pitchFamily="34" charset="-120"/>
              </a:rPr>
              <a:t> de </a:t>
            </a:r>
            <a:r>
              <a:rPr lang="en-US" sz="3200" b="1" dirty="0" err="1">
                <a:solidFill>
                  <a:srgbClr val="1E2761"/>
                </a:solidFill>
                <a:latin typeface="Cambria" pitchFamily="34" charset="0"/>
                <a:ea typeface="Cambria" pitchFamily="34" charset="-122"/>
                <a:cs typeface="Cambria" pitchFamily="34" charset="-120"/>
              </a:rPr>
              <a:t>arquitectura</a:t>
            </a:r>
            <a:endParaRPr lang="en-US" sz="3200" dirty="0"/>
          </a:p>
        </p:txBody>
      </p:sp>
      <p:sp>
        <p:nvSpPr>
          <p:cNvPr id="18" name="Text 12"/>
          <p:cNvSpPr txBox="1"/>
          <p:nvPr/>
        </p:nvSpPr>
        <p:spPr>
          <a:xfrm>
            <a:off x="10972800" y="6492240"/>
            <a:ext cx="685800" cy="22860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2 / 11</a:t>
            </a:r>
            <a:endParaRPr lang="en-US" sz="1000" dirty="0"/>
          </a:p>
        </p:txBody>
      </p:sp>
      <p:pic>
        <p:nvPicPr>
          <p:cNvPr id="20" name="Imagen 19">
            <a:extLst>
              <a:ext uri="{FF2B5EF4-FFF2-40B4-BE49-F238E27FC236}">
                <a16:creationId xmlns:a16="http://schemas.microsoft.com/office/drawing/2014/main" id="{26E2DA8F-0D14-446A-DB2B-C20DB3151064}"/>
              </a:ext>
            </a:extLst>
          </p:cNvPr>
          <p:cNvPicPr>
            <a:picLocks noChangeAspect="1"/>
          </p:cNvPicPr>
          <p:nvPr/>
        </p:nvPicPr>
        <p:blipFill>
          <a:blip r:embed="rId3"/>
          <a:stretch>
            <a:fillRect/>
          </a:stretch>
        </p:blipFill>
        <p:spPr>
          <a:xfrm>
            <a:off x="251460" y="762001"/>
            <a:ext cx="11689080" cy="595883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SEGURIDAD  •  1 DE 2</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marL="0" indent="0">
              <a:buNone/>
            </a:pPr>
            <a:r>
              <a:rPr lang="en-US" sz="3200" b="1" dirty="0">
                <a:solidFill>
                  <a:srgbClr val="1E2761"/>
                </a:solidFill>
                <a:latin typeface="Cambria" pitchFamily="34" charset="0"/>
                <a:ea typeface="Cambria" pitchFamily="34" charset="-122"/>
                <a:cs typeface="Cambria" pitchFamily="34" charset="-120"/>
              </a:rPr>
              <a:t>Keycloak: identidad centralizada con JWT</a:t>
            </a:r>
            <a:endParaRPr lang="en-US" sz="3200" dirty="0"/>
          </a:p>
        </p:txBody>
      </p:sp>
      <p:sp>
        <p:nvSpPr>
          <p:cNvPr id="4" name="Shape 2"/>
          <p:cNvSpPr/>
          <p:nvPr/>
        </p:nvSpPr>
        <p:spPr>
          <a:xfrm>
            <a:off x="548640" y="1737360"/>
            <a:ext cx="2606040" cy="2468880"/>
          </a:xfrm>
          <a:prstGeom prst="roundRect">
            <a:avLst>
              <a:gd name="adj" fmla="val 3333"/>
            </a:avLst>
          </a:prstGeom>
          <a:solidFill>
            <a:srgbClr val="F4F6FB"/>
          </a:solidFill>
          <a:ln/>
        </p:spPr>
        <p:txBody>
          <a:bodyPr/>
          <a:lstStyle/>
          <a:p>
            <a:endParaRPr lang="es-CO"/>
          </a:p>
        </p:txBody>
      </p:sp>
      <p:sp>
        <p:nvSpPr>
          <p:cNvPr id="5" name="Text 3"/>
          <p:cNvSpPr txBox="1"/>
          <p:nvPr/>
        </p:nvSpPr>
        <p:spPr>
          <a:xfrm>
            <a:off x="749808" y="1847088"/>
            <a:ext cx="457200" cy="411480"/>
          </a:xfrm>
          <a:prstGeom prst="rect">
            <a:avLst/>
          </a:prstGeom>
          <a:noFill/>
          <a:ln/>
        </p:spPr>
        <p:txBody>
          <a:bodyPr wrap="square" lIns="0" tIns="0" rIns="0" bIns="0" rtlCol="0" anchor="ctr"/>
          <a:lstStyle/>
          <a:p>
            <a:pPr marL="0" indent="0">
              <a:buNone/>
            </a:pPr>
            <a:r>
              <a:rPr lang="en-US" sz="2200" b="1" dirty="0">
                <a:solidFill>
                  <a:srgbClr val="C4CBE6"/>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1559052" y="2103120"/>
            <a:ext cx="585216" cy="585216"/>
          </a:xfrm>
          <a:prstGeom prst="ellipse">
            <a:avLst/>
          </a:prstGeom>
          <a:solidFill>
            <a:srgbClr val="1F8A7D"/>
          </a:solidFill>
          <a:ln/>
        </p:spPr>
        <p:txBody>
          <a:bodyPr/>
          <a:lstStyle/>
          <a:p>
            <a:endParaRPr lang="es-CO"/>
          </a:p>
        </p:txBody>
      </p:sp>
      <p:pic>
        <p:nvPicPr>
          <p:cNvPr id="7" name="Image 0" descr="/home/claude/deck2/icon_users.png"/>
          <p:cNvPicPr>
            <a:picLocks noChangeAspect="1"/>
          </p:cNvPicPr>
          <p:nvPr/>
        </p:nvPicPr>
        <p:blipFill>
          <a:blip r:embed="rId3"/>
          <a:stretch>
            <a:fillRect/>
          </a:stretch>
        </p:blipFill>
        <p:spPr>
          <a:xfrm>
            <a:off x="1711208" y="2255276"/>
            <a:ext cx="280904" cy="280904"/>
          </a:xfrm>
          <a:prstGeom prst="rect">
            <a:avLst/>
          </a:prstGeom>
        </p:spPr>
      </p:pic>
      <p:sp>
        <p:nvSpPr>
          <p:cNvPr id="8" name="Text 5"/>
          <p:cNvSpPr txBox="1"/>
          <p:nvPr/>
        </p:nvSpPr>
        <p:spPr>
          <a:xfrm>
            <a:off x="731520" y="2788920"/>
            <a:ext cx="2240280" cy="50292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El cliente pide un token</a:t>
            </a:r>
            <a:endParaRPr lang="en-US" sz="1400" dirty="0"/>
          </a:p>
        </p:txBody>
      </p:sp>
      <p:sp>
        <p:nvSpPr>
          <p:cNvPr id="9" name="Text 6"/>
          <p:cNvSpPr txBox="1"/>
          <p:nvPr/>
        </p:nvSpPr>
        <p:spPr>
          <a:xfrm>
            <a:off x="749808" y="3337560"/>
            <a:ext cx="2203704" cy="822960"/>
          </a:xfrm>
          <a:prstGeom prst="rect">
            <a:avLst/>
          </a:prstGeom>
          <a:noFill/>
          <a:ln/>
        </p:spPr>
        <p:txBody>
          <a:bodyPr wrap="square" lIns="0" tIns="0" rIns="0" bIns="0"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Envía usuario, contraseña y el secreto de su cliente al endpoint de token del realm gimnasio.</a:t>
            </a:r>
            <a:endParaRPr lang="en-US" sz="1100" dirty="0"/>
          </a:p>
        </p:txBody>
      </p:sp>
      <p:sp>
        <p:nvSpPr>
          <p:cNvPr id="10" name="Shape 7"/>
          <p:cNvSpPr/>
          <p:nvPr/>
        </p:nvSpPr>
        <p:spPr>
          <a:xfrm rot="5400000">
            <a:off x="3195828" y="2907792"/>
            <a:ext cx="128016" cy="128016"/>
          </a:xfrm>
          <a:prstGeom prst="triangle">
            <a:avLst/>
          </a:prstGeom>
          <a:solidFill>
            <a:srgbClr val="FF6B4A"/>
          </a:solidFill>
          <a:ln/>
        </p:spPr>
        <p:txBody>
          <a:bodyPr/>
          <a:lstStyle/>
          <a:p>
            <a:endParaRPr lang="es-CO"/>
          </a:p>
        </p:txBody>
      </p:sp>
      <p:sp>
        <p:nvSpPr>
          <p:cNvPr id="11" name="Shape 8"/>
          <p:cNvSpPr/>
          <p:nvPr/>
        </p:nvSpPr>
        <p:spPr>
          <a:xfrm>
            <a:off x="3364992" y="1737360"/>
            <a:ext cx="2606040" cy="2468880"/>
          </a:xfrm>
          <a:prstGeom prst="roundRect">
            <a:avLst>
              <a:gd name="adj" fmla="val 3333"/>
            </a:avLst>
          </a:prstGeom>
          <a:solidFill>
            <a:srgbClr val="F4F6FB"/>
          </a:solidFill>
          <a:ln/>
        </p:spPr>
        <p:txBody>
          <a:bodyPr/>
          <a:lstStyle/>
          <a:p>
            <a:endParaRPr lang="es-CO"/>
          </a:p>
        </p:txBody>
      </p:sp>
      <p:sp>
        <p:nvSpPr>
          <p:cNvPr id="12" name="Text 9"/>
          <p:cNvSpPr txBox="1"/>
          <p:nvPr/>
        </p:nvSpPr>
        <p:spPr>
          <a:xfrm>
            <a:off x="3566160" y="1847088"/>
            <a:ext cx="457200" cy="411480"/>
          </a:xfrm>
          <a:prstGeom prst="rect">
            <a:avLst/>
          </a:prstGeom>
          <a:noFill/>
          <a:ln/>
        </p:spPr>
        <p:txBody>
          <a:bodyPr wrap="square" lIns="0" tIns="0" rIns="0" bIns="0" rtlCol="0" anchor="ctr"/>
          <a:lstStyle/>
          <a:p>
            <a:pPr marL="0" indent="0">
              <a:buNone/>
            </a:pPr>
            <a:r>
              <a:rPr lang="en-US" sz="2200" b="1" dirty="0">
                <a:solidFill>
                  <a:srgbClr val="C4CBE6"/>
                </a:solidFill>
                <a:latin typeface="Cambria" pitchFamily="34" charset="0"/>
                <a:ea typeface="Cambria" pitchFamily="34" charset="-122"/>
                <a:cs typeface="Cambria" pitchFamily="34" charset="-120"/>
              </a:rPr>
              <a:t>2</a:t>
            </a:r>
            <a:endParaRPr lang="en-US" sz="2200" dirty="0"/>
          </a:p>
        </p:txBody>
      </p:sp>
      <p:sp>
        <p:nvSpPr>
          <p:cNvPr id="13" name="Shape 10"/>
          <p:cNvSpPr/>
          <p:nvPr/>
        </p:nvSpPr>
        <p:spPr>
          <a:xfrm>
            <a:off x="4375404" y="2103120"/>
            <a:ext cx="585216" cy="585216"/>
          </a:xfrm>
          <a:prstGeom prst="ellipse">
            <a:avLst/>
          </a:prstGeom>
          <a:solidFill>
            <a:srgbClr val="1F8A7D"/>
          </a:solidFill>
          <a:ln/>
        </p:spPr>
        <p:txBody>
          <a:bodyPr/>
          <a:lstStyle/>
          <a:p>
            <a:endParaRPr lang="es-CO"/>
          </a:p>
        </p:txBody>
      </p:sp>
      <p:pic>
        <p:nvPicPr>
          <p:cNvPr id="14" name="Image 1" descr="/home/claude/deck2/icon_key.png"/>
          <p:cNvPicPr>
            <a:picLocks noChangeAspect="1"/>
          </p:cNvPicPr>
          <p:nvPr/>
        </p:nvPicPr>
        <p:blipFill>
          <a:blip r:embed="rId4"/>
          <a:stretch>
            <a:fillRect/>
          </a:stretch>
        </p:blipFill>
        <p:spPr>
          <a:xfrm>
            <a:off x="4527560" y="2255276"/>
            <a:ext cx="280904" cy="280904"/>
          </a:xfrm>
          <a:prstGeom prst="rect">
            <a:avLst/>
          </a:prstGeom>
        </p:spPr>
      </p:pic>
      <p:sp>
        <p:nvSpPr>
          <p:cNvPr id="15" name="Text 11"/>
          <p:cNvSpPr txBox="1"/>
          <p:nvPr/>
        </p:nvSpPr>
        <p:spPr>
          <a:xfrm>
            <a:off x="3547872" y="2788920"/>
            <a:ext cx="2240280" cy="50292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Keycloak emite el JWT</a:t>
            </a:r>
            <a:endParaRPr lang="en-US" sz="1400" dirty="0"/>
          </a:p>
        </p:txBody>
      </p:sp>
      <p:sp>
        <p:nvSpPr>
          <p:cNvPr id="16" name="Text 12"/>
          <p:cNvSpPr txBox="1"/>
          <p:nvPr/>
        </p:nvSpPr>
        <p:spPr>
          <a:xfrm>
            <a:off x="3566160" y="3337560"/>
            <a:ext cx="2203704" cy="822960"/>
          </a:xfrm>
          <a:prstGeom prst="rect">
            <a:avLst/>
          </a:prstGeom>
          <a:noFill/>
          <a:ln/>
        </p:spPr>
        <p:txBody>
          <a:bodyPr wrap="square" lIns="0" tIns="0" rIns="0" bIns="0"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Lo firma con RS256, vence a los 300 s y trae los roles en realm_access.roles.</a:t>
            </a:r>
            <a:endParaRPr lang="en-US" sz="1100" dirty="0"/>
          </a:p>
        </p:txBody>
      </p:sp>
      <p:sp>
        <p:nvSpPr>
          <p:cNvPr id="17" name="Shape 13"/>
          <p:cNvSpPr/>
          <p:nvPr/>
        </p:nvSpPr>
        <p:spPr>
          <a:xfrm rot="5400000">
            <a:off x="6012180" y="2907792"/>
            <a:ext cx="128016" cy="128016"/>
          </a:xfrm>
          <a:prstGeom prst="triangle">
            <a:avLst/>
          </a:prstGeom>
          <a:solidFill>
            <a:srgbClr val="FF6B4A"/>
          </a:solidFill>
          <a:ln/>
        </p:spPr>
        <p:txBody>
          <a:bodyPr/>
          <a:lstStyle/>
          <a:p>
            <a:endParaRPr lang="es-CO"/>
          </a:p>
        </p:txBody>
      </p:sp>
      <p:sp>
        <p:nvSpPr>
          <p:cNvPr id="18" name="Shape 14"/>
          <p:cNvSpPr/>
          <p:nvPr/>
        </p:nvSpPr>
        <p:spPr>
          <a:xfrm>
            <a:off x="6181344" y="1737360"/>
            <a:ext cx="2606040" cy="2468880"/>
          </a:xfrm>
          <a:prstGeom prst="roundRect">
            <a:avLst>
              <a:gd name="adj" fmla="val 3333"/>
            </a:avLst>
          </a:prstGeom>
          <a:solidFill>
            <a:srgbClr val="F4F6FB"/>
          </a:solidFill>
          <a:ln/>
        </p:spPr>
        <p:txBody>
          <a:bodyPr/>
          <a:lstStyle/>
          <a:p>
            <a:endParaRPr lang="es-CO"/>
          </a:p>
        </p:txBody>
      </p:sp>
      <p:sp>
        <p:nvSpPr>
          <p:cNvPr id="19" name="Text 15"/>
          <p:cNvSpPr txBox="1"/>
          <p:nvPr/>
        </p:nvSpPr>
        <p:spPr>
          <a:xfrm>
            <a:off x="6382512" y="1847088"/>
            <a:ext cx="457200" cy="411480"/>
          </a:xfrm>
          <a:prstGeom prst="rect">
            <a:avLst/>
          </a:prstGeom>
          <a:noFill/>
          <a:ln/>
        </p:spPr>
        <p:txBody>
          <a:bodyPr wrap="square" lIns="0" tIns="0" rIns="0" bIns="0" rtlCol="0" anchor="ctr"/>
          <a:lstStyle/>
          <a:p>
            <a:pPr marL="0" indent="0">
              <a:buNone/>
            </a:pPr>
            <a:r>
              <a:rPr lang="en-US" sz="2200" b="1" dirty="0">
                <a:solidFill>
                  <a:srgbClr val="C4CBE6"/>
                </a:solidFill>
                <a:latin typeface="Cambria" pitchFamily="34" charset="0"/>
                <a:ea typeface="Cambria" pitchFamily="34" charset="-122"/>
                <a:cs typeface="Cambria" pitchFamily="34" charset="-120"/>
              </a:rPr>
              <a:t>3</a:t>
            </a:r>
            <a:endParaRPr lang="en-US" sz="2200" dirty="0"/>
          </a:p>
        </p:txBody>
      </p:sp>
      <p:sp>
        <p:nvSpPr>
          <p:cNvPr id="20" name="Shape 16"/>
          <p:cNvSpPr/>
          <p:nvPr/>
        </p:nvSpPr>
        <p:spPr>
          <a:xfrm>
            <a:off x="7191756" y="2103120"/>
            <a:ext cx="585216" cy="585216"/>
          </a:xfrm>
          <a:prstGeom prst="ellipse">
            <a:avLst/>
          </a:prstGeom>
          <a:solidFill>
            <a:srgbClr val="1F8A7D"/>
          </a:solidFill>
          <a:ln/>
        </p:spPr>
        <p:txBody>
          <a:bodyPr/>
          <a:lstStyle/>
          <a:p>
            <a:endParaRPr lang="es-CO"/>
          </a:p>
        </p:txBody>
      </p:sp>
      <p:pic>
        <p:nvPicPr>
          <p:cNvPr id="21" name="Image 2" descr="/home/claude/deck2/icon_exchange.png"/>
          <p:cNvPicPr>
            <a:picLocks noChangeAspect="1"/>
          </p:cNvPicPr>
          <p:nvPr/>
        </p:nvPicPr>
        <p:blipFill>
          <a:blip r:embed="rId5"/>
          <a:stretch>
            <a:fillRect/>
          </a:stretch>
        </p:blipFill>
        <p:spPr>
          <a:xfrm>
            <a:off x="7343912" y="2255276"/>
            <a:ext cx="280904" cy="280904"/>
          </a:xfrm>
          <a:prstGeom prst="rect">
            <a:avLst/>
          </a:prstGeom>
        </p:spPr>
      </p:pic>
      <p:sp>
        <p:nvSpPr>
          <p:cNvPr id="22" name="Text 17"/>
          <p:cNvSpPr txBox="1"/>
          <p:nvPr/>
        </p:nvSpPr>
        <p:spPr>
          <a:xfrm>
            <a:off x="6364224" y="2788920"/>
            <a:ext cx="2240280" cy="50292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La petición lleva el token</a:t>
            </a:r>
            <a:endParaRPr lang="en-US" sz="1400" dirty="0"/>
          </a:p>
        </p:txBody>
      </p:sp>
      <p:sp>
        <p:nvSpPr>
          <p:cNvPr id="23" name="Text 18"/>
          <p:cNvSpPr txBox="1"/>
          <p:nvPr/>
        </p:nvSpPr>
        <p:spPr>
          <a:xfrm>
            <a:off x="6382512" y="3337560"/>
            <a:ext cx="2203704" cy="822960"/>
          </a:xfrm>
          <a:prstGeom prst="rect">
            <a:avLst/>
          </a:prstGeom>
          <a:noFill/>
          <a:ln/>
        </p:spPr>
        <p:txBody>
          <a:bodyPr wrap="square" lIns="0" tIns="0" rIns="0" bIns="0"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Header Authorization: Bearer hacia cualquiera de los 4 microservicios.</a:t>
            </a:r>
            <a:endParaRPr lang="en-US" sz="1100" dirty="0"/>
          </a:p>
        </p:txBody>
      </p:sp>
      <p:sp>
        <p:nvSpPr>
          <p:cNvPr id="24" name="Shape 19"/>
          <p:cNvSpPr/>
          <p:nvPr/>
        </p:nvSpPr>
        <p:spPr>
          <a:xfrm rot="5400000">
            <a:off x="8828532" y="2907792"/>
            <a:ext cx="128016" cy="128016"/>
          </a:xfrm>
          <a:prstGeom prst="triangle">
            <a:avLst/>
          </a:prstGeom>
          <a:solidFill>
            <a:srgbClr val="FF6B4A"/>
          </a:solidFill>
          <a:ln/>
        </p:spPr>
        <p:txBody>
          <a:bodyPr/>
          <a:lstStyle/>
          <a:p>
            <a:endParaRPr lang="es-CO"/>
          </a:p>
        </p:txBody>
      </p:sp>
      <p:sp>
        <p:nvSpPr>
          <p:cNvPr id="25" name="Shape 20"/>
          <p:cNvSpPr/>
          <p:nvPr/>
        </p:nvSpPr>
        <p:spPr>
          <a:xfrm>
            <a:off x="8997696" y="1737360"/>
            <a:ext cx="2606040" cy="2468880"/>
          </a:xfrm>
          <a:prstGeom prst="roundRect">
            <a:avLst>
              <a:gd name="adj" fmla="val 3333"/>
            </a:avLst>
          </a:prstGeom>
          <a:solidFill>
            <a:srgbClr val="F4F6FB"/>
          </a:solidFill>
          <a:ln/>
        </p:spPr>
        <p:txBody>
          <a:bodyPr/>
          <a:lstStyle/>
          <a:p>
            <a:endParaRPr lang="es-CO"/>
          </a:p>
        </p:txBody>
      </p:sp>
      <p:sp>
        <p:nvSpPr>
          <p:cNvPr id="26" name="Text 21"/>
          <p:cNvSpPr txBox="1"/>
          <p:nvPr/>
        </p:nvSpPr>
        <p:spPr>
          <a:xfrm>
            <a:off x="9198864" y="1847088"/>
            <a:ext cx="457200" cy="411480"/>
          </a:xfrm>
          <a:prstGeom prst="rect">
            <a:avLst/>
          </a:prstGeom>
          <a:noFill/>
          <a:ln/>
        </p:spPr>
        <p:txBody>
          <a:bodyPr wrap="square" lIns="0" tIns="0" rIns="0" bIns="0" rtlCol="0" anchor="ctr"/>
          <a:lstStyle/>
          <a:p>
            <a:pPr marL="0" indent="0">
              <a:buNone/>
            </a:pPr>
            <a:r>
              <a:rPr lang="en-US" sz="2200" b="1" dirty="0">
                <a:solidFill>
                  <a:srgbClr val="C4CBE6"/>
                </a:solidFill>
                <a:latin typeface="Cambria" pitchFamily="34" charset="0"/>
                <a:ea typeface="Cambria" pitchFamily="34" charset="-122"/>
                <a:cs typeface="Cambria" pitchFamily="34" charset="-120"/>
              </a:rPr>
              <a:t>4</a:t>
            </a:r>
            <a:endParaRPr lang="en-US" sz="2200" dirty="0"/>
          </a:p>
        </p:txBody>
      </p:sp>
      <p:sp>
        <p:nvSpPr>
          <p:cNvPr id="27" name="Shape 22"/>
          <p:cNvSpPr/>
          <p:nvPr/>
        </p:nvSpPr>
        <p:spPr>
          <a:xfrm>
            <a:off x="10008108" y="2103120"/>
            <a:ext cx="585216" cy="585216"/>
          </a:xfrm>
          <a:prstGeom prst="ellipse">
            <a:avLst/>
          </a:prstGeom>
          <a:solidFill>
            <a:srgbClr val="1F8A7D"/>
          </a:solidFill>
          <a:ln/>
        </p:spPr>
        <p:txBody>
          <a:bodyPr/>
          <a:lstStyle/>
          <a:p>
            <a:endParaRPr lang="es-CO"/>
          </a:p>
        </p:txBody>
      </p:sp>
      <p:pic>
        <p:nvPicPr>
          <p:cNvPr id="28" name="Image 3" descr="/home/claude/deck2/icon_shield.png"/>
          <p:cNvPicPr>
            <a:picLocks noChangeAspect="1"/>
          </p:cNvPicPr>
          <p:nvPr/>
        </p:nvPicPr>
        <p:blipFill>
          <a:blip r:embed="rId6"/>
          <a:stretch>
            <a:fillRect/>
          </a:stretch>
        </p:blipFill>
        <p:spPr>
          <a:xfrm>
            <a:off x="10160264" y="2255276"/>
            <a:ext cx="280904" cy="280904"/>
          </a:xfrm>
          <a:prstGeom prst="rect">
            <a:avLst/>
          </a:prstGeom>
        </p:spPr>
      </p:pic>
      <p:sp>
        <p:nvSpPr>
          <p:cNvPr id="29" name="Text 23"/>
          <p:cNvSpPr txBox="1"/>
          <p:nvPr/>
        </p:nvSpPr>
        <p:spPr>
          <a:xfrm>
            <a:off x="9180576" y="2788920"/>
            <a:ext cx="2240280" cy="50292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El servicio valida y autoriza</a:t>
            </a:r>
            <a:endParaRPr lang="en-US" sz="1400" dirty="0"/>
          </a:p>
        </p:txBody>
      </p:sp>
      <p:sp>
        <p:nvSpPr>
          <p:cNvPr id="30" name="Text 24"/>
          <p:cNvSpPr txBox="1"/>
          <p:nvPr/>
        </p:nvSpPr>
        <p:spPr>
          <a:xfrm>
            <a:off x="9198864" y="3337560"/>
            <a:ext cx="2203704" cy="822960"/>
          </a:xfrm>
          <a:prstGeom prst="rect">
            <a:avLst/>
          </a:prstGeom>
          <a:noFill/>
          <a:ln/>
        </p:spPr>
        <p:txBody>
          <a:bodyPr wrap="square" lIns="0" tIns="0" rIns="0" bIns="0" rtlCol="0" anchor="t"/>
          <a:lstStyle/>
          <a:p>
            <a:pPr marL="0" indent="0" algn="ctr">
              <a:buNone/>
            </a:pPr>
            <a:r>
              <a:rPr lang="en-US" sz="1100" dirty="0">
                <a:solidFill>
                  <a:srgbClr val="6B7280"/>
                </a:solidFill>
                <a:latin typeface="Calibri" pitchFamily="34" charset="0"/>
                <a:ea typeface="Calibri" pitchFamily="34" charset="-122"/>
                <a:cs typeface="Calibri" pitchFamily="34" charset="-120"/>
              </a:rPr>
              <a:t>Verifica firma y emisor (issuer-uri) y convierte cada rol en una autoridad de Spring Security.</a:t>
            </a:r>
            <a:endParaRPr lang="en-US" sz="1100" dirty="0"/>
          </a:p>
        </p:txBody>
      </p:sp>
      <p:sp>
        <p:nvSpPr>
          <p:cNvPr id="31" name="Text 25"/>
          <p:cNvSpPr txBox="1"/>
          <p:nvPr/>
        </p:nvSpPr>
        <p:spPr>
          <a:xfrm>
            <a:off x="548640" y="4434840"/>
            <a:ext cx="640080" cy="685800"/>
          </a:xfrm>
          <a:prstGeom prst="rect">
            <a:avLst/>
          </a:prstGeom>
          <a:noFill/>
          <a:ln/>
        </p:spPr>
        <p:txBody>
          <a:bodyPr wrap="square" lIns="0" tIns="0" rIns="0" bIns="0" rtlCol="0" anchor="ctr"/>
          <a:lstStyle/>
          <a:p>
            <a:pPr marL="0" indent="0">
              <a:buNone/>
            </a:pPr>
            <a:r>
              <a:rPr lang="en-US" sz="3800" b="1" dirty="0">
                <a:solidFill>
                  <a:srgbClr val="FF6B4A"/>
                </a:solidFill>
                <a:latin typeface="Cambria" pitchFamily="34" charset="0"/>
                <a:ea typeface="Cambria" pitchFamily="34" charset="-122"/>
                <a:cs typeface="Cambria" pitchFamily="34" charset="-120"/>
              </a:rPr>
              <a:t>1</a:t>
            </a:r>
            <a:endParaRPr lang="en-US" sz="3800" dirty="0"/>
          </a:p>
        </p:txBody>
      </p:sp>
      <p:sp>
        <p:nvSpPr>
          <p:cNvPr id="32" name="Text 26"/>
          <p:cNvSpPr txBox="1"/>
          <p:nvPr/>
        </p:nvSpPr>
        <p:spPr>
          <a:xfrm>
            <a:off x="1234440" y="4434840"/>
            <a:ext cx="1874520" cy="685800"/>
          </a:xfrm>
          <a:prstGeom prst="rect">
            <a:avLst/>
          </a:prstGeom>
          <a:noFill/>
          <a:ln/>
        </p:spPr>
        <p:txBody>
          <a:bodyPr wrap="square" lIns="0" tIns="0" rIns="0" bIns="0" rtlCol="0" anchor="ctr"/>
          <a:lstStyle/>
          <a:p>
            <a:pPr marL="0" indent="0">
              <a:buNone/>
            </a:pPr>
            <a:r>
              <a:rPr lang="en-US" sz="1250" dirty="0">
                <a:solidFill>
                  <a:srgbClr val="20263B"/>
                </a:solidFill>
                <a:latin typeface="Calibri" pitchFamily="34" charset="0"/>
                <a:ea typeface="Calibri" pitchFamily="34" charset="-122"/>
                <a:cs typeface="Calibri" pitchFamily="34" charset="-120"/>
              </a:rPr>
              <a:t>realm: gimnasio</a:t>
            </a:r>
            <a:endParaRPr lang="en-US" sz="1250" dirty="0"/>
          </a:p>
        </p:txBody>
      </p:sp>
      <p:sp>
        <p:nvSpPr>
          <p:cNvPr id="33" name="Text 27"/>
          <p:cNvSpPr txBox="1"/>
          <p:nvPr/>
        </p:nvSpPr>
        <p:spPr>
          <a:xfrm>
            <a:off x="3364992" y="4434840"/>
            <a:ext cx="640080" cy="685800"/>
          </a:xfrm>
          <a:prstGeom prst="rect">
            <a:avLst/>
          </a:prstGeom>
          <a:noFill/>
          <a:ln/>
        </p:spPr>
        <p:txBody>
          <a:bodyPr wrap="square" lIns="0" tIns="0" rIns="0" bIns="0" rtlCol="0" anchor="ctr"/>
          <a:lstStyle/>
          <a:p>
            <a:pPr marL="0" indent="0">
              <a:buNone/>
            </a:pPr>
            <a:r>
              <a:rPr lang="en-US" sz="3800" b="1" dirty="0">
                <a:solidFill>
                  <a:srgbClr val="FF6B4A"/>
                </a:solidFill>
                <a:latin typeface="Cambria" pitchFamily="34" charset="0"/>
                <a:ea typeface="Cambria" pitchFamily="34" charset="-122"/>
                <a:cs typeface="Cambria" pitchFamily="34" charset="-120"/>
              </a:rPr>
              <a:t>4</a:t>
            </a:r>
            <a:endParaRPr lang="en-US" sz="3800" dirty="0"/>
          </a:p>
        </p:txBody>
      </p:sp>
      <p:sp>
        <p:nvSpPr>
          <p:cNvPr id="34" name="Text 28"/>
          <p:cNvSpPr txBox="1"/>
          <p:nvPr/>
        </p:nvSpPr>
        <p:spPr>
          <a:xfrm>
            <a:off x="4050792" y="4434840"/>
            <a:ext cx="1874520" cy="685800"/>
          </a:xfrm>
          <a:prstGeom prst="rect">
            <a:avLst/>
          </a:prstGeom>
          <a:noFill/>
          <a:ln/>
        </p:spPr>
        <p:txBody>
          <a:bodyPr wrap="square" lIns="0" tIns="0" rIns="0" bIns="0" rtlCol="0" anchor="ctr"/>
          <a:lstStyle/>
          <a:p>
            <a:pPr marL="0" indent="0">
              <a:buNone/>
            </a:pPr>
            <a:r>
              <a:rPr lang="en-US" sz="1250" dirty="0">
                <a:solidFill>
                  <a:srgbClr val="20263B"/>
                </a:solidFill>
                <a:latin typeface="Calibri" pitchFamily="34" charset="0"/>
                <a:ea typeface="Calibri" pitchFamily="34" charset="-122"/>
                <a:cs typeface="Calibri" pitchFamily="34" charset="-120"/>
              </a:rPr>
              <a:t>clientes, uno por servicio</a:t>
            </a:r>
            <a:endParaRPr lang="en-US" sz="1250" dirty="0"/>
          </a:p>
        </p:txBody>
      </p:sp>
      <p:sp>
        <p:nvSpPr>
          <p:cNvPr id="35" name="Text 29"/>
          <p:cNvSpPr txBox="1"/>
          <p:nvPr/>
        </p:nvSpPr>
        <p:spPr>
          <a:xfrm>
            <a:off x="6181344" y="4434840"/>
            <a:ext cx="640080" cy="685800"/>
          </a:xfrm>
          <a:prstGeom prst="rect">
            <a:avLst/>
          </a:prstGeom>
          <a:noFill/>
          <a:ln/>
        </p:spPr>
        <p:txBody>
          <a:bodyPr wrap="square" lIns="0" tIns="0" rIns="0" bIns="0" rtlCol="0" anchor="ctr"/>
          <a:lstStyle/>
          <a:p>
            <a:pPr marL="0" indent="0">
              <a:buNone/>
            </a:pPr>
            <a:r>
              <a:rPr lang="en-US" sz="3800" b="1" dirty="0">
                <a:solidFill>
                  <a:srgbClr val="FF6B4A"/>
                </a:solidFill>
                <a:latin typeface="Cambria" pitchFamily="34" charset="0"/>
                <a:ea typeface="Cambria" pitchFamily="34" charset="-122"/>
                <a:cs typeface="Cambria" pitchFamily="34" charset="-120"/>
              </a:rPr>
              <a:t>3</a:t>
            </a:r>
            <a:endParaRPr lang="en-US" sz="3800" dirty="0"/>
          </a:p>
        </p:txBody>
      </p:sp>
      <p:sp>
        <p:nvSpPr>
          <p:cNvPr id="36" name="Text 30"/>
          <p:cNvSpPr txBox="1"/>
          <p:nvPr/>
        </p:nvSpPr>
        <p:spPr>
          <a:xfrm>
            <a:off x="6867144" y="4434840"/>
            <a:ext cx="1874520" cy="685800"/>
          </a:xfrm>
          <a:prstGeom prst="rect">
            <a:avLst/>
          </a:prstGeom>
          <a:noFill/>
          <a:ln/>
        </p:spPr>
        <p:txBody>
          <a:bodyPr wrap="square" lIns="0" tIns="0" rIns="0" bIns="0" rtlCol="0" anchor="ctr"/>
          <a:lstStyle/>
          <a:p>
            <a:pPr marL="0" indent="0">
              <a:buNone/>
            </a:pPr>
            <a:r>
              <a:rPr lang="en-US" sz="1250" dirty="0">
                <a:solidFill>
                  <a:srgbClr val="20263B"/>
                </a:solidFill>
                <a:latin typeface="Calibri" pitchFamily="34" charset="0"/>
                <a:ea typeface="Calibri" pitchFamily="34" charset="-122"/>
                <a:cs typeface="Calibri" pitchFamily="34" charset="-120"/>
              </a:rPr>
              <a:t>roles: ADMIN, TRAINER, MEMBER</a:t>
            </a:r>
            <a:endParaRPr lang="en-US" sz="1250" dirty="0"/>
          </a:p>
        </p:txBody>
      </p:sp>
      <p:sp>
        <p:nvSpPr>
          <p:cNvPr id="37" name="Text 31"/>
          <p:cNvSpPr txBox="1"/>
          <p:nvPr/>
        </p:nvSpPr>
        <p:spPr>
          <a:xfrm>
            <a:off x="8997696" y="4434840"/>
            <a:ext cx="640080" cy="685800"/>
          </a:xfrm>
          <a:prstGeom prst="rect">
            <a:avLst/>
          </a:prstGeom>
          <a:noFill/>
          <a:ln/>
        </p:spPr>
        <p:txBody>
          <a:bodyPr wrap="square" lIns="0" tIns="0" rIns="0" bIns="0" rtlCol="0" anchor="ctr"/>
          <a:lstStyle/>
          <a:p>
            <a:pPr marL="0" indent="0">
              <a:buNone/>
            </a:pPr>
            <a:r>
              <a:rPr lang="en-US" sz="3800" b="1" dirty="0">
                <a:solidFill>
                  <a:srgbClr val="FF6B4A"/>
                </a:solidFill>
                <a:latin typeface="Cambria" pitchFamily="34" charset="0"/>
                <a:ea typeface="Cambria" pitchFamily="34" charset="-122"/>
                <a:cs typeface="Cambria" pitchFamily="34" charset="-120"/>
              </a:rPr>
              <a:t>3</a:t>
            </a:r>
            <a:endParaRPr lang="en-US" sz="3800" dirty="0"/>
          </a:p>
        </p:txBody>
      </p:sp>
      <p:sp>
        <p:nvSpPr>
          <p:cNvPr id="38" name="Text 32"/>
          <p:cNvSpPr txBox="1"/>
          <p:nvPr/>
        </p:nvSpPr>
        <p:spPr>
          <a:xfrm>
            <a:off x="9683496" y="4434840"/>
            <a:ext cx="1874520" cy="685800"/>
          </a:xfrm>
          <a:prstGeom prst="rect">
            <a:avLst/>
          </a:prstGeom>
          <a:noFill/>
          <a:ln/>
        </p:spPr>
        <p:txBody>
          <a:bodyPr wrap="square" lIns="0" tIns="0" rIns="0" bIns="0" rtlCol="0" anchor="ctr"/>
          <a:lstStyle/>
          <a:p>
            <a:pPr marL="0" indent="0">
              <a:buNone/>
            </a:pPr>
            <a:r>
              <a:rPr lang="en-US" sz="1250" dirty="0">
                <a:solidFill>
                  <a:srgbClr val="20263B"/>
                </a:solidFill>
                <a:latin typeface="Calibri" pitchFamily="34" charset="0"/>
                <a:ea typeface="Calibri" pitchFamily="34" charset="-122"/>
                <a:cs typeface="Calibri" pitchFamily="34" charset="-120"/>
              </a:rPr>
              <a:t>usuarios de prueba, uno por rol</a:t>
            </a:r>
            <a:endParaRPr lang="en-US" sz="1250" dirty="0"/>
          </a:p>
        </p:txBody>
      </p:sp>
      <p:sp>
        <p:nvSpPr>
          <p:cNvPr id="39" name="Text 33"/>
          <p:cNvSpPr txBox="1"/>
          <p:nvPr/>
        </p:nvSpPr>
        <p:spPr>
          <a:xfrm>
            <a:off x="548640" y="5349240"/>
            <a:ext cx="11064240" cy="32004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El token también viaja entre servicios: clases-service lo reenvía a entrenadores-service en su llamada REST.</a:t>
            </a:r>
            <a:endParaRPr lang="en-US" sz="1300" dirty="0"/>
          </a:p>
        </p:txBody>
      </p:sp>
      <p:sp>
        <p:nvSpPr>
          <p:cNvPr id="40" name="Text 34"/>
          <p:cNvSpPr txBox="1"/>
          <p:nvPr/>
        </p:nvSpPr>
        <p:spPr>
          <a:xfrm>
            <a:off x="548640" y="5715000"/>
            <a:ext cx="11064240" cy="32004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Swagger/OpenAPI documenta las 18 operaciones de los 4 servicios, y el botón Authorize permite probarlas con un JWT.</a:t>
            </a:r>
            <a:endParaRPr lang="en-US" sz="1300" dirty="0"/>
          </a:p>
        </p:txBody>
      </p:sp>
      <p:sp>
        <p:nvSpPr>
          <p:cNvPr id="41" name="Text 35"/>
          <p:cNvSpPr txBox="1"/>
          <p:nvPr/>
        </p:nvSpPr>
        <p:spPr>
          <a:xfrm>
            <a:off x="10972800" y="6492240"/>
            <a:ext cx="685800" cy="22860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4 / 11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SEGURIDAD  •  2 DE 2</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marL="0" indent="0">
              <a:buNone/>
            </a:pPr>
            <a:r>
              <a:rPr lang="en-US" sz="3200" b="1" dirty="0">
                <a:solidFill>
                  <a:srgbClr val="1E2761"/>
                </a:solidFill>
                <a:latin typeface="Cambria" pitchFamily="34" charset="0"/>
                <a:ea typeface="Cambria" pitchFamily="34" charset="-122"/>
                <a:cs typeface="Cambria" pitchFamily="34" charset="-120"/>
              </a:rPr>
              <a:t>Roles y pruebas de acceso con resultados reales</a:t>
            </a:r>
            <a:endParaRPr lang="en-US" sz="3200" dirty="0"/>
          </a:p>
        </p:txBody>
      </p:sp>
      <p:sp>
        <p:nvSpPr>
          <p:cNvPr id="4" name="Shape 2"/>
          <p:cNvSpPr/>
          <p:nvPr/>
        </p:nvSpPr>
        <p:spPr>
          <a:xfrm>
            <a:off x="548640" y="1691640"/>
            <a:ext cx="3749040" cy="1097280"/>
          </a:xfrm>
          <a:prstGeom prst="roundRect">
            <a:avLst>
              <a:gd name="adj" fmla="val 7500"/>
            </a:avLst>
          </a:prstGeom>
          <a:solidFill>
            <a:srgbClr val="F4F6FB"/>
          </a:solidFill>
          <a:ln/>
        </p:spPr>
        <p:txBody>
          <a:bodyPr/>
          <a:lstStyle/>
          <a:p>
            <a:endParaRPr lang="es-CO"/>
          </a:p>
        </p:txBody>
      </p:sp>
      <p:sp>
        <p:nvSpPr>
          <p:cNvPr id="5" name="Shape 3"/>
          <p:cNvSpPr/>
          <p:nvPr/>
        </p:nvSpPr>
        <p:spPr>
          <a:xfrm>
            <a:off x="777240" y="1847088"/>
            <a:ext cx="1051560" cy="274320"/>
          </a:xfrm>
          <a:prstGeom prst="roundRect">
            <a:avLst>
              <a:gd name="adj" fmla="val 50000"/>
            </a:avLst>
          </a:prstGeom>
          <a:solidFill>
            <a:srgbClr val="1F8A7D"/>
          </a:solidFill>
          <a:ln/>
        </p:spPr>
        <p:txBody>
          <a:bodyPr/>
          <a:lstStyle/>
          <a:p>
            <a:endParaRPr lang="es-CO"/>
          </a:p>
        </p:txBody>
      </p:sp>
      <p:sp>
        <p:nvSpPr>
          <p:cNvPr id="6" name="Text 4"/>
          <p:cNvSpPr txBox="1"/>
          <p:nvPr/>
        </p:nvSpPr>
        <p:spPr>
          <a:xfrm>
            <a:off x="777240" y="1847088"/>
            <a:ext cx="105156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ADMIN</a:t>
            </a:r>
            <a:endParaRPr lang="en-US" sz="1050" dirty="0"/>
          </a:p>
        </p:txBody>
      </p:sp>
      <p:sp>
        <p:nvSpPr>
          <p:cNvPr id="7" name="Text 5"/>
          <p:cNvSpPr txBox="1"/>
          <p:nvPr/>
        </p:nvSpPr>
        <p:spPr>
          <a:xfrm>
            <a:off x="777240" y="2194560"/>
            <a:ext cx="3337560" cy="548640"/>
          </a:xfrm>
          <a:prstGeom prst="rect">
            <a:avLst/>
          </a:prstGeom>
          <a:noFill/>
          <a:ln/>
        </p:spPr>
        <p:txBody>
          <a:bodyPr wrap="square" lIns="0" tIns="0" rIns="0" bIns="0" rtlCol="0" anchor="t"/>
          <a:lstStyle/>
          <a:p>
            <a:pPr marL="0" indent="0">
              <a:buNone/>
            </a:pPr>
            <a:r>
              <a:rPr lang="en-US" sz="1150" dirty="0">
                <a:solidFill>
                  <a:srgbClr val="20263B"/>
                </a:solidFill>
                <a:latin typeface="Calibri" pitchFamily="34" charset="0"/>
                <a:ea typeface="Calibri" pitchFamily="34" charset="-122"/>
                <a:cs typeface="Calibri" pitchFamily="34" charset="-120"/>
              </a:rPr>
              <a:t>Todo: crea miembros, entrenadores y equipos, ajusta inventario, programa clases, inscribe y paga.</a:t>
            </a:r>
            <a:endParaRPr lang="en-US" sz="1150" dirty="0"/>
          </a:p>
        </p:txBody>
      </p:sp>
      <p:sp>
        <p:nvSpPr>
          <p:cNvPr id="8" name="Shape 6"/>
          <p:cNvSpPr/>
          <p:nvPr/>
        </p:nvSpPr>
        <p:spPr>
          <a:xfrm>
            <a:off x="548640" y="2926080"/>
            <a:ext cx="3749040" cy="1097280"/>
          </a:xfrm>
          <a:prstGeom prst="roundRect">
            <a:avLst>
              <a:gd name="adj" fmla="val 7500"/>
            </a:avLst>
          </a:prstGeom>
          <a:solidFill>
            <a:srgbClr val="F4F6FB"/>
          </a:solidFill>
          <a:ln/>
        </p:spPr>
        <p:txBody>
          <a:bodyPr/>
          <a:lstStyle/>
          <a:p>
            <a:endParaRPr lang="es-CO"/>
          </a:p>
        </p:txBody>
      </p:sp>
      <p:sp>
        <p:nvSpPr>
          <p:cNvPr id="9" name="Shape 7"/>
          <p:cNvSpPr/>
          <p:nvPr/>
        </p:nvSpPr>
        <p:spPr>
          <a:xfrm>
            <a:off x="777240" y="3081528"/>
            <a:ext cx="1051560" cy="274320"/>
          </a:xfrm>
          <a:prstGeom prst="roundRect">
            <a:avLst>
              <a:gd name="adj" fmla="val 50000"/>
            </a:avLst>
          </a:prstGeom>
          <a:solidFill>
            <a:srgbClr val="1F8A7D"/>
          </a:solidFill>
          <a:ln/>
        </p:spPr>
        <p:txBody>
          <a:bodyPr/>
          <a:lstStyle/>
          <a:p>
            <a:endParaRPr lang="es-CO"/>
          </a:p>
        </p:txBody>
      </p:sp>
      <p:sp>
        <p:nvSpPr>
          <p:cNvPr id="10" name="Text 8"/>
          <p:cNvSpPr txBox="1"/>
          <p:nvPr/>
        </p:nvSpPr>
        <p:spPr>
          <a:xfrm>
            <a:off x="777240" y="3081528"/>
            <a:ext cx="105156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TRAINER</a:t>
            </a:r>
            <a:endParaRPr lang="en-US" sz="1050" dirty="0"/>
          </a:p>
        </p:txBody>
      </p:sp>
      <p:sp>
        <p:nvSpPr>
          <p:cNvPr id="11" name="Text 9"/>
          <p:cNvSpPr txBox="1"/>
          <p:nvPr/>
        </p:nvSpPr>
        <p:spPr>
          <a:xfrm>
            <a:off x="777240" y="3429000"/>
            <a:ext cx="3337560" cy="548640"/>
          </a:xfrm>
          <a:prstGeom prst="rect">
            <a:avLst/>
          </a:prstGeom>
          <a:noFill/>
          <a:ln/>
        </p:spPr>
        <p:txBody>
          <a:bodyPr wrap="square" lIns="0" tIns="0" rIns="0" bIns="0" rtlCol="0" anchor="t"/>
          <a:lstStyle/>
          <a:p>
            <a:pPr marL="0" indent="0">
              <a:buNone/>
            </a:pPr>
            <a:r>
              <a:rPr lang="en-US" sz="1150" dirty="0">
                <a:solidFill>
                  <a:srgbClr val="20263B"/>
                </a:solidFill>
                <a:latin typeface="Calibri" pitchFamily="34" charset="0"/>
                <a:ea typeface="Calibri" pitchFamily="34" charset="-122"/>
                <a:cs typeface="Calibri" pitchFamily="34" charset="-120"/>
              </a:rPr>
              <a:t>Programa clases y reprograma sus horarios.</a:t>
            </a:r>
            <a:endParaRPr lang="en-US" sz="1150" dirty="0"/>
          </a:p>
        </p:txBody>
      </p:sp>
      <p:sp>
        <p:nvSpPr>
          <p:cNvPr id="12" name="Shape 10"/>
          <p:cNvSpPr/>
          <p:nvPr/>
        </p:nvSpPr>
        <p:spPr>
          <a:xfrm>
            <a:off x="548640" y="4160520"/>
            <a:ext cx="3749040" cy="1097280"/>
          </a:xfrm>
          <a:prstGeom prst="roundRect">
            <a:avLst>
              <a:gd name="adj" fmla="val 7500"/>
            </a:avLst>
          </a:prstGeom>
          <a:solidFill>
            <a:srgbClr val="F4F6FB"/>
          </a:solidFill>
          <a:ln/>
        </p:spPr>
        <p:txBody>
          <a:bodyPr/>
          <a:lstStyle/>
          <a:p>
            <a:endParaRPr lang="es-CO"/>
          </a:p>
        </p:txBody>
      </p:sp>
      <p:sp>
        <p:nvSpPr>
          <p:cNvPr id="13" name="Shape 11"/>
          <p:cNvSpPr/>
          <p:nvPr/>
        </p:nvSpPr>
        <p:spPr>
          <a:xfrm>
            <a:off x="777240" y="4315968"/>
            <a:ext cx="1051560" cy="274320"/>
          </a:xfrm>
          <a:prstGeom prst="roundRect">
            <a:avLst>
              <a:gd name="adj" fmla="val 50000"/>
            </a:avLst>
          </a:prstGeom>
          <a:solidFill>
            <a:srgbClr val="1F8A7D"/>
          </a:solidFill>
          <a:ln/>
        </p:spPr>
        <p:txBody>
          <a:bodyPr/>
          <a:lstStyle/>
          <a:p>
            <a:endParaRPr lang="es-CO"/>
          </a:p>
        </p:txBody>
      </p:sp>
      <p:sp>
        <p:nvSpPr>
          <p:cNvPr id="14" name="Text 12"/>
          <p:cNvSpPr txBox="1"/>
          <p:nvPr/>
        </p:nvSpPr>
        <p:spPr>
          <a:xfrm>
            <a:off x="777240" y="4315968"/>
            <a:ext cx="105156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MEMBER</a:t>
            </a:r>
            <a:endParaRPr lang="en-US" sz="1050" dirty="0"/>
          </a:p>
        </p:txBody>
      </p:sp>
      <p:sp>
        <p:nvSpPr>
          <p:cNvPr id="15" name="Text 13"/>
          <p:cNvSpPr txBox="1"/>
          <p:nvPr/>
        </p:nvSpPr>
        <p:spPr>
          <a:xfrm>
            <a:off x="777240" y="4663440"/>
            <a:ext cx="3337560" cy="548640"/>
          </a:xfrm>
          <a:prstGeom prst="rect">
            <a:avLst/>
          </a:prstGeom>
          <a:noFill/>
          <a:ln/>
        </p:spPr>
        <p:txBody>
          <a:bodyPr wrap="square" lIns="0" tIns="0" rIns="0" bIns="0" rtlCol="0" anchor="t"/>
          <a:lstStyle/>
          <a:p>
            <a:pPr marL="0" indent="0">
              <a:buNone/>
            </a:pPr>
            <a:r>
              <a:rPr lang="en-US" sz="1150" dirty="0">
                <a:solidFill>
                  <a:srgbClr val="20263B"/>
                </a:solidFill>
                <a:latin typeface="Calibri" pitchFamily="34" charset="0"/>
                <a:ea typeface="Calibri" pitchFamily="34" charset="-122"/>
                <a:cs typeface="Calibri" pitchFamily="34" charset="-120"/>
              </a:rPr>
              <a:t>Se inscribe, cancela inscripciones y paga.</a:t>
            </a:r>
            <a:endParaRPr lang="en-US" sz="1150" dirty="0"/>
          </a:p>
        </p:txBody>
      </p:sp>
      <p:sp>
        <p:nvSpPr>
          <p:cNvPr id="16" name="Text 14"/>
          <p:cNvSpPr txBox="1"/>
          <p:nvPr/>
        </p:nvSpPr>
        <p:spPr>
          <a:xfrm>
            <a:off x="548640" y="5440680"/>
            <a:ext cx="3749040" cy="274320"/>
          </a:xfrm>
          <a:prstGeom prst="rect">
            <a:avLst/>
          </a:prstGeom>
          <a:noFill/>
          <a:ln/>
        </p:spPr>
        <p:txBody>
          <a:bodyPr wrap="square" lIns="0" tIns="0" rIns="0" bIns="0" rtlCol="0" anchor="ctr"/>
          <a:lstStyle/>
          <a:p>
            <a:pPr marL="0" indent="0">
              <a:buNone/>
            </a:pPr>
            <a:r>
              <a:rPr lang="en-US" sz="1150" i="1" dirty="0">
                <a:solidFill>
                  <a:srgbClr val="6B7280"/>
                </a:solidFill>
                <a:latin typeface="Calibri" pitchFamily="34" charset="0"/>
                <a:ea typeface="Calibri" pitchFamily="34" charset="-122"/>
                <a:cs typeface="Calibri" pitchFamily="34" charset="-120"/>
              </a:rPr>
              <a:t>Las consultas solo piden estar autenticado.</a:t>
            </a:r>
            <a:endParaRPr lang="en-US" sz="11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0" y="1691640"/>
          <a:ext cx="7040880" cy="3657600"/>
        </p:xfrm>
        <a:graphic>
          <a:graphicData uri="http://schemas.openxmlformats.org/drawingml/2006/table">
            <a:tbl>
              <a:tblPr/>
              <a:tblGrid>
                <a:gridCol w="26517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Prueba</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1E2761"/>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Resultado</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Qué demuestra</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Sin token</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E2B1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DECEA"/>
                    </a:solidFill>
                  </a:tcPr>
                </a:tc>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No hay identidad.</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Member, GET /api/miembros</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1F6B3A"/>
                          </a:solidFill>
                          <a:latin typeface="Calibri" pitchFamily="34" charset="0"/>
                          <a:ea typeface="Calibri" pitchFamily="34" charset="-122"/>
                          <a:cs typeface="Calibri" pitchFamily="34" charset="-120"/>
                        </a:rPr>
                        <a:t>200</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E3F4EA"/>
                    </a:solidFill>
                  </a:tcPr>
                </a:tc>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Autenticado, sin restricción de rol.</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4F6FB"/>
                    </a:solidFill>
                  </a:tcPr>
                </a:tc>
                <a:extLst>
                  <a:ext uri="{0D108BD9-81ED-4DB2-BD59-A6C34878D82A}">
                    <a16:rowId xmlns:a16="http://schemas.microsoft.com/office/drawing/2014/main" val="10002"/>
                  </a:ext>
                </a:extLst>
              </a:tr>
              <a:tr h="457200">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Member, POST /api/miembros</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E2B1F"/>
                          </a:solidFill>
                          <a:latin typeface="Calibri" pitchFamily="34" charset="0"/>
                          <a:ea typeface="Calibri" pitchFamily="34" charset="-122"/>
                          <a:cs typeface="Calibri" pitchFamily="34" charset="-120"/>
                        </a:rPr>
                        <a:t>403</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DECEA"/>
                    </a:solidFill>
                  </a:tcPr>
                </a:tc>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Identidad válida, el rol no alcanza.</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Admin, POST /api/miembros</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1F6B3A"/>
                          </a:solidFill>
                          <a:latin typeface="Calibri" pitchFamily="34" charset="0"/>
                          <a:ea typeface="Calibri" pitchFamily="34" charset="-122"/>
                          <a:cs typeface="Calibri" pitchFamily="34" charset="-120"/>
                        </a:rPr>
                        <a:t>201</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E3F4EA"/>
                    </a:solidFill>
                  </a:tcPr>
                </a:tc>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Rol correcto: se crea el recurso.</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4F6FB"/>
                    </a:solidFill>
                  </a:tcPr>
                </a:tc>
                <a:extLst>
                  <a:ext uri="{0D108BD9-81ED-4DB2-BD59-A6C34878D82A}">
                    <a16:rowId xmlns:a16="http://schemas.microsoft.com/office/drawing/2014/main" val="10004"/>
                  </a:ext>
                </a:extLst>
              </a:tr>
              <a:tr h="457200">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Token adulterado</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E2B1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DECEA"/>
                    </a:solidFill>
                  </a:tcPr>
                </a:tc>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La firma no verifica.</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Token basura (abc.def.ghi)</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4F6FB"/>
                    </a:solidFill>
                  </a:tcPr>
                </a:tc>
                <a:tc>
                  <a:txBody>
                    <a:bodyPr/>
                    <a:lstStyle/>
                    <a:p>
                      <a:pPr marL="0" indent="0" algn="ctr">
                        <a:buNone/>
                      </a:pPr>
                      <a:r>
                        <a:rPr lang="en-US" sz="1100" b="1" dirty="0">
                          <a:solidFill>
                            <a:srgbClr val="9E2B1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DECEA"/>
                    </a:solidFill>
                  </a:tcPr>
                </a:tc>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Ni siquiera es un JWT.</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4F6FB"/>
                    </a:solidFill>
                  </a:tcPr>
                </a:tc>
                <a:extLst>
                  <a:ext uri="{0D108BD9-81ED-4DB2-BD59-A6C34878D82A}">
                    <a16:rowId xmlns:a16="http://schemas.microsoft.com/office/drawing/2014/main" val="10006"/>
                  </a:ext>
                </a:extLst>
              </a:tr>
              <a:tr h="457200">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Token expirado</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9E2B1F"/>
                          </a:solidFill>
                          <a:latin typeface="Calibri" pitchFamily="34" charset="0"/>
                          <a:ea typeface="Calibri" pitchFamily="34" charset="-122"/>
                          <a:cs typeface="Calibri" pitchFamily="34" charset="-120"/>
                        </a:rPr>
                        <a:t>401</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DECEA"/>
                    </a:solidFill>
                  </a:tcPr>
                </a:tc>
                <a:tc>
                  <a:txBody>
                    <a:bodyPr/>
                    <a:lstStyle/>
                    <a:p>
                      <a:pPr marL="0" indent="0">
                        <a:buNone/>
                      </a:pPr>
                      <a:r>
                        <a:rPr lang="en-US" sz="1100" dirty="0">
                          <a:solidFill>
                            <a:srgbClr val="20263B"/>
                          </a:solidFill>
                          <a:latin typeface="Calibri" pitchFamily="34" charset="0"/>
                          <a:ea typeface="Calibri" pitchFamily="34" charset="-122"/>
                          <a:cs typeface="Calibri" pitchFamily="34" charset="-120"/>
                        </a:rPr>
                        <a:t>El claim exp venció (300 s y 60 s de tolerancia).</a:t>
                      </a:r>
                      <a:endParaRPr lang="en-US" sz="1100" dirty="0">
                        <a:latin typeface="Calibri" charset="0"/>
                        <a:ea typeface="Calibri" charset="0"/>
                        <a:cs typeface="Calibri" charset="0"/>
                      </a:endParaRPr>
                    </a:p>
                  </a:txBody>
                  <a:tcPr marL="73152" marR="73152" marT="73152" marB="73152" anchor="ctr">
                    <a:lnL w="9525" cap="flat" cmpd="sng" algn="ctr">
                      <a:solidFill>
                        <a:srgbClr val="D7DCEA"/>
                      </a:solidFill>
                      <a:prstDash val="solid"/>
                      <a:round/>
                      <a:headEnd type="none" w="med" len="med"/>
                      <a:tailEnd type="none" w="med" len="med"/>
                    </a:lnL>
                    <a:lnR w="9525" cap="flat" cmpd="sng" algn="ctr">
                      <a:solidFill>
                        <a:srgbClr val="D7DCEA"/>
                      </a:solidFill>
                      <a:prstDash val="solid"/>
                      <a:round/>
                      <a:headEnd type="none" w="med" len="med"/>
                      <a:tailEnd type="none" w="med" len="med"/>
                    </a:lnR>
                    <a:lnT w="9525" cap="flat" cmpd="sng" algn="ctr">
                      <a:solidFill>
                        <a:srgbClr val="D7DCEA"/>
                      </a:solidFill>
                      <a:prstDash val="solid"/>
                      <a:round/>
                      <a:headEnd type="none" w="med" len="med"/>
                      <a:tailEnd type="none" w="med" len="med"/>
                    </a:lnT>
                    <a:lnB w="9525" cap="flat" cmpd="sng" algn="ctr">
                      <a:solidFill>
                        <a:srgbClr val="D7DC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8" name="Text 15"/>
          <p:cNvSpPr txBox="1"/>
          <p:nvPr/>
        </p:nvSpPr>
        <p:spPr>
          <a:xfrm>
            <a:off x="548640" y="5897880"/>
            <a:ext cx="11064240" cy="365760"/>
          </a:xfrm>
          <a:prstGeom prst="rect">
            <a:avLst/>
          </a:prstGeom>
          <a:noFill/>
          <a:ln/>
        </p:spPr>
        <p:txBody>
          <a:bodyPr wrap="square" lIns="0" tIns="0" rIns="0" bIns="0" rtlCol="0" anchor="ctr"/>
          <a:lstStyle/>
          <a:p>
            <a:pPr marL="0" indent="0" algn="ctr">
              <a:buNone/>
            </a:pPr>
            <a:r>
              <a:rPr lang="en-US" sz="1400" b="1" i="1" dirty="0">
                <a:solidFill>
                  <a:srgbClr val="1E2761"/>
                </a:solidFill>
                <a:latin typeface="Calibri" pitchFamily="34" charset="0"/>
                <a:ea typeface="Calibri" pitchFamily="34" charset="-122"/>
                <a:cs typeface="Calibri" pitchFamily="34" charset="-120"/>
              </a:rPr>
              <a:t>401 significa "no sé quién eres".  403 significa "sé quién eres, pero no puedes hacer esto".</a:t>
            </a:r>
            <a:endParaRPr lang="en-US" sz="1400" dirty="0"/>
          </a:p>
        </p:txBody>
      </p:sp>
      <p:sp>
        <p:nvSpPr>
          <p:cNvPr id="19" name="Text 16"/>
          <p:cNvSpPr txBox="1"/>
          <p:nvPr/>
        </p:nvSpPr>
        <p:spPr>
          <a:xfrm>
            <a:off x="10972800" y="6492240"/>
            <a:ext cx="685800" cy="22860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5 / 11</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RABBITMQ  •  1 DE 2</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marL="0" indent="0">
              <a:buNone/>
            </a:pPr>
            <a:r>
              <a:rPr lang="en-US" sz="3200" b="1" dirty="0">
                <a:solidFill>
                  <a:srgbClr val="1E2761"/>
                </a:solidFill>
                <a:latin typeface="Cambria" pitchFamily="34" charset="0"/>
                <a:ea typeface="Cambria" pitchFamily="34" charset="-122"/>
                <a:cs typeface="Cambria" pitchFamily="34" charset="-120"/>
              </a:rPr>
              <a:t>Cola directa y publish/subscribe con fanout</a:t>
            </a:r>
            <a:endParaRPr lang="en-US" sz="3200" dirty="0"/>
          </a:p>
        </p:txBody>
      </p:sp>
      <p:sp>
        <p:nvSpPr>
          <p:cNvPr id="4" name="Text 2"/>
          <p:cNvSpPr txBox="1"/>
          <p:nvPr/>
        </p:nvSpPr>
        <p:spPr>
          <a:xfrm>
            <a:off x="548640" y="1600200"/>
            <a:ext cx="7315200" cy="228600"/>
          </a:xfrm>
          <a:prstGeom prst="rect">
            <a:avLst/>
          </a:prstGeom>
          <a:noFill/>
          <a:ln/>
        </p:spPr>
        <p:txBody>
          <a:bodyPr wrap="square" lIns="0" tIns="0" rIns="0" bIns="0" rtlCol="0" anchor="ctr"/>
          <a:lstStyle/>
          <a:p>
            <a:pPr marL="0" indent="0">
              <a:buNone/>
            </a:pPr>
            <a:r>
              <a:rPr lang="en-US" sz="1050" b="1" kern="0" spc="150" dirty="0">
                <a:solidFill>
                  <a:srgbClr val="C77F0A"/>
                </a:solidFill>
                <a:latin typeface="Calibri" pitchFamily="34" charset="0"/>
                <a:ea typeface="Calibri" pitchFamily="34" charset="-122"/>
                <a:cs typeface="Calibri" pitchFamily="34" charset="-120"/>
              </a:rPr>
              <a:t>COLA DIRECTA: NOTIFICACIÓN DE INSCRIPCIÓN</a:t>
            </a:r>
            <a:endParaRPr lang="en-US" sz="1050" dirty="0"/>
          </a:p>
        </p:txBody>
      </p:sp>
      <p:sp>
        <p:nvSpPr>
          <p:cNvPr id="5" name="Shape 3"/>
          <p:cNvSpPr/>
          <p:nvPr/>
        </p:nvSpPr>
        <p:spPr>
          <a:xfrm>
            <a:off x="548640" y="1920240"/>
            <a:ext cx="2194560" cy="777240"/>
          </a:xfrm>
          <a:prstGeom prst="roundRect">
            <a:avLst>
              <a:gd name="adj" fmla="val 8235"/>
            </a:avLst>
          </a:prstGeom>
          <a:solidFill>
            <a:srgbClr val="FFFFFF"/>
          </a:solidFill>
          <a:ln w="12700">
            <a:solidFill>
              <a:srgbClr val="1E2761"/>
            </a:solidFill>
            <a:prstDash val="solid"/>
          </a:ln>
        </p:spPr>
        <p:txBody>
          <a:bodyPr/>
          <a:lstStyle/>
          <a:p>
            <a:endParaRPr lang="es-CO"/>
          </a:p>
        </p:txBody>
      </p:sp>
      <p:sp>
        <p:nvSpPr>
          <p:cNvPr id="6" name="Text 4"/>
          <p:cNvSpPr txBox="1"/>
          <p:nvPr/>
        </p:nvSpPr>
        <p:spPr>
          <a:xfrm>
            <a:off x="548640" y="1920240"/>
            <a:ext cx="2194560" cy="777240"/>
          </a:xfrm>
          <a:prstGeom prst="rect">
            <a:avLst/>
          </a:prstGeom>
          <a:noFill/>
          <a:ln/>
        </p:spPr>
        <p:txBody>
          <a:bodyPr wrap="square" lIns="635" tIns="635" rIns="635" bIns="635"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clases-service</a:t>
            </a:r>
            <a:endParaRPr lang="en-US" sz="1300" dirty="0"/>
          </a:p>
        </p:txBody>
      </p:sp>
      <p:sp>
        <p:nvSpPr>
          <p:cNvPr id="7" name="Shape 5"/>
          <p:cNvSpPr/>
          <p:nvPr/>
        </p:nvSpPr>
        <p:spPr>
          <a:xfrm>
            <a:off x="2743200" y="2308860"/>
            <a:ext cx="1097280" cy="0"/>
          </a:xfrm>
          <a:prstGeom prst="line">
            <a:avLst/>
          </a:prstGeom>
          <a:noFill/>
          <a:ln w="25400">
            <a:solidFill>
              <a:srgbClr val="6B7280"/>
            </a:solidFill>
            <a:prstDash val="solid"/>
            <a:tailEnd type="triangle"/>
          </a:ln>
        </p:spPr>
        <p:txBody>
          <a:bodyPr/>
          <a:lstStyle/>
          <a:p>
            <a:endParaRPr lang="es-CO"/>
          </a:p>
        </p:txBody>
      </p:sp>
      <p:sp>
        <p:nvSpPr>
          <p:cNvPr id="8" name="Shape 6"/>
          <p:cNvSpPr/>
          <p:nvPr/>
        </p:nvSpPr>
        <p:spPr>
          <a:xfrm>
            <a:off x="3840480" y="1920240"/>
            <a:ext cx="4206240" cy="777240"/>
          </a:xfrm>
          <a:prstGeom prst="roundRect">
            <a:avLst>
              <a:gd name="adj" fmla="val 8235"/>
            </a:avLst>
          </a:prstGeom>
          <a:solidFill>
            <a:srgbClr val="FBF1DE"/>
          </a:solidFill>
          <a:ln w="25400">
            <a:solidFill>
              <a:srgbClr val="C77F0A"/>
            </a:solidFill>
            <a:prstDash val="solid"/>
          </a:ln>
        </p:spPr>
        <p:txBody>
          <a:bodyPr/>
          <a:lstStyle/>
          <a:p>
            <a:endParaRPr lang="es-CO"/>
          </a:p>
        </p:txBody>
      </p:sp>
      <p:sp>
        <p:nvSpPr>
          <p:cNvPr id="9" name="Text 7"/>
          <p:cNvSpPr txBox="1"/>
          <p:nvPr/>
        </p:nvSpPr>
        <p:spPr>
          <a:xfrm>
            <a:off x="3840480" y="1920240"/>
            <a:ext cx="4206240" cy="777240"/>
          </a:xfrm>
          <a:prstGeom prst="rect">
            <a:avLst/>
          </a:prstGeom>
          <a:noFill/>
          <a:ln/>
        </p:spPr>
        <p:txBody>
          <a:bodyPr wrap="square" lIns="635" tIns="635" rIns="635" bIns="635" rtlCol="0" anchor="ctr"/>
          <a:lstStyle/>
          <a:p>
            <a:pPr marL="0" indent="0" algn="ctr">
              <a:buNone/>
            </a:pPr>
            <a:r>
              <a:rPr lang="en-US" sz="1150" b="1" dirty="0">
                <a:solidFill>
                  <a:srgbClr val="6B4300"/>
                </a:solidFill>
                <a:latin typeface="Courier New" pitchFamily="34" charset="0"/>
                <a:ea typeface="Courier New" pitchFamily="34" charset="-122"/>
                <a:cs typeface="Courier New" pitchFamily="34" charset="-120"/>
              </a:rPr>
              <a:t>notificaciones.inscripciones.queue</a:t>
            </a:r>
            <a:endParaRPr lang="en-US" sz="1150" dirty="0"/>
          </a:p>
        </p:txBody>
      </p:sp>
      <p:sp>
        <p:nvSpPr>
          <p:cNvPr id="10" name="Shape 8"/>
          <p:cNvSpPr/>
          <p:nvPr/>
        </p:nvSpPr>
        <p:spPr>
          <a:xfrm>
            <a:off x="8046720" y="2308860"/>
            <a:ext cx="1371600" cy="0"/>
          </a:xfrm>
          <a:prstGeom prst="line">
            <a:avLst/>
          </a:prstGeom>
          <a:noFill/>
          <a:ln w="25400">
            <a:solidFill>
              <a:srgbClr val="6B7280"/>
            </a:solidFill>
            <a:prstDash val="solid"/>
            <a:tailEnd type="triangle"/>
          </a:ln>
        </p:spPr>
        <p:txBody>
          <a:bodyPr/>
          <a:lstStyle/>
          <a:p>
            <a:endParaRPr lang="es-CO"/>
          </a:p>
        </p:txBody>
      </p:sp>
      <p:sp>
        <p:nvSpPr>
          <p:cNvPr id="11" name="Shape 9"/>
          <p:cNvSpPr/>
          <p:nvPr/>
        </p:nvSpPr>
        <p:spPr>
          <a:xfrm>
            <a:off x="9418320" y="1920240"/>
            <a:ext cx="2194560" cy="777240"/>
          </a:xfrm>
          <a:prstGeom prst="roundRect">
            <a:avLst>
              <a:gd name="adj" fmla="val 8235"/>
            </a:avLst>
          </a:prstGeom>
          <a:solidFill>
            <a:srgbClr val="FFFFFF"/>
          </a:solidFill>
          <a:ln w="12700">
            <a:solidFill>
              <a:srgbClr val="1E2761"/>
            </a:solidFill>
            <a:prstDash val="solid"/>
          </a:ln>
        </p:spPr>
        <p:txBody>
          <a:bodyPr/>
          <a:lstStyle/>
          <a:p>
            <a:endParaRPr lang="es-CO"/>
          </a:p>
        </p:txBody>
      </p:sp>
      <p:sp>
        <p:nvSpPr>
          <p:cNvPr id="12" name="Text 10"/>
          <p:cNvSpPr txBox="1"/>
          <p:nvPr/>
        </p:nvSpPr>
        <p:spPr>
          <a:xfrm>
            <a:off x="9418320" y="1920240"/>
            <a:ext cx="2194560" cy="777240"/>
          </a:xfrm>
          <a:prstGeom prst="rect">
            <a:avLst/>
          </a:prstGeom>
          <a:noFill/>
          <a:ln/>
        </p:spPr>
        <p:txBody>
          <a:bodyPr wrap="square" lIns="635" tIns="635" rIns="635" bIns="635"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miembros-service</a:t>
            </a:r>
            <a:endParaRPr lang="en-US" sz="1300" dirty="0"/>
          </a:p>
        </p:txBody>
      </p:sp>
      <p:sp>
        <p:nvSpPr>
          <p:cNvPr id="13" name="Text 11"/>
          <p:cNvSpPr txBox="1"/>
          <p:nvPr/>
        </p:nvSpPr>
        <p:spPr>
          <a:xfrm>
            <a:off x="548640" y="3246120"/>
            <a:ext cx="7315200" cy="228600"/>
          </a:xfrm>
          <a:prstGeom prst="rect">
            <a:avLst/>
          </a:prstGeom>
          <a:noFill/>
          <a:ln/>
        </p:spPr>
        <p:txBody>
          <a:bodyPr wrap="square" lIns="0" tIns="0" rIns="0" bIns="0" rtlCol="0" anchor="ctr"/>
          <a:lstStyle/>
          <a:p>
            <a:pPr marL="0" indent="0">
              <a:buNone/>
            </a:pPr>
            <a:r>
              <a:rPr lang="en-US" sz="1050" b="1" kern="0" spc="150" dirty="0">
                <a:solidFill>
                  <a:srgbClr val="C77F0A"/>
                </a:solidFill>
                <a:latin typeface="Calibri" pitchFamily="34" charset="0"/>
                <a:ea typeface="Calibri" pitchFamily="34" charset="-122"/>
                <a:cs typeface="Calibri" pitchFamily="34" charset="-120"/>
              </a:rPr>
              <a:t>PUBLISH/SUBSCRIBE: CAMBIO DE HORARIO</a:t>
            </a:r>
            <a:endParaRPr lang="en-US" sz="1050" dirty="0"/>
          </a:p>
        </p:txBody>
      </p:sp>
      <p:sp>
        <p:nvSpPr>
          <p:cNvPr id="14" name="Shape 12"/>
          <p:cNvSpPr/>
          <p:nvPr/>
        </p:nvSpPr>
        <p:spPr>
          <a:xfrm>
            <a:off x="548640" y="3931920"/>
            <a:ext cx="2194560" cy="777240"/>
          </a:xfrm>
          <a:prstGeom prst="roundRect">
            <a:avLst>
              <a:gd name="adj" fmla="val 8235"/>
            </a:avLst>
          </a:prstGeom>
          <a:solidFill>
            <a:srgbClr val="FFFFFF"/>
          </a:solidFill>
          <a:ln w="12700">
            <a:solidFill>
              <a:srgbClr val="1E2761"/>
            </a:solidFill>
            <a:prstDash val="solid"/>
          </a:ln>
        </p:spPr>
        <p:txBody>
          <a:bodyPr/>
          <a:lstStyle/>
          <a:p>
            <a:endParaRPr lang="es-CO"/>
          </a:p>
        </p:txBody>
      </p:sp>
      <p:sp>
        <p:nvSpPr>
          <p:cNvPr id="15" name="Text 13"/>
          <p:cNvSpPr txBox="1"/>
          <p:nvPr/>
        </p:nvSpPr>
        <p:spPr>
          <a:xfrm>
            <a:off x="548640" y="3931920"/>
            <a:ext cx="2194560" cy="777240"/>
          </a:xfrm>
          <a:prstGeom prst="rect">
            <a:avLst/>
          </a:prstGeom>
          <a:noFill/>
          <a:ln/>
        </p:spPr>
        <p:txBody>
          <a:bodyPr wrap="square" lIns="635" tIns="635" rIns="635" bIns="635"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clases-service</a:t>
            </a:r>
            <a:endParaRPr lang="en-US" sz="1300" dirty="0"/>
          </a:p>
        </p:txBody>
      </p:sp>
      <p:sp>
        <p:nvSpPr>
          <p:cNvPr id="16" name="Shape 14"/>
          <p:cNvSpPr/>
          <p:nvPr/>
        </p:nvSpPr>
        <p:spPr>
          <a:xfrm>
            <a:off x="2743200" y="4320540"/>
            <a:ext cx="822960" cy="0"/>
          </a:xfrm>
          <a:prstGeom prst="line">
            <a:avLst/>
          </a:prstGeom>
          <a:noFill/>
          <a:ln w="25400">
            <a:solidFill>
              <a:srgbClr val="6B7280"/>
            </a:solidFill>
            <a:prstDash val="solid"/>
            <a:tailEnd type="triangle"/>
          </a:ln>
        </p:spPr>
        <p:txBody>
          <a:bodyPr/>
          <a:lstStyle/>
          <a:p>
            <a:endParaRPr lang="es-CO"/>
          </a:p>
        </p:txBody>
      </p:sp>
      <p:sp>
        <p:nvSpPr>
          <p:cNvPr id="17" name="Shape 15"/>
          <p:cNvSpPr/>
          <p:nvPr/>
        </p:nvSpPr>
        <p:spPr>
          <a:xfrm>
            <a:off x="3566160" y="3931920"/>
            <a:ext cx="2103120" cy="777240"/>
          </a:xfrm>
          <a:prstGeom prst="roundRect">
            <a:avLst>
              <a:gd name="adj" fmla="val 8235"/>
            </a:avLst>
          </a:prstGeom>
          <a:solidFill>
            <a:srgbClr val="C77F0A"/>
          </a:solidFill>
          <a:ln w="12700">
            <a:solidFill>
              <a:srgbClr val="C77F0A"/>
            </a:solidFill>
            <a:prstDash val="solid"/>
          </a:ln>
        </p:spPr>
        <p:txBody>
          <a:bodyPr/>
          <a:lstStyle/>
          <a:p>
            <a:endParaRPr lang="es-CO"/>
          </a:p>
        </p:txBody>
      </p:sp>
      <p:sp>
        <p:nvSpPr>
          <p:cNvPr id="18" name="Text 16"/>
          <p:cNvSpPr txBox="1"/>
          <p:nvPr/>
        </p:nvSpPr>
        <p:spPr>
          <a:xfrm>
            <a:off x="3566160" y="3931920"/>
            <a:ext cx="2103120" cy="777240"/>
          </a:xfrm>
          <a:prstGeom prst="rect">
            <a:avLst/>
          </a:prstGeom>
          <a:noFill/>
          <a:ln/>
        </p:spPr>
        <p:txBody>
          <a:bodyPr wrap="square" lIns="635" tIns="635" rIns="635" bIns="635"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horarios.exchange</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(fanout)</a:t>
            </a:r>
            <a:endParaRPr lang="en-US" sz="1150" dirty="0"/>
          </a:p>
        </p:txBody>
      </p:sp>
      <p:sp>
        <p:nvSpPr>
          <p:cNvPr id="19" name="Shape 17"/>
          <p:cNvSpPr/>
          <p:nvPr/>
        </p:nvSpPr>
        <p:spPr>
          <a:xfrm>
            <a:off x="6217920" y="3520440"/>
            <a:ext cx="3200400" cy="640080"/>
          </a:xfrm>
          <a:prstGeom prst="roundRect">
            <a:avLst>
              <a:gd name="adj" fmla="val 10000"/>
            </a:avLst>
          </a:prstGeom>
          <a:solidFill>
            <a:srgbClr val="FBF1DE"/>
          </a:solidFill>
          <a:ln w="25400">
            <a:solidFill>
              <a:srgbClr val="C77F0A"/>
            </a:solidFill>
            <a:prstDash val="solid"/>
          </a:ln>
        </p:spPr>
        <p:txBody>
          <a:bodyPr/>
          <a:lstStyle/>
          <a:p>
            <a:endParaRPr lang="es-CO"/>
          </a:p>
        </p:txBody>
      </p:sp>
      <p:sp>
        <p:nvSpPr>
          <p:cNvPr id="20" name="Text 18"/>
          <p:cNvSpPr txBox="1"/>
          <p:nvPr/>
        </p:nvSpPr>
        <p:spPr>
          <a:xfrm>
            <a:off x="6217920" y="3520440"/>
            <a:ext cx="3200400" cy="640080"/>
          </a:xfrm>
          <a:prstGeom prst="rect">
            <a:avLst/>
          </a:prstGeom>
          <a:noFill/>
          <a:ln/>
        </p:spPr>
        <p:txBody>
          <a:bodyPr wrap="square" lIns="635" tIns="635" rIns="635" bIns="635" rtlCol="0" anchor="ctr"/>
          <a:lstStyle/>
          <a:p>
            <a:pPr marL="0" indent="0" algn="ctr">
              <a:buNone/>
            </a:pPr>
            <a:r>
              <a:rPr lang="en-US" sz="950" b="1" dirty="0">
                <a:solidFill>
                  <a:srgbClr val="6B4300"/>
                </a:solidFill>
                <a:latin typeface="Courier New" pitchFamily="34" charset="0"/>
                <a:ea typeface="Courier New" pitchFamily="34" charset="-122"/>
                <a:cs typeface="Courier New" pitchFamily="34" charset="-120"/>
              </a:rPr>
              <a:t>horarios.notificaciones.miembros.queue</a:t>
            </a:r>
            <a:endParaRPr lang="en-US" sz="950" dirty="0"/>
          </a:p>
        </p:txBody>
      </p:sp>
      <p:sp>
        <p:nvSpPr>
          <p:cNvPr id="21" name="Shape 19"/>
          <p:cNvSpPr/>
          <p:nvPr/>
        </p:nvSpPr>
        <p:spPr>
          <a:xfrm>
            <a:off x="6217920" y="4480560"/>
            <a:ext cx="3200400" cy="640080"/>
          </a:xfrm>
          <a:prstGeom prst="roundRect">
            <a:avLst>
              <a:gd name="adj" fmla="val 10000"/>
            </a:avLst>
          </a:prstGeom>
          <a:solidFill>
            <a:srgbClr val="FBF1DE"/>
          </a:solidFill>
          <a:ln w="25400">
            <a:solidFill>
              <a:srgbClr val="C77F0A"/>
            </a:solidFill>
            <a:prstDash val="solid"/>
          </a:ln>
        </p:spPr>
        <p:txBody>
          <a:bodyPr/>
          <a:lstStyle/>
          <a:p>
            <a:endParaRPr lang="es-CO"/>
          </a:p>
        </p:txBody>
      </p:sp>
      <p:sp>
        <p:nvSpPr>
          <p:cNvPr id="22" name="Text 20"/>
          <p:cNvSpPr txBox="1"/>
          <p:nvPr/>
        </p:nvSpPr>
        <p:spPr>
          <a:xfrm>
            <a:off x="6217920" y="4480560"/>
            <a:ext cx="3200400" cy="640080"/>
          </a:xfrm>
          <a:prstGeom prst="rect">
            <a:avLst/>
          </a:prstGeom>
          <a:noFill/>
          <a:ln/>
        </p:spPr>
        <p:txBody>
          <a:bodyPr wrap="square" lIns="635" tIns="635" rIns="635" bIns="635" rtlCol="0" anchor="ctr"/>
          <a:lstStyle/>
          <a:p>
            <a:pPr marL="0" indent="0" algn="ctr">
              <a:buNone/>
            </a:pPr>
            <a:r>
              <a:rPr lang="en-US" sz="950" b="1" dirty="0">
                <a:solidFill>
                  <a:srgbClr val="6B4300"/>
                </a:solidFill>
                <a:latin typeface="Courier New" pitchFamily="34" charset="0"/>
                <a:ea typeface="Courier New" pitchFamily="34" charset="-122"/>
                <a:cs typeface="Courier New" pitchFamily="34" charset="-120"/>
              </a:rPr>
              <a:t>horarios.notificaciones.entrenadores.queue</a:t>
            </a:r>
            <a:endParaRPr lang="en-US" sz="950" dirty="0"/>
          </a:p>
        </p:txBody>
      </p:sp>
      <p:sp>
        <p:nvSpPr>
          <p:cNvPr id="23" name="Shape 21"/>
          <p:cNvSpPr/>
          <p:nvPr/>
        </p:nvSpPr>
        <p:spPr>
          <a:xfrm flipV="1">
            <a:off x="5669280" y="3840480"/>
            <a:ext cx="548640" cy="480060"/>
          </a:xfrm>
          <a:prstGeom prst="line">
            <a:avLst/>
          </a:prstGeom>
          <a:noFill/>
          <a:ln w="22225">
            <a:solidFill>
              <a:srgbClr val="6B7280"/>
            </a:solidFill>
            <a:prstDash val="solid"/>
            <a:tailEnd type="triangle"/>
          </a:ln>
        </p:spPr>
        <p:txBody>
          <a:bodyPr/>
          <a:lstStyle/>
          <a:p>
            <a:endParaRPr lang="es-CO"/>
          </a:p>
        </p:txBody>
      </p:sp>
      <p:sp>
        <p:nvSpPr>
          <p:cNvPr id="24" name="Shape 22"/>
          <p:cNvSpPr/>
          <p:nvPr/>
        </p:nvSpPr>
        <p:spPr>
          <a:xfrm>
            <a:off x="5669280" y="4320540"/>
            <a:ext cx="548640" cy="480060"/>
          </a:xfrm>
          <a:prstGeom prst="line">
            <a:avLst/>
          </a:prstGeom>
          <a:noFill/>
          <a:ln w="22225">
            <a:solidFill>
              <a:srgbClr val="6B7280"/>
            </a:solidFill>
            <a:prstDash val="solid"/>
            <a:tailEnd type="triangle"/>
          </a:ln>
        </p:spPr>
        <p:txBody>
          <a:bodyPr/>
          <a:lstStyle/>
          <a:p>
            <a:endParaRPr lang="es-CO"/>
          </a:p>
        </p:txBody>
      </p:sp>
      <p:sp>
        <p:nvSpPr>
          <p:cNvPr id="25" name="Shape 23"/>
          <p:cNvSpPr/>
          <p:nvPr/>
        </p:nvSpPr>
        <p:spPr>
          <a:xfrm>
            <a:off x="9601200" y="3520440"/>
            <a:ext cx="2011680" cy="640080"/>
          </a:xfrm>
          <a:prstGeom prst="roundRect">
            <a:avLst>
              <a:gd name="adj" fmla="val 10000"/>
            </a:avLst>
          </a:prstGeom>
          <a:solidFill>
            <a:srgbClr val="FFFFFF"/>
          </a:solidFill>
          <a:ln w="12700">
            <a:solidFill>
              <a:srgbClr val="1E2761"/>
            </a:solidFill>
            <a:prstDash val="solid"/>
          </a:ln>
        </p:spPr>
        <p:txBody>
          <a:bodyPr/>
          <a:lstStyle/>
          <a:p>
            <a:endParaRPr lang="es-CO"/>
          </a:p>
        </p:txBody>
      </p:sp>
      <p:sp>
        <p:nvSpPr>
          <p:cNvPr id="26" name="Text 24"/>
          <p:cNvSpPr txBox="1"/>
          <p:nvPr/>
        </p:nvSpPr>
        <p:spPr>
          <a:xfrm>
            <a:off x="9601200" y="3520440"/>
            <a:ext cx="2011680" cy="640080"/>
          </a:xfrm>
          <a:prstGeom prst="rect">
            <a:avLst/>
          </a:prstGeom>
          <a:noFill/>
          <a:ln/>
        </p:spPr>
        <p:txBody>
          <a:bodyPr wrap="square" lIns="635" tIns="635" rIns="635" bIns="635"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miembros-service</a:t>
            </a:r>
            <a:endParaRPr lang="en-US" sz="1200" dirty="0"/>
          </a:p>
        </p:txBody>
      </p:sp>
      <p:sp>
        <p:nvSpPr>
          <p:cNvPr id="27" name="Shape 25"/>
          <p:cNvSpPr/>
          <p:nvPr/>
        </p:nvSpPr>
        <p:spPr>
          <a:xfrm>
            <a:off x="9601200" y="4480560"/>
            <a:ext cx="2011680" cy="640080"/>
          </a:xfrm>
          <a:prstGeom prst="roundRect">
            <a:avLst>
              <a:gd name="adj" fmla="val 10000"/>
            </a:avLst>
          </a:prstGeom>
          <a:solidFill>
            <a:srgbClr val="FFFFFF"/>
          </a:solidFill>
          <a:ln w="12700">
            <a:solidFill>
              <a:srgbClr val="1E2761"/>
            </a:solidFill>
            <a:prstDash val="solid"/>
          </a:ln>
        </p:spPr>
        <p:txBody>
          <a:bodyPr/>
          <a:lstStyle/>
          <a:p>
            <a:endParaRPr lang="es-CO"/>
          </a:p>
        </p:txBody>
      </p:sp>
      <p:sp>
        <p:nvSpPr>
          <p:cNvPr id="28" name="Text 26"/>
          <p:cNvSpPr txBox="1"/>
          <p:nvPr/>
        </p:nvSpPr>
        <p:spPr>
          <a:xfrm>
            <a:off x="9601200" y="4480560"/>
            <a:ext cx="2011680" cy="640080"/>
          </a:xfrm>
          <a:prstGeom prst="rect">
            <a:avLst/>
          </a:prstGeom>
          <a:noFill/>
          <a:ln/>
        </p:spPr>
        <p:txBody>
          <a:bodyPr wrap="square" lIns="635" tIns="635" rIns="635" bIns="635"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entrenadores-service</a:t>
            </a:r>
            <a:endParaRPr lang="en-US" sz="1200" dirty="0"/>
          </a:p>
        </p:txBody>
      </p:sp>
      <p:sp>
        <p:nvSpPr>
          <p:cNvPr id="29" name="Shape 27"/>
          <p:cNvSpPr/>
          <p:nvPr/>
        </p:nvSpPr>
        <p:spPr>
          <a:xfrm>
            <a:off x="9418320" y="3840480"/>
            <a:ext cx="182880" cy="0"/>
          </a:xfrm>
          <a:prstGeom prst="line">
            <a:avLst/>
          </a:prstGeom>
          <a:noFill/>
          <a:ln w="22225">
            <a:solidFill>
              <a:srgbClr val="6B7280"/>
            </a:solidFill>
            <a:prstDash val="solid"/>
            <a:tailEnd type="triangle"/>
          </a:ln>
        </p:spPr>
        <p:txBody>
          <a:bodyPr/>
          <a:lstStyle/>
          <a:p>
            <a:endParaRPr lang="es-CO"/>
          </a:p>
        </p:txBody>
      </p:sp>
      <p:sp>
        <p:nvSpPr>
          <p:cNvPr id="30" name="Shape 28"/>
          <p:cNvSpPr/>
          <p:nvPr/>
        </p:nvSpPr>
        <p:spPr>
          <a:xfrm>
            <a:off x="9418320" y="4800600"/>
            <a:ext cx="182880" cy="0"/>
          </a:xfrm>
          <a:prstGeom prst="line">
            <a:avLst/>
          </a:prstGeom>
          <a:noFill/>
          <a:ln w="22225">
            <a:solidFill>
              <a:srgbClr val="6B7280"/>
            </a:solidFill>
            <a:prstDash val="solid"/>
            <a:tailEnd type="triangle"/>
          </a:ln>
        </p:spPr>
        <p:txBody>
          <a:bodyPr/>
          <a:lstStyle/>
          <a:p>
            <a:endParaRPr lang="es-CO"/>
          </a:p>
        </p:txBody>
      </p:sp>
      <p:sp>
        <p:nvSpPr>
          <p:cNvPr id="31" name="Text 29"/>
          <p:cNvSpPr txBox="1"/>
          <p:nvPr/>
        </p:nvSpPr>
        <p:spPr>
          <a:xfrm>
            <a:off x="548640" y="5577840"/>
            <a:ext cx="11064240" cy="548640"/>
          </a:xfrm>
          <a:prstGeom prst="rect">
            <a:avLst/>
          </a:prstGeom>
          <a:noFill/>
          <a:ln/>
        </p:spPr>
        <p:txBody>
          <a:bodyPr wrap="square" lIns="0" tIns="0" rIns="0" bIns="0" rtlCol="0" anchor="t"/>
          <a:lstStyle/>
          <a:p>
            <a:pPr marL="0" indent="0" algn="ctr">
              <a:buNone/>
            </a:pPr>
            <a:r>
              <a:rPr lang="en-US" sz="1350" i="1" dirty="0">
                <a:solidFill>
                  <a:srgbClr val="6B7280"/>
                </a:solidFill>
                <a:latin typeface="Calibri" pitchFamily="34" charset="0"/>
                <a:ea typeface="Calibri" pitchFamily="34" charset="-122"/>
                <a:cs typeface="Calibri" pitchFamily="34" charset="-120"/>
              </a:rPr>
              <a:t>Quien publica no espera al consumidor, ni sabe cuántos suscriptores hay: cada cola recibe su propia copia del evento.</a:t>
            </a:r>
            <a:endParaRPr lang="en-US" sz="1350" dirty="0"/>
          </a:p>
        </p:txBody>
      </p:sp>
      <p:sp>
        <p:nvSpPr>
          <p:cNvPr id="32" name="Text 30"/>
          <p:cNvSpPr txBox="1"/>
          <p:nvPr/>
        </p:nvSpPr>
        <p:spPr>
          <a:xfrm>
            <a:off x="10972800" y="6492240"/>
            <a:ext cx="685800" cy="22860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6 / 11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RABBITMQ  •  2 DE 2</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marL="0" indent="0">
              <a:buNone/>
            </a:pPr>
            <a:r>
              <a:rPr lang="en-US" sz="3200" b="1" dirty="0">
                <a:solidFill>
                  <a:srgbClr val="1E2761"/>
                </a:solidFill>
                <a:latin typeface="Cambria" pitchFamily="34" charset="0"/>
                <a:ea typeface="Cambria" pitchFamily="34" charset="-122"/>
                <a:cs typeface="Cambria" pitchFamily="34" charset="-120"/>
              </a:rPr>
              <a:t>Pagos con Dead Letter Queue</a:t>
            </a:r>
            <a:endParaRPr lang="en-US" sz="3200" dirty="0"/>
          </a:p>
        </p:txBody>
      </p:sp>
      <p:sp>
        <p:nvSpPr>
          <p:cNvPr id="4" name="Shape 2"/>
          <p:cNvSpPr/>
          <p:nvPr/>
        </p:nvSpPr>
        <p:spPr>
          <a:xfrm>
            <a:off x="548640" y="1828800"/>
            <a:ext cx="2377440" cy="868680"/>
          </a:xfrm>
          <a:prstGeom prst="roundRect">
            <a:avLst>
              <a:gd name="adj" fmla="val 7368"/>
            </a:avLst>
          </a:prstGeom>
          <a:solidFill>
            <a:srgbClr val="FFFFFF"/>
          </a:solidFill>
          <a:ln w="12700">
            <a:solidFill>
              <a:srgbClr val="1E2761"/>
            </a:solidFill>
            <a:prstDash val="solid"/>
          </a:ln>
        </p:spPr>
        <p:txBody>
          <a:bodyPr/>
          <a:lstStyle/>
          <a:p>
            <a:endParaRPr lang="es-CO"/>
          </a:p>
        </p:txBody>
      </p:sp>
      <p:sp>
        <p:nvSpPr>
          <p:cNvPr id="5" name="Text 3"/>
          <p:cNvSpPr txBox="1"/>
          <p:nvPr/>
        </p:nvSpPr>
        <p:spPr>
          <a:xfrm>
            <a:off x="548640" y="1828800"/>
            <a:ext cx="2377440" cy="868680"/>
          </a:xfrm>
          <a:prstGeom prst="rect">
            <a:avLst/>
          </a:prstGeom>
          <a:noFill/>
          <a:ln/>
        </p:spPr>
        <p:txBody>
          <a:bodyPr wrap="square" lIns="635" tIns="635" rIns="635" bIns="635"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POST /api/pagos</a:t>
            </a:r>
            <a:endParaRPr lang="en-US" sz="1150" dirty="0"/>
          </a:p>
          <a:p>
            <a:pPr marL="0" indent="0" algn="ctr">
              <a:buNone/>
            </a:pPr>
            <a:r>
              <a:rPr lang="en-US" sz="1150" b="1" dirty="0">
                <a:solidFill>
                  <a:srgbClr val="1E2761"/>
                </a:solidFill>
                <a:latin typeface="Calibri" pitchFamily="34" charset="0"/>
                <a:ea typeface="Calibri" pitchFamily="34" charset="-122"/>
                <a:cs typeface="Calibri" pitchFamily="34" charset="-120"/>
              </a:rPr>
              <a:t>responde 202: en_proceso</a:t>
            </a:r>
            <a:endParaRPr lang="en-US" sz="1150" dirty="0"/>
          </a:p>
        </p:txBody>
      </p:sp>
      <p:sp>
        <p:nvSpPr>
          <p:cNvPr id="6" name="Shape 4"/>
          <p:cNvSpPr/>
          <p:nvPr/>
        </p:nvSpPr>
        <p:spPr>
          <a:xfrm>
            <a:off x="2926080" y="2263140"/>
            <a:ext cx="640080" cy="0"/>
          </a:xfrm>
          <a:prstGeom prst="line">
            <a:avLst/>
          </a:prstGeom>
          <a:noFill/>
          <a:ln w="25400">
            <a:solidFill>
              <a:srgbClr val="6B7280"/>
            </a:solidFill>
            <a:prstDash val="solid"/>
            <a:tailEnd type="triangle"/>
          </a:ln>
        </p:spPr>
        <p:txBody>
          <a:bodyPr/>
          <a:lstStyle/>
          <a:p>
            <a:endParaRPr lang="es-CO"/>
          </a:p>
        </p:txBody>
      </p:sp>
      <p:sp>
        <p:nvSpPr>
          <p:cNvPr id="7" name="Shape 5"/>
          <p:cNvSpPr/>
          <p:nvPr/>
        </p:nvSpPr>
        <p:spPr>
          <a:xfrm>
            <a:off x="3566160" y="1737360"/>
            <a:ext cx="2834640" cy="1051560"/>
          </a:xfrm>
          <a:prstGeom prst="roundRect">
            <a:avLst>
              <a:gd name="adj" fmla="val 6087"/>
            </a:avLst>
          </a:prstGeom>
          <a:solidFill>
            <a:srgbClr val="FBF1DE"/>
          </a:solidFill>
          <a:ln w="25400">
            <a:solidFill>
              <a:srgbClr val="C77F0A"/>
            </a:solidFill>
            <a:prstDash val="solid"/>
          </a:ln>
        </p:spPr>
        <p:txBody>
          <a:bodyPr/>
          <a:lstStyle/>
          <a:p>
            <a:endParaRPr lang="es-CO"/>
          </a:p>
        </p:txBody>
      </p:sp>
      <p:sp>
        <p:nvSpPr>
          <p:cNvPr id="8" name="Text 6"/>
          <p:cNvSpPr txBox="1"/>
          <p:nvPr/>
        </p:nvSpPr>
        <p:spPr>
          <a:xfrm>
            <a:off x="3566160" y="1737360"/>
            <a:ext cx="2834640" cy="1051560"/>
          </a:xfrm>
          <a:prstGeom prst="rect">
            <a:avLst/>
          </a:prstGeom>
          <a:noFill/>
          <a:ln/>
        </p:spPr>
        <p:txBody>
          <a:bodyPr wrap="square" lIns="635" tIns="635" rIns="635" bIns="635" rtlCol="0" anchor="ctr"/>
          <a:lstStyle/>
          <a:p>
            <a:pPr marL="0" indent="0" algn="ctr">
              <a:buNone/>
            </a:pPr>
            <a:r>
              <a:rPr lang="en-US" sz="1050" b="1" dirty="0">
                <a:solidFill>
                  <a:srgbClr val="6B4300"/>
                </a:solidFill>
                <a:latin typeface="Calibri" pitchFamily="34" charset="0"/>
                <a:ea typeface="Calibri" pitchFamily="34" charset="-122"/>
                <a:cs typeface="Calibri" pitchFamily="34" charset="-120"/>
              </a:rPr>
              <a:t>pagos-queue</a:t>
            </a:r>
            <a:endParaRPr lang="en-US" sz="1050" dirty="0"/>
          </a:p>
          <a:p>
            <a:pPr marL="0" indent="0" algn="ctr">
              <a:buNone/>
            </a:pPr>
            <a:r>
              <a:rPr lang="en-US" sz="1050" b="1" dirty="0">
                <a:solidFill>
                  <a:srgbClr val="6B4300"/>
                </a:solidFill>
                <a:latin typeface="Calibri" pitchFamily="34" charset="0"/>
                <a:ea typeface="Calibri" pitchFamily="34" charset="-122"/>
                <a:cs typeface="Calibri" pitchFamily="34" charset="-120"/>
              </a:rPr>
              <a:t>durable, TTL 30 s</a:t>
            </a:r>
            <a:endParaRPr lang="en-US" sz="1050" dirty="0"/>
          </a:p>
          <a:p>
            <a:pPr marL="0" indent="0" algn="ctr">
              <a:buNone/>
            </a:pPr>
            <a:r>
              <a:rPr lang="en-US" sz="1050" b="1" dirty="0">
                <a:solidFill>
                  <a:srgbClr val="6B4300"/>
                </a:solidFill>
                <a:latin typeface="Calibri" pitchFamily="34" charset="0"/>
                <a:ea typeface="Calibri" pitchFamily="34" charset="-122"/>
                <a:cs typeface="Calibri" pitchFamily="34" charset="-120"/>
              </a:rPr>
              <a:t>con dead-letter a pagos-dlq</a:t>
            </a:r>
            <a:endParaRPr lang="en-US" sz="1050" dirty="0"/>
          </a:p>
        </p:txBody>
      </p:sp>
      <p:sp>
        <p:nvSpPr>
          <p:cNvPr id="9" name="Shape 7"/>
          <p:cNvSpPr/>
          <p:nvPr/>
        </p:nvSpPr>
        <p:spPr>
          <a:xfrm>
            <a:off x="6400800" y="2263140"/>
            <a:ext cx="640080" cy="0"/>
          </a:xfrm>
          <a:prstGeom prst="line">
            <a:avLst/>
          </a:prstGeom>
          <a:noFill/>
          <a:ln w="25400">
            <a:solidFill>
              <a:srgbClr val="6B7280"/>
            </a:solidFill>
            <a:prstDash val="solid"/>
            <a:tailEnd type="triangle"/>
          </a:ln>
        </p:spPr>
        <p:txBody>
          <a:bodyPr/>
          <a:lstStyle/>
          <a:p>
            <a:endParaRPr lang="es-CO"/>
          </a:p>
        </p:txBody>
      </p:sp>
      <p:sp>
        <p:nvSpPr>
          <p:cNvPr id="10" name="Shape 8"/>
          <p:cNvSpPr/>
          <p:nvPr/>
        </p:nvSpPr>
        <p:spPr>
          <a:xfrm>
            <a:off x="7040880" y="1828800"/>
            <a:ext cx="2011680" cy="868680"/>
          </a:xfrm>
          <a:prstGeom prst="roundRect">
            <a:avLst>
              <a:gd name="adj" fmla="val 7368"/>
            </a:avLst>
          </a:prstGeom>
          <a:solidFill>
            <a:srgbClr val="FFFFFF"/>
          </a:solidFill>
          <a:ln w="12700">
            <a:solidFill>
              <a:srgbClr val="1E2761"/>
            </a:solidFill>
            <a:prstDash val="solid"/>
          </a:ln>
        </p:spPr>
        <p:txBody>
          <a:bodyPr/>
          <a:lstStyle/>
          <a:p>
            <a:endParaRPr lang="es-CO"/>
          </a:p>
        </p:txBody>
      </p:sp>
      <p:sp>
        <p:nvSpPr>
          <p:cNvPr id="11" name="Text 9"/>
          <p:cNvSpPr txBox="1"/>
          <p:nvPr/>
        </p:nvSpPr>
        <p:spPr>
          <a:xfrm>
            <a:off x="7040880" y="1828800"/>
            <a:ext cx="2011680" cy="868680"/>
          </a:xfrm>
          <a:prstGeom prst="rect">
            <a:avLst/>
          </a:prstGeom>
          <a:noFill/>
          <a:ln/>
        </p:spPr>
        <p:txBody>
          <a:bodyPr wrap="square" lIns="635" tIns="635" rIns="635" bIns="635" rtlCol="0" anchor="ctr"/>
          <a:lstStyle/>
          <a:p>
            <a:pPr marL="0" indent="0" algn="ctr">
              <a:buNone/>
            </a:pPr>
            <a:r>
              <a:rPr lang="en-US" sz="1200" b="1" dirty="0">
                <a:solidFill>
                  <a:srgbClr val="1E2761"/>
                </a:solidFill>
                <a:latin typeface="Calibri" pitchFamily="34" charset="0"/>
                <a:ea typeface="Calibri" pitchFamily="34" charset="-122"/>
                <a:cs typeface="Calibri" pitchFamily="34" charset="-120"/>
              </a:rPr>
              <a:t>PagoService</a:t>
            </a:r>
            <a:endParaRPr lang="en-US" sz="1200" dirty="0"/>
          </a:p>
          <a:p>
            <a:pPr marL="0" indent="0" algn="ctr">
              <a:buNone/>
            </a:pPr>
            <a:r>
              <a:rPr lang="en-US" sz="1200" b="1" dirty="0">
                <a:solidFill>
                  <a:srgbClr val="1E2761"/>
                </a:solidFill>
                <a:latin typeface="Calibri" pitchFamily="34" charset="0"/>
                <a:ea typeface="Calibri" pitchFamily="34" charset="-122"/>
                <a:cs typeface="Calibri" pitchFamily="34" charset="-120"/>
              </a:rPr>
              <a:t>(consumidor)</a:t>
            </a:r>
            <a:endParaRPr lang="en-US" sz="1200" dirty="0"/>
          </a:p>
        </p:txBody>
      </p:sp>
      <p:sp>
        <p:nvSpPr>
          <p:cNvPr id="12" name="Shape 10"/>
          <p:cNvSpPr/>
          <p:nvPr/>
        </p:nvSpPr>
        <p:spPr>
          <a:xfrm>
            <a:off x="9052560" y="2011680"/>
            <a:ext cx="640080" cy="0"/>
          </a:xfrm>
          <a:prstGeom prst="line">
            <a:avLst/>
          </a:prstGeom>
          <a:noFill/>
          <a:ln w="25400">
            <a:solidFill>
              <a:srgbClr val="2E9E5B"/>
            </a:solidFill>
            <a:prstDash val="solid"/>
            <a:tailEnd type="triangle"/>
          </a:ln>
        </p:spPr>
        <p:txBody>
          <a:bodyPr/>
          <a:lstStyle/>
          <a:p>
            <a:endParaRPr lang="es-CO"/>
          </a:p>
        </p:txBody>
      </p:sp>
      <p:sp>
        <p:nvSpPr>
          <p:cNvPr id="13" name="Shape 11"/>
          <p:cNvSpPr/>
          <p:nvPr/>
        </p:nvSpPr>
        <p:spPr>
          <a:xfrm>
            <a:off x="9692640" y="1691640"/>
            <a:ext cx="1920240" cy="640080"/>
          </a:xfrm>
          <a:prstGeom prst="roundRect">
            <a:avLst>
              <a:gd name="adj" fmla="val 10000"/>
            </a:avLst>
          </a:prstGeom>
          <a:solidFill>
            <a:srgbClr val="E3F4EA"/>
          </a:solidFill>
          <a:ln w="12700">
            <a:solidFill>
              <a:srgbClr val="2E9E5B"/>
            </a:solidFill>
            <a:prstDash val="solid"/>
          </a:ln>
        </p:spPr>
        <p:txBody>
          <a:bodyPr/>
          <a:lstStyle/>
          <a:p>
            <a:endParaRPr lang="es-CO"/>
          </a:p>
        </p:txBody>
      </p:sp>
      <p:sp>
        <p:nvSpPr>
          <p:cNvPr id="14" name="Text 12"/>
          <p:cNvSpPr txBox="1"/>
          <p:nvPr/>
        </p:nvSpPr>
        <p:spPr>
          <a:xfrm>
            <a:off x="9692640" y="1691640"/>
            <a:ext cx="1920240" cy="640080"/>
          </a:xfrm>
          <a:prstGeom prst="rect">
            <a:avLst/>
          </a:prstGeom>
          <a:noFill/>
          <a:ln/>
        </p:spPr>
        <p:txBody>
          <a:bodyPr wrap="square" lIns="635" tIns="635" rIns="635" bIns="635" rtlCol="0" anchor="ctr"/>
          <a:lstStyle/>
          <a:p>
            <a:pPr marL="0" indent="0" algn="ctr">
              <a:buNone/>
            </a:pPr>
            <a:r>
              <a:rPr lang="en-US" sz="1050" b="1" dirty="0">
                <a:solidFill>
                  <a:srgbClr val="1F6B3A"/>
                </a:solidFill>
                <a:latin typeface="Calibri" pitchFamily="34" charset="0"/>
                <a:ea typeface="Calibri" pitchFamily="34" charset="-122"/>
                <a:cs typeface="Calibri" pitchFamily="34" charset="-120"/>
              </a:rPr>
              <a:t>monto válido:</a:t>
            </a:r>
            <a:endParaRPr lang="en-US" sz="1050" dirty="0"/>
          </a:p>
          <a:p>
            <a:pPr marL="0" indent="0" algn="ctr">
              <a:buNone/>
            </a:pPr>
            <a:r>
              <a:rPr lang="en-US" sz="1050" b="1" dirty="0">
                <a:solidFill>
                  <a:srgbClr val="1F6B3A"/>
                </a:solidFill>
                <a:latin typeface="Calibri" pitchFamily="34" charset="0"/>
                <a:ea typeface="Calibri" pitchFamily="34" charset="-122"/>
                <a:cs typeface="Calibri" pitchFamily="34" charset="-120"/>
              </a:rPr>
              <a:t>procesado</a:t>
            </a:r>
            <a:endParaRPr lang="en-US" sz="1050" dirty="0"/>
          </a:p>
        </p:txBody>
      </p:sp>
      <p:sp>
        <p:nvSpPr>
          <p:cNvPr id="15" name="Shape 13"/>
          <p:cNvSpPr/>
          <p:nvPr/>
        </p:nvSpPr>
        <p:spPr>
          <a:xfrm>
            <a:off x="9052560" y="2514600"/>
            <a:ext cx="640080" cy="548640"/>
          </a:xfrm>
          <a:prstGeom prst="line">
            <a:avLst/>
          </a:prstGeom>
          <a:noFill/>
          <a:ln w="25400">
            <a:solidFill>
              <a:srgbClr val="FF6B4A"/>
            </a:solidFill>
            <a:prstDash val="solid"/>
            <a:tailEnd type="triangle"/>
          </a:ln>
        </p:spPr>
        <p:txBody>
          <a:bodyPr/>
          <a:lstStyle/>
          <a:p>
            <a:endParaRPr lang="es-CO"/>
          </a:p>
        </p:txBody>
      </p:sp>
      <p:sp>
        <p:nvSpPr>
          <p:cNvPr id="16" name="Shape 14"/>
          <p:cNvSpPr/>
          <p:nvPr/>
        </p:nvSpPr>
        <p:spPr>
          <a:xfrm>
            <a:off x="9692640" y="2743200"/>
            <a:ext cx="1920240" cy="685800"/>
          </a:xfrm>
          <a:prstGeom prst="roundRect">
            <a:avLst>
              <a:gd name="adj" fmla="val 9333"/>
            </a:avLst>
          </a:prstGeom>
          <a:solidFill>
            <a:srgbClr val="FDECEA"/>
          </a:solidFill>
          <a:ln w="12700">
            <a:solidFill>
              <a:srgbClr val="FF6B4A"/>
            </a:solidFill>
            <a:prstDash val="solid"/>
          </a:ln>
        </p:spPr>
        <p:txBody>
          <a:bodyPr/>
          <a:lstStyle/>
          <a:p>
            <a:endParaRPr lang="es-CO"/>
          </a:p>
        </p:txBody>
      </p:sp>
      <p:sp>
        <p:nvSpPr>
          <p:cNvPr id="17" name="Text 15"/>
          <p:cNvSpPr txBox="1"/>
          <p:nvPr/>
        </p:nvSpPr>
        <p:spPr>
          <a:xfrm>
            <a:off x="9692640" y="2743200"/>
            <a:ext cx="1920240" cy="685800"/>
          </a:xfrm>
          <a:prstGeom prst="rect">
            <a:avLst/>
          </a:prstGeom>
          <a:noFill/>
          <a:ln/>
        </p:spPr>
        <p:txBody>
          <a:bodyPr wrap="square" lIns="635" tIns="635" rIns="635" bIns="635" rtlCol="0" anchor="ctr"/>
          <a:lstStyle/>
          <a:p>
            <a:pPr marL="0" indent="0" algn="ctr">
              <a:buNone/>
            </a:pPr>
            <a:r>
              <a:rPr lang="en-US" sz="1050" b="1" dirty="0">
                <a:solidFill>
                  <a:srgbClr val="9E2B1F"/>
                </a:solidFill>
                <a:latin typeface="Calibri" pitchFamily="34" charset="0"/>
                <a:ea typeface="Calibri" pitchFamily="34" charset="-122"/>
                <a:cs typeface="Calibri" pitchFamily="34" charset="-120"/>
              </a:rPr>
              <a:t>monto inválido:</a:t>
            </a:r>
            <a:endParaRPr lang="en-US" sz="1050" dirty="0"/>
          </a:p>
          <a:p>
            <a:pPr marL="0" indent="0" algn="ctr">
              <a:buNone/>
            </a:pPr>
            <a:r>
              <a:rPr lang="en-US" sz="1050" b="1" dirty="0">
                <a:solidFill>
                  <a:srgbClr val="9E2B1F"/>
                </a:solidFill>
                <a:latin typeface="Calibri" pitchFamily="34" charset="0"/>
                <a:ea typeface="Calibri" pitchFamily="34" charset="-122"/>
                <a:cs typeface="Calibri" pitchFamily="34" charset="-120"/>
              </a:rPr>
              <a:t>rechazado sin reencolar</a:t>
            </a:r>
            <a:endParaRPr lang="en-US" sz="1050" dirty="0"/>
          </a:p>
        </p:txBody>
      </p:sp>
      <p:sp>
        <p:nvSpPr>
          <p:cNvPr id="18" name="Shape 16"/>
          <p:cNvSpPr/>
          <p:nvPr/>
        </p:nvSpPr>
        <p:spPr>
          <a:xfrm>
            <a:off x="10652760" y="3429000"/>
            <a:ext cx="0" cy="457200"/>
          </a:xfrm>
          <a:prstGeom prst="line">
            <a:avLst/>
          </a:prstGeom>
          <a:noFill/>
          <a:ln w="25400">
            <a:solidFill>
              <a:srgbClr val="FF6B4A"/>
            </a:solidFill>
            <a:prstDash val="solid"/>
            <a:tailEnd type="triangle"/>
          </a:ln>
        </p:spPr>
        <p:txBody>
          <a:bodyPr/>
          <a:lstStyle/>
          <a:p>
            <a:endParaRPr lang="es-CO"/>
          </a:p>
        </p:txBody>
      </p:sp>
      <p:sp>
        <p:nvSpPr>
          <p:cNvPr id="19" name="Shape 17"/>
          <p:cNvSpPr/>
          <p:nvPr/>
        </p:nvSpPr>
        <p:spPr>
          <a:xfrm>
            <a:off x="7772400" y="3886200"/>
            <a:ext cx="3840480" cy="548640"/>
          </a:xfrm>
          <a:prstGeom prst="roundRect">
            <a:avLst>
              <a:gd name="adj" fmla="val 11667"/>
            </a:avLst>
          </a:prstGeom>
          <a:solidFill>
            <a:srgbClr val="1E2761"/>
          </a:solidFill>
          <a:ln w="12700">
            <a:solidFill>
              <a:srgbClr val="1E2761"/>
            </a:solidFill>
            <a:prstDash val="solid"/>
          </a:ln>
        </p:spPr>
        <p:txBody>
          <a:bodyPr/>
          <a:lstStyle/>
          <a:p>
            <a:endParaRPr lang="es-CO"/>
          </a:p>
        </p:txBody>
      </p:sp>
      <p:sp>
        <p:nvSpPr>
          <p:cNvPr id="20" name="Text 18"/>
          <p:cNvSpPr txBox="1"/>
          <p:nvPr/>
        </p:nvSpPr>
        <p:spPr>
          <a:xfrm>
            <a:off x="7772400" y="3886200"/>
            <a:ext cx="3840480" cy="548640"/>
          </a:xfrm>
          <a:prstGeom prst="rect">
            <a:avLst/>
          </a:prstGeom>
          <a:noFill/>
          <a:ln/>
        </p:spPr>
        <p:txBody>
          <a:bodyPr wrap="square" lIns="635" tIns="635" rIns="635" bIns="635"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pagos-dlq  →  PagoDLQService</a:t>
            </a:r>
            <a:endParaRPr lang="en-US" sz="1150" dirty="0"/>
          </a:p>
        </p:txBody>
      </p:sp>
      <p:sp>
        <p:nvSpPr>
          <p:cNvPr id="21" name="Shape 19"/>
          <p:cNvSpPr/>
          <p:nvPr/>
        </p:nvSpPr>
        <p:spPr>
          <a:xfrm>
            <a:off x="548640" y="2971800"/>
            <a:ext cx="6949440" cy="2514600"/>
          </a:xfrm>
          <a:prstGeom prst="roundRect">
            <a:avLst>
              <a:gd name="adj" fmla="val 3273"/>
            </a:avLst>
          </a:prstGeom>
          <a:solidFill>
            <a:srgbClr val="141B49"/>
          </a:solidFill>
          <a:ln/>
        </p:spPr>
        <p:txBody>
          <a:bodyPr/>
          <a:lstStyle/>
          <a:p>
            <a:endParaRPr lang="es-CO"/>
          </a:p>
        </p:txBody>
      </p:sp>
      <p:sp>
        <p:nvSpPr>
          <p:cNvPr id="22" name="Text 20"/>
          <p:cNvSpPr txBox="1"/>
          <p:nvPr/>
        </p:nvSpPr>
        <p:spPr>
          <a:xfrm>
            <a:off x="777240" y="3108960"/>
            <a:ext cx="5486400" cy="228600"/>
          </a:xfrm>
          <a:prstGeom prst="rect">
            <a:avLst/>
          </a:prstGeom>
          <a:noFill/>
          <a:ln/>
        </p:spPr>
        <p:txBody>
          <a:bodyPr wrap="square" lIns="0" tIns="0" rIns="0" bIns="0" rtlCol="0" anchor="ctr"/>
          <a:lstStyle/>
          <a:p>
            <a:pPr marL="0" indent="0">
              <a:buNone/>
            </a:pPr>
            <a:r>
              <a:rPr lang="en-US" sz="1000" b="1" kern="0" spc="150" dirty="0">
                <a:solidFill>
                  <a:srgbClr val="CADCFC"/>
                </a:solidFill>
                <a:latin typeface="Calibri" pitchFamily="34" charset="0"/>
                <a:ea typeface="Calibri" pitchFamily="34" charset="-122"/>
                <a:cs typeface="Calibri" pitchFamily="34" charset="-120"/>
              </a:rPr>
              <a:t>LOG REAL DE MIEMBROS-SERVICE</a:t>
            </a:r>
            <a:endParaRPr lang="en-US" sz="1000" dirty="0"/>
          </a:p>
        </p:txBody>
      </p:sp>
      <p:sp>
        <p:nvSpPr>
          <p:cNvPr id="23" name="Text 21"/>
          <p:cNvSpPr txBox="1"/>
          <p:nvPr/>
        </p:nvSpPr>
        <p:spPr>
          <a:xfrm>
            <a:off x="777240" y="3520440"/>
            <a:ext cx="1371600" cy="365760"/>
          </a:xfrm>
          <a:prstGeom prst="rect">
            <a:avLst/>
          </a:prstGeom>
          <a:noFill/>
          <a:ln/>
        </p:spPr>
        <p:txBody>
          <a:bodyPr wrap="square" lIns="0" tIns="0" rIns="0" bIns="0" rtlCol="0" anchor="ctr"/>
          <a:lstStyle/>
          <a:p>
            <a:pPr marL="0" indent="0">
              <a:buNone/>
            </a:pPr>
            <a:r>
              <a:rPr lang="en-US" sz="1100" dirty="0">
                <a:solidFill>
                  <a:srgbClr val="8A93C7"/>
                </a:solidFill>
                <a:latin typeface="Courier New" pitchFamily="34" charset="0"/>
                <a:ea typeface="Courier New" pitchFamily="34" charset="-122"/>
                <a:cs typeface="Courier New" pitchFamily="34" charset="-120"/>
              </a:rPr>
              <a:t>17:58:39.202</a:t>
            </a:r>
            <a:endParaRPr lang="en-US" sz="1100" dirty="0"/>
          </a:p>
        </p:txBody>
      </p:sp>
      <p:sp>
        <p:nvSpPr>
          <p:cNvPr id="24" name="Text 22"/>
          <p:cNvSpPr txBox="1"/>
          <p:nvPr/>
        </p:nvSpPr>
        <p:spPr>
          <a:xfrm>
            <a:off x="2194560" y="3520440"/>
            <a:ext cx="5212080" cy="365760"/>
          </a:xfrm>
          <a:prstGeom prst="rect">
            <a:avLst/>
          </a:prstGeom>
          <a:noFill/>
          <a:ln/>
        </p:spPr>
        <p:txBody>
          <a:bodyPr wrap="square" lIns="0" tIns="0" rIns="0" bIns="0" rtlCol="0" anchor="ctr"/>
          <a:lstStyle/>
          <a:p>
            <a:pPr marL="0" indent="0">
              <a:buNone/>
            </a:pPr>
            <a:r>
              <a:rPr lang="en-US" sz="1050" dirty="0">
                <a:solidFill>
                  <a:srgbClr val="9BE3B0"/>
                </a:solidFill>
                <a:latin typeface="Courier New" pitchFamily="34" charset="0"/>
                <a:ea typeface="Courier New" pitchFamily="34" charset="-122"/>
                <a:cs typeface="Courier New" pitchFamily="34" charset="-120"/>
              </a:rPr>
              <a:t>Pago 0353d255 procesado exitosamente (monto=50000)</a:t>
            </a:r>
            <a:endParaRPr lang="en-US" sz="1050" dirty="0"/>
          </a:p>
        </p:txBody>
      </p:sp>
      <p:sp>
        <p:nvSpPr>
          <p:cNvPr id="25" name="Text 23"/>
          <p:cNvSpPr txBox="1"/>
          <p:nvPr/>
        </p:nvSpPr>
        <p:spPr>
          <a:xfrm>
            <a:off x="777240" y="3977640"/>
            <a:ext cx="1371600" cy="365760"/>
          </a:xfrm>
          <a:prstGeom prst="rect">
            <a:avLst/>
          </a:prstGeom>
          <a:noFill/>
          <a:ln/>
        </p:spPr>
        <p:txBody>
          <a:bodyPr wrap="square" lIns="0" tIns="0" rIns="0" bIns="0" rtlCol="0" anchor="ctr"/>
          <a:lstStyle/>
          <a:p>
            <a:pPr marL="0" indent="0">
              <a:buNone/>
            </a:pPr>
            <a:r>
              <a:rPr lang="en-US" sz="1100" dirty="0">
                <a:solidFill>
                  <a:srgbClr val="8A93C7"/>
                </a:solidFill>
                <a:latin typeface="Courier New" pitchFamily="34" charset="0"/>
                <a:ea typeface="Courier New" pitchFamily="34" charset="-122"/>
                <a:cs typeface="Courier New" pitchFamily="34" charset="-120"/>
              </a:rPr>
              <a:t>17:58:42.554</a:t>
            </a:r>
            <a:endParaRPr lang="en-US" sz="1100" dirty="0"/>
          </a:p>
        </p:txBody>
      </p:sp>
      <p:sp>
        <p:nvSpPr>
          <p:cNvPr id="26" name="Text 24"/>
          <p:cNvSpPr txBox="1"/>
          <p:nvPr/>
        </p:nvSpPr>
        <p:spPr>
          <a:xfrm>
            <a:off x="2194560" y="3977640"/>
            <a:ext cx="5212080" cy="365760"/>
          </a:xfrm>
          <a:prstGeom prst="rect">
            <a:avLst/>
          </a:prstGeom>
          <a:noFill/>
          <a:ln/>
        </p:spPr>
        <p:txBody>
          <a:bodyPr wrap="square" lIns="0" tIns="0" rIns="0" bIns="0" rtlCol="0" anchor="ctr"/>
          <a:lstStyle/>
          <a:p>
            <a:pPr marL="0" indent="0">
              <a:buNone/>
            </a:pPr>
            <a:r>
              <a:rPr lang="en-US" sz="1050" dirty="0">
                <a:solidFill>
                  <a:srgbClr val="FFB199"/>
                </a:solidFill>
                <a:latin typeface="Courier New" pitchFamily="34" charset="0"/>
                <a:ea typeface="Courier New" pitchFamily="34" charset="-122"/>
                <a:cs typeface="Courier New" pitchFamily="34" charset="-120"/>
              </a:rPr>
              <a:t>Error procesando el pago 7cb82aff. Se envía a la DLQ.</a:t>
            </a:r>
            <a:endParaRPr lang="en-US" sz="1050" dirty="0"/>
          </a:p>
        </p:txBody>
      </p:sp>
      <p:sp>
        <p:nvSpPr>
          <p:cNvPr id="27" name="Text 25"/>
          <p:cNvSpPr txBox="1"/>
          <p:nvPr/>
        </p:nvSpPr>
        <p:spPr>
          <a:xfrm>
            <a:off x="777240" y="4434840"/>
            <a:ext cx="1371600" cy="365760"/>
          </a:xfrm>
          <a:prstGeom prst="rect">
            <a:avLst/>
          </a:prstGeom>
          <a:noFill/>
          <a:ln/>
        </p:spPr>
        <p:txBody>
          <a:bodyPr wrap="square" lIns="0" tIns="0" rIns="0" bIns="0" rtlCol="0" anchor="ctr"/>
          <a:lstStyle/>
          <a:p>
            <a:pPr marL="0" indent="0">
              <a:buNone/>
            </a:pPr>
            <a:r>
              <a:rPr lang="en-US" sz="1100" dirty="0">
                <a:solidFill>
                  <a:srgbClr val="8A93C7"/>
                </a:solidFill>
                <a:latin typeface="Courier New" pitchFamily="34" charset="0"/>
                <a:ea typeface="Courier New" pitchFamily="34" charset="-122"/>
                <a:cs typeface="Courier New" pitchFamily="34" charset="-120"/>
              </a:rPr>
              <a:t>17:58:42.564</a:t>
            </a:r>
            <a:endParaRPr lang="en-US" sz="1100" dirty="0"/>
          </a:p>
        </p:txBody>
      </p:sp>
      <p:sp>
        <p:nvSpPr>
          <p:cNvPr id="28" name="Text 26"/>
          <p:cNvSpPr txBox="1"/>
          <p:nvPr/>
        </p:nvSpPr>
        <p:spPr>
          <a:xfrm>
            <a:off x="2194560" y="4434840"/>
            <a:ext cx="5212080" cy="365760"/>
          </a:xfrm>
          <a:prstGeom prst="rect">
            <a:avLst/>
          </a:prstGeom>
          <a:noFill/>
          <a:ln/>
        </p:spPr>
        <p:txBody>
          <a:bodyPr wrap="square" lIns="0" tIns="0" rIns="0" bIns="0" rtlCol="0" anchor="ctr"/>
          <a:lstStyle/>
          <a:p>
            <a:pPr marL="0" indent="0">
              <a:buNone/>
            </a:pPr>
            <a:r>
              <a:rPr lang="en-US" sz="1050" dirty="0">
                <a:solidFill>
                  <a:srgbClr val="FF8A6E"/>
                </a:solidFill>
                <a:latin typeface="Courier New" pitchFamily="34" charset="0"/>
                <a:ea typeface="Courier New" pitchFamily="34" charset="-122"/>
                <a:cs typeface="Courier New" pitchFamily="34" charset="-120"/>
              </a:rPr>
              <a:t>Pago 7cb82aff requiere atención manual (monto=-100)</a:t>
            </a:r>
            <a:endParaRPr lang="en-US" sz="1050" dirty="0"/>
          </a:p>
        </p:txBody>
      </p:sp>
      <p:sp>
        <p:nvSpPr>
          <p:cNvPr id="29" name="Text 27"/>
          <p:cNvSpPr txBox="1"/>
          <p:nvPr/>
        </p:nvSpPr>
        <p:spPr>
          <a:xfrm>
            <a:off x="777240" y="4937760"/>
            <a:ext cx="6492240" cy="457200"/>
          </a:xfrm>
          <a:prstGeom prst="rect">
            <a:avLst/>
          </a:prstGeom>
          <a:noFill/>
          <a:ln/>
        </p:spPr>
        <p:txBody>
          <a:bodyPr wrap="square" lIns="0" tIns="0" rIns="0" bIns="0" rtlCol="0" anchor="t"/>
          <a:lstStyle/>
          <a:p>
            <a:pPr marL="0" indent="0">
              <a:buNone/>
            </a:pPr>
            <a:r>
              <a:rPr lang="en-US" sz="1150" i="1" dirty="0">
                <a:solidFill>
                  <a:srgbClr val="CADCFC"/>
                </a:solidFill>
                <a:latin typeface="Calibri" pitchFamily="34" charset="0"/>
                <a:ea typeface="Calibri" pitchFamily="34" charset="-122"/>
                <a:cs typeface="Calibri" pitchFamily="34" charset="-120"/>
              </a:rPr>
              <a:t>Diez milisegundos separan el rechazo de la llegada a la DLQ, y RabbitMQ lo hace solo, sin código de reenvío.</a:t>
            </a:r>
            <a:endParaRPr lang="en-US" sz="1150" dirty="0"/>
          </a:p>
        </p:txBody>
      </p:sp>
      <p:sp>
        <p:nvSpPr>
          <p:cNvPr id="30" name="Shape 28"/>
          <p:cNvSpPr/>
          <p:nvPr/>
        </p:nvSpPr>
        <p:spPr>
          <a:xfrm>
            <a:off x="7772400" y="4617720"/>
            <a:ext cx="3840480" cy="868680"/>
          </a:xfrm>
          <a:prstGeom prst="roundRect">
            <a:avLst>
              <a:gd name="adj" fmla="val 9474"/>
            </a:avLst>
          </a:prstGeom>
          <a:solidFill>
            <a:srgbClr val="F4F6FB"/>
          </a:solidFill>
          <a:ln/>
        </p:spPr>
        <p:txBody>
          <a:bodyPr/>
          <a:lstStyle/>
          <a:p>
            <a:endParaRPr lang="es-CO"/>
          </a:p>
        </p:txBody>
      </p:sp>
      <p:sp>
        <p:nvSpPr>
          <p:cNvPr id="31" name="Text 29"/>
          <p:cNvSpPr txBox="1"/>
          <p:nvPr/>
        </p:nvSpPr>
        <p:spPr>
          <a:xfrm>
            <a:off x="7955280" y="4663440"/>
            <a:ext cx="3474720" cy="777240"/>
          </a:xfrm>
          <a:prstGeom prst="rect">
            <a:avLst/>
          </a:prstGeom>
          <a:noFill/>
          <a:ln/>
        </p:spPr>
        <p:txBody>
          <a:bodyPr wrap="square" lIns="0" tIns="0" rIns="0" bIns="0" rtlCol="0" anchor="ctr"/>
          <a:lstStyle/>
          <a:p>
            <a:pPr marL="0" indent="0">
              <a:buNone/>
            </a:pPr>
            <a:r>
              <a:rPr lang="en-US" sz="1200" dirty="0">
                <a:solidFill>
                  <a:srgbClr val="20263B"/>
                </a:solidFill>
                <a:latin typeface="Calibri" pitchFamily="34" charset="0"/>
                <a:ea typeface="Calibri" pitchFamily="34" charset="-122"/>
                <a:cs typeface="Calibri" pitchFamily="34" charset="-120"/>
              </a:rPr>
              <a:t>Antes de la DLQ, el pago se reintenta 3 veces con una pausa corta entre intentos.</a:t>
            </a:r>
            <a:endParaRPr lang="en-US" sz="1200" dirty="0"/>
          </a:p>
        </p:txBody>
      </p:sp>
      <p:sp>
        <p:nvSpPr>
          <p:cNvPr id="32" name="Text 30"/>
          <p:cNvSpPr txBox="1"/>
          <p:nvPr/>
        </p:nvSpPr>
        <p:spPr>
          <a:xfrm>
            <a:off x="10972800" y="6492240"/>
            <a:ext cx="685800" cy="22860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7 / 11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KAFKA  •  1 DE 2</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marL="0" indent="0">
              <a:buNone/>
            </a:pPr>
            <a:r>
              <a:rPr lang="en-US" sz="3200" b="1" dirty="0">
                <a:solidFill>
                  <a:srgbClr val="1E2761"/>
                </a:solidFill>
                <a:latin typeface="Cambria" pitchFamily="34" charset="0"/>
                <a:ea typeface="Cambria" pitchFamily="34" charset="-122"/>
                <a:cs typeface="Cambria" pitchFamily="34" charset="-120"/>
              </a:rPr>
              <a:t>Dos flujos de eventos y su resultado</a:t>
            </a:r>
            <a:endParaRPr lang="en-US" sz="3200" dirty="0"/>
          </a:p>
        </p:txBody>
      </p:sp>
      <p:sp>
        <p:nvSpPr>
          <p:cNvPr id="4" name="Text 2"/>
          <p:cNvSpPr txBox="1"/>
          <p:nvPr/>
        </p:nvSpPr>
        <p:spPr>
          <a:xfrm>
            <a:off x="548640" y="1572768"/>
            <a:ext cx="7315200" cy="228600"/>
          </a:xfrm>
          <a:prstGeom prst="rect">
            <a:avLst/>
          </a:prstGeom>
          <a:noFill/>
          <a:ln/>
        </p:spPr>
        <p:txBody>
          <a:bodyPr wrap="square" lIns="0" tIns="0" rIns="0" bIns="0" rtlCol="0" anchor="ctr"/>
          <a:lstStyle/>
          <a:p>
            <a:pPr marL="0" indent="0">
              <a:buNone/>
            </a:pPr>
            <a:r>
              <a:rPr lang="en-US" sz="1050" b="1" kern="0" spc="150" dirty="0">
                <a:solidFill>
                  <a:srgbClr val="6A4FE6"/>
                </a:solidFill>
                <a:latin typeface="Calibri" pitchFamily="34" charset="0"/>
                <a:ea typeface="Calibri" pitchFamily="34" charset="-122"/>
                <a:cs typeface="Calibri" pitchFamily="34" charset="-120"/>
              </a:rPr>
              <a:t>OCUPACIÓN DE CLASES EN TIEMPO REAL</a:t>
            </a:r>
            <a:endParaRPr lang="en-US" sz="1050" dirty="0"/>
          </a:p>
        </p:txBody>
      </p:sp>
      <p:sp>
        <p:nvSpPr>
          <p:cNvPr id="5" name="Shape 3"/>
          <p:cNvSpPr/>
          <p:nvPr/>
        </p:nvSpPr>
        <p:spPr>
          <a:xfrm>
            <a:off x="548640" y="1847088"/>
            <a:ext cx="2468880" cy="777240"/>
          </a:xfrm>
          <a:prstGeom prst="roundRect">
            <a:avLst>
              <a:gd name="adj" fmla="val 8235"/>
            </a:avLst>
          </a:prstGeom>
          <a:solidFill>
            <a:srgbClr val="FFFFFF"/>
          </a:solidFill>
          <a:ln w="12700">
            <a:solidFill>
              <a:srgbClr val="1E2761"/>
            </a:solidFill>
            <a:prstDash val="solid"/>
          </a:ln>
        </p:spPr>
        <p:txBody>
          <a:bodyPr/>
          <a:lstStyle/>
          <a:p>
            <a:endParaRPr lang="es-CO"/>
          </a:p>
        </p:txBody>
      </p:sp>
      <p:sp>
        <p:nvSpPr>
          <p:cNvPr id="6" name="Text 4"/>
          <p:cNvSpPr txBox="1"/>
          <p:nvPr/>
        </p:nvSpPr>
        <p:spPr>
          <a:xfrm>
            <a:off x="548640" y="1847088"/>
            <a:ext cx="2468880" cy="777240"/>
          </a:xfrm>
          <a:prstGeom prst="rect">
            <a:avLst/>
          </a:prstGeom>
          <a:noFill/>
          <a:ln/>
        </p:spPr>
        <p:txBody>
          <a:bodyPr wrap="square" lIns="635" tIns="635" rIns="635" bIns="635"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clases-service</a:t>
            </a:r>
            <a:endParaRPr lang="en-US" sz="1150" dirty="0"/>
          </a:p>
          <a:p>
            <a:pPr marL="0" indent="0" algn="ctr">
              <a:buNone/>
            </a:pPr>
            <a:r>
              <a:rPr lang="en-US" sz="1150" b="1" dirty="0">
                <a:solidFill>
                  <a:srgbClr val="1E2761"/>
                </a:solidFill>
                <a:latin typeface="Calibri" pitchFamily="34" charset="0"/>
                <a:ea typeface="Calibri" pitchFamily="34" charset="-122"/>
                <a:cs typeface="Calibri" pitchFamily="34" charset="-120"/>
              </a:rPr>
              <a:t>inscribe o cancela</a:t>
            </a:r>
            <a:endParaRPr lang="en-US" sz="1150" dirty="0"/>
          </a:p>
        </p:txBody>
      </p:sp>
      <p:sp>
        <p:nvSpPr>
          <p:cNvPr id="7" name="Shape 5"/>
          <p:cNvSpPr/>
          <p:nvPr/>
        </p:nvSpPr>
        <p:spPr>
          <a:xfrm>
            <a:off x="3017520" y="2235708"/>
            <a:ext cx="365760" cy="0"/>
          </a:xfrm>
          <a:prstGeom prst="line">
            <a:avLst/>
          </a:prstGeom>
          <a:noFill/>
          <a:ln w="25400">
            <a:solidFill>
              <a:srgbClr val="6B7280"/>
            </a:solidFill>
            <a:prstDash val="solid"/>
            <a:tailEnd type="triangle"/>
          </a:ln>
        </p:spPr>
        <p:txBody>
          <a:bodyPr/>
          <a:lstStyle/>
          <a:p>
            <a:endParaRPr lang="es-CO"/>
          </a:p>
        </p:txBody>
      </p:sp>
      <p:sp>
        <p:nvSpPr>
          <p:cNvPr id="8" name="Shape 6"/>
          <p:cNvSpPr/>
          <p:nvPr/>
        </p:nvSpPr>
        <p:spPr>
          <a:xfrm>
            <a:off x="3383280" y="1847088"/>
            <a:ext cx="2468880" cy="777240"/>
          </a:xfrm>
          <a:prstGeom prst="roundRect">
            <a:avLst>
              <a:gd name="adj" fmla="val 8235"/>
            </a:avLst>
          </a:prstGeom>
          <a:solidFill>
            <a:srgbClr val="EEEAFF"/>
          </a:solidFill>
          <a:ln w="25400">
            <a:solidFill>
              <a:srgbClr val="6A4FE6"/>
            </a:solidFill>
            <a:prstDash val="solid"/>
          </a:ln>
        </p:spPr>
        <p:txBody>
          <a:bodyPr/>
          <a:lstStyle/>
          <a:p>
            <a:endParaRPr lang="es-CO"/>
          </a:p>
        </p:txBody>
      </p:sp>
      <p:sp>
        <p:nvSpPr>
          <p:cNvPr id="9" name="Text 7"/>
          <p:cNvSpPr txBox="1"/>
          <p:nvPr/>
        </p:nvSpPr>
        <p:spPr>
          <a:xfrm>
            <a:off x="3383280" y="1847088"/>
            <a:ext cx="2468880" cy="777240"/>
          </a:xfrm>
          <a:prstGeom prst="rect">
            <a:avLst/>
          </a:prstGeom>
          <a:noFill/>
          <a:ln/>
        </p:spPr>
        <p:txBody>
          <a:bodyPr wrap="square" lIns="635" tIns="635" rIns="635" bIns="635" rtlCol="0" anchor="ctr"/>
          <a:lstStyle/>
          <a:p>
            <a:pPr marL="0" indent="0" algn="ctr">
              <a:buNone/>
            </a:pPr>
            <a:r>
              <a:rPr lang="en-US" sz="1050" b="1" dirty="0">
                <a:solidFill>
                  <a:srgbClr val="3B2A9E"/>
                </a:solidFill>
                <a:latin typeface="Calibri" pitchFamily="34" charset="0"/>
                <a:ea typeface="Calibri" pitchFamily="34" charset="-122"/>
                <a:cs typeface="Calibri" pitchFamily="34" charset="-120"/>
              </a:rPr>
              <a:t>ocupacion-clases</a:t>
            </a:r>
            <a:endParaRPr lang="en-US" sz="1050" dirty="0"/>
          </a:p>
          <a:p>
            <a:pPr marL="0" indent="0" algn="ctr">
              <a:buNone/>
            </a:pPr>
            <a:r>
              <a:rPr lang="en-US" sz="1050" b="1" dirty="0">
                <a:solidFill>
                  <a:srgbClr val="3B2A9E"/>
                </a:solidFill>
                <a:latin typeface="Calibri" pitchFamily="34" charset="0"/>
                <a:ea typeface="Calibri" pitchFamily="34" charset="-122"/>
                <a:cs typeface="Calibri" pitchFamily="34" charset="-120"/>
              </a:rPr>
              <a:t>clave = claseId  •  3 particiones</a:t>
            </a:r>
            <a:endParaRPr lang="en-US" sz="1050" dirty="0"/>
          </a:p>
        </p:txBody>
      </p:sp>
      <p:sp>
        <p:nvSpPr>
          <p:cNvPr id="10" name="Shape 8"/>
          <p:cNvSpPr/>
          <p:nvPr/>
        </p:nvSpPr>
        <p:spPr>
          <a:xfrm>
            <a:off x="5852160" y="2235708"/>
            <a:ext cx="365760" cy="0"/>
          </a:xfrm>
          <a:prstGeom prst="line">
            <a:avLst/>
          </a:prstGeom>
          <a:noFill/>
          <a:ln w="25400">
            <a:solidFill>
              <a:srgbClr val="6B7280"/>
            </a:solidFill>
            <a:prstDash val="solid"/>
            <a:tailEnd type="triangle"/>
          </a:ln>
        </p:spPr>
        <p:txBody>
          <a:bodyPr/>
          <a:lstStyle/>
          <a:p>
            <a:endParaRPr lang="es-CO"/>
          </a:p>
        </p:txBody>
      </p:sp>
      <p:sp>
        <p:nvSpPr>
          <p:cNvPr id="11" name="Shape 9"/>
          <p:cNvSpPr/>
          <p:nvPr/>
        </p:nvSpPr>
        <p:spPr>
          <a:xfrm>
            <a:off x="6217920" y="1847088"/>
            <a:ext cx="2468880" cy="777240"/>
          </a:xfrm>
          <a:prstGeom prst="roundRect">
            <a:avLst>
              <a:gd name="adj" fmla="val 8235"/>
            </a:avLst>
          </a:prstGeom>
          <a:solidFill>
            <a:srgbClr val="FFFFFF"/>
          </a:solidFill>
          <a:ln w="12700">
            <a:solidFill>
              <a:srgbClr val="1E2761"/>
            </a:solidFill>
            <a:prstDash val="solid"/>
          </a:ln>
        </p:spPr>
        <p:txBody>
          <a:bodyPr/>
          <a:lstStyle/>
          <a:p>
            <a:endParaRPr lang="es-CO"/>
          </a:p>
        </p:txBody>
      </p:sp>
      <p:sp>
        <p:nvSpPr>
          <p:cNvPr id="12" name="Text 10"/>
          <p:cNvSpPr txBox="1"/>
          <p:nvPr/>
        </p:nvSpPr>
        <p:spPr>
          <a:xfrm>
            <a:off x="6217920" y="1847088"/>
            <a:ext cx="2468880" cy="777240"/>
          </a:xfrm>
          <a:prstGeom prst="rect">
            <a:avLst/>
          </a:prstGeom>
          <a:noFill/>
          <a:ln/>
        </p:spPr>
        <p:txBody>
          <a:bodyPr wrap="square" lIns="635" tIns="635" rIns="635" bIns="635"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consumidor</a:t>
            </a:r>
            <a:endParaRPr lang="en-US" sz="1150" dirty="0"/>
          </a:p>
          <a:p>
            <a:pPr marL="0" indent="0" algn="ctr">
              <a:buNone/>
            </a:pPr>
            <a:r>
              <a:rPr lang="en-US" sz="1150" b="1" dirty="0">
                <a:solidFill>
                  <a:srgbClr val="1E2761"/>
                </a:solidFill>
                <a:latin typeface="Calibri" pitchFamily="34" charset="0"/>
                <a:ea typeface="Calibri" pitchFamily="34" charset="-122"/>
                <a:cs typeface="Calibri" pitchFamily="34" charset="-120"/>
              </a:rPr>
              <a:t>grupo monitoreo-grupo</a:t>
            </a:r>
            <a:endParaRPr lang="en-US" sz="1150" dirty="0"/>
          </a:p>
        </p:txBody>
      </p:sp>
      <p:sp>
        <p:nvSpPr>
          <p:cNvPr id="13" name="Shape 11"/>
          <p:cNvSpPr/>
          <p:nvPr/>
        </p:nvSpPr>
        <p:spPr>
          <a:xfrm>
            <a:off x="8686800" y="2235708"/>
            <a:ext cx="365760" cy="0"/>
          </a:xfrm>
          <a:prstGeom prst="line">
            <a:avLst/>
          </a:prstGeom>
          <a:noFill/>
          <a:ln w="25400">
            <a:solidFill>
              <a:srgbClr val="6B7280"/>
            </a:solidFill>
            <a:prstDash val="solid"/>
            <a:tailEnd type="triangle"/>
          </a:ln>
        </p:spPr>
        <p:txBody>
          <a:bodyPr/>
          <a:lstStyle/>
          <a:p>
            <a:endParaRPr lang="es-CO"/>
          </a:p>
        </p:txBody>
      </p:sp>
      <p:sp>
        <p:nvSpPr>
          <p:cNvPr id="14" name="Shape 12"/>
          <p:cNvSpPr/>
          <p:nvPr/>
        </p:nvSpPr>
        <p:spPr>
          <a:xfrm>
            <a:off x="9052560" y="1847088"/>
            <a:ext cx="2468880" cy="777240"/>
          </a:xfrm>
          <a:prstGeom prst="roundRect">
            <a:avLst>
              <a:gd name="adj" fmla="val 8235"/>
            </a:avLst>
          </a:prstGeom>
          <a:solidFill>
            <a:srgbClr val="F4F6FB"/>
          </a:solidFill>
          <a:ln w="12700">
            <a:solidFill>
              <a:srgbClr val="D7DCEA"/>
            </a:solidFill>
            <a:prstDash val="solid"/>
          </a:ln>
        </p:spPr>
        <p:txBody>
          <a:bodyPr/>
          <a:lstStyle/>
          <a:p>
            <a:endParaRPr lang="es-CO"/>
          </a:p>
        </p:txBody>
      </p:sp>
      <p:sp>
        <p:nvSpPr>
          <p:cNvPr id="15" name="Text 13"/>
          <p:cNvSpPr txBox="1"/>
          <p:nvPr/>
        </p:nvSpPr>
        <p:spPr>
          <a:xfrm>
            <a:off x="9052560" y="1847088"/>
            <a:ext cx="2468880" cy="777240"/>
          </a:xfrm>
          <a:prstGeom prst="rect">
            <a:avLst/>
          </a:prstGeom>
          <a:noFill/>
          <a:ln/>
        </p:spPr>
        <p:txBody>
          <a:bodyPr wrap="square" lIns="635" tIns="635" rIns="635" bIns="635" rtlCol="0" anchor="ctr"/>
          <a:lstStyle/>
          <a:p>
            <a:pPr marL="0" indent="0" algn="ctr">
              <a:buNone/>
            </a:pPr>
            <a:r>
              <a:rPr lang="en-US" sz="1150" b="1" dirty="0">
                <a:solidFill>
                  <a:srgbClr val="1E2761"/>
                </a:solidFill>
                <a:latin typeface="Calibri" pitchFamily="34" charset="0"/>
                <a:ea typeface="Calibri" pitchFamily="34" charset="-122"/>
                <a:cs typeface="Calibri" pitchFamily="34" charset="-120"/>
              </a:rPr>
              <a:t>dashboard</a:t>
            </a:r>
            <a:endParaRPr lang="en-US" sz="1150" dirty="0"/>
          </a:p>
          <a:p>
            <a:pPr marL="0" indent="0" algn="ctr">
              <a:buNone/>
            </a:pPr>
            <a:r>
              <a:rPr lang="en-US" sz="1150" b="1" dirty="0">
                <a:solidFill>
                  <a:srgbClr val="1E2761"/>
                </a:solidFill>
                <a:latin typeface="Calibri" pitchFamily="34" charset="0"/>
                <a:ea typeface="Calibri" pitchFamily="34" charset="-122"/>
                <a:cs typeface="Calibri" pitchFamily="34" charset="-120"/>
              </a:rPr>
              <a:t>(log en tiempo real)</a:t>
            </a:r>
            <a:endParaRPr lang="en-US" sz="1150" dirty="0"/>
          </a:p>
        </p:txBody>
      </p:sp>
      <p:sp>
        <p:nvSpPr>
          <p:cNvPr id="16" name="Text 14"/>
          <p:cNvSpPr txBox="1"/>
          <p:nvPr/>
        </p:nvSpPr>
        <p:spPr>
          <a:xfrm>
            <a:off x="548640" y="2834640"/>
            <a:ext cx="7315200" cy="228600"/>
          </a:xfrm>
          <a:prstGeom prst="rect">
            <a:avLst/>
          </a:prstGeom>
          <a:noFill/>
          <a:ln/>
        </p:spPr>
        <p:txBody>
          <a:bodyPr wrap="square" lIns="0" tIns="0" rIns="0" bIns="0" rtlCol="0" anchor="ctr"/>
          <a:lstStyle/>
          <a:p>
            <a:pPr marL="0" indent="0">
              <a:buNone/>
            </a:pPr>
            <a:r>
              <a:rPr lang="en-US" sz="1050" b="1" kern="0" spc="150" dirty="0">
                <a:solidFill>
                  <a:srgbClr val="6A4FE6"/>
                </a:solidFill>
                <a:latin typeface="Calibri" pitchFamily="34" charset="0"/>
                <a:ea typeface="Calibri" pitchFamily="34" charset="-122"/>
                <a:cs typeface="Calibri" pitchFamily="34" charset="-120"/>
              </a:rPr>
              <a:t>ANÁLISIS DE ENTRENAMIENTO CON KAFKA STREAMS</a:t>
            </a:r>
            <a:endParaRPr lang="en-US" sz="1050" dirty="0"/>
          </a:p>
        </p:txBody>
      </p:sp>
      <p:sp>
        <p:nvSpPr>
          <p:cNvPr id="17" name="Shape 15"/>
          <p:cNvSpPr/>
          <p:nvPr/>
        </p:nvSpPr>
        <p:spPr>
          <a:xfrm>
            <a:off x="548640" y="3108960"/>
            <a:ext cx="2468880" cy="777240"/>
          </a:xfrm>
          <a:prstGeom prst="roundRect">
            <a:avLst>
              <a:gd name="adj" fmla="val 8235"/>
            </a:avLst>
          </a:prstGeom>
          <a:solidFill>
            <a:srgbClr val="FFFFFF"/>
          </a:solidFill>
          <a:ln w="12700">
            <a:solidFill>
              <a:srgbClr val="1E2761"/>
            </a:solidFill>
            <a:prstDash val="solid"/>
          </a:ln>
        </p:spPr>
        <p:txBody>
          <a:bodyPr/>
          <a:lstStyle/>
          <a:p>
            <a:endParaRPr lang="es-CO"/>
          </a:p>
        </p:txBody>
      </p:sp>
      <p:sp>
        <p:nvSpPr>
          <p:cNvPr id="18" name="Text 16"/>
          <p:cNvSpPr txBox="1"/>
          <p:nvPr/>
        </p:nvSpPr>
        <p:spPr>
          <a:xfrm>
            <a:off x="548640" y="3108960"/>
            <a:ext cx="2468880" cy="777240"/>
          </a:xfrm>
          <a:prstGeom prst="rect">
            <a:avLst/>
          </a:prstGeom>
          <a:noFill/>
          <a:ln/>
        </p:spPr>
        <p:txBody>
          <a:bodyPr wrap="square" lIns="635" tIns="635" rIns="635" bIns="635"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POST /api/miembros/{id}</a:t>
            </a:r>
            <a:endParaRPr lang="en-US" sz="1100" dirty="0"/>
          </a:p>
          <a:p>
            <a:pPr marL="0" indent="0" algn="ctr">
              <a:buNone/>
            </a:pPr>
            <a:r>
              <a:rPr lang="en-US" sz="1100" b="1" dirty="0">
                <a:solidFill>
                  <a:srgbClr val="1E2761"/>
                </a:solidFill>
                <a:latin typeface="Calibri" pitchFamily="34" charset="0"/>
                <a:ea typeface="Calibri" pitchFamily="34" charset="-122"/>
                <a:cs typeface="Calibri" pitchFamily="34" charset="-120"/>
              </a:rPr>
              <a:t>/entrenamientos</a:t>
            </a:r>
            <a:endParaRPr lang="en-US" sz="1100" dirty="0"/>
          </a:p>
        </p:txBody>
      </p:sp>
      <p:sp>
        <p:nvSpPr>
          <p:cNvPr id="19" name="Shape 17"/>
          <p:cNvSpPr/>
          <p:nvPr/>
        </p:nvSpPr>
        <p:spPr>
          <a:xfrm>
            <a:off x="3017520" y="3497580"/>
            <a:ext cx="365760" cy="0"/>
          </a:xfrm>
          <a:prstGeom prst="line">
            <a:avLst/>
          </a:prstGeom>
          <a:noFill/>
          <a:ln w="25400">
            <a:solidFill>
              <a:srgbClr val="6B7280"/>
            </a:solidFill>
            <a:prstDash val="solid"/>
            <a:tailEnd type="triangle"/>
          </a:ln>
        </p:spPr>
        <p:txBody>
          <a:bodyPr/>
          <a:lstStyle/>
          <a:p>
            <a:endParaRPr lang="es-CO"/>
          </a:p>
        </p:txBody>
      </p:sp>
      <p:sp>
        <p:nvSpPr>
          <p:cNvPr id="20" name="Shape 18"/>
          <p:cNvSpPr/>
          <p:nvPr/>
        </p:nvSpPr>
        <p:spPr>
          <a:xfrm>
            <a:off x="3383280" y="3108960"/>
            <a:ext cx="2468880" cy="777240"/>
          </a:xfrm>
          <a:prstGeom prst="roundRect">
            <a:avLst>
              <a:gd name="adj" fmla="val 8235"/>
            </a:avLst>
          </a:prstGeom>
          <a:solidFill>
            <a:srgbClr val="EEEAFF"/>
          </a:solidFill>
          <a:ln w="25400">
            <a:solidFill>
              <a:srgbClr val="6A4FE6"/>
            </a:solidFill>
            <a:prstDash val="solid"/>
          </a:ln>
        </p:spPr>
        <p:txBody>
          <a:bodyPr/>
          <a:lstStyle/>
          <a:p>
            <a:endParaRPr lang="es-CO"/>
          </a:p>
        </p:txBody>
      </p:sp>
      <p:sp>
        <p:nvSpPr>
          <p:cNvPr id="21" name="Text 19"/>
          <p:cNvSpPr txBox="1"/>
          <p:nvPr/>
        </p:nvSpPr>
        <p:spPr>
          <a:xfrm>
            <a:off x="3383280" y="3108960"/>
            <a:ext cx="2468880" cy="777240"/>
          </a:xfrm>
          <a:prstGeom prst="rect">
            <a:avLst/>
          </a:prstGeom>
          <a:noFill/>
          <a:ln/>
        </p:spPr>
        <p:txBody>
          <a:bodyPr wrap="square" lIns="635" tIns="635" rIns="635" bIns="635" rtlCol="0" anchor="ctr"/>
          <a:lstStyle/>
          <a:p>
            <a:pPr marL="0" indent="0" algn="ctr">
              <a:buNone/>
            </a:pPr>
            <a:r>
              <a:rPr lang="en-US" sz="1050" b="1" dirty="0">
                <a:solidFill>
                  <a:srgbClr val="3B2A9E"/>
                </a:solidFill>
                <a:latin typeface="Calibri" pitchFamily="34" charset="0"/>
                <a:ea typeface="Calibri" pitchFamily="34" charset="-122"/>
                <a:cs typeface="Calibri" pitchFamily="34" charset="-120"/>
              </a:rPr>
              <a:t>datos-entrenamiento</a:t>
            </a:r>
            <a:endParaRPr lang="en-US" sz="1050" dirty="0"/>
          </a:p>
          <a:p>
            <a:pPr marL="0" indent="0" algn="ctr">
              <a:buNone/>
            </a:pPr>
            <a:r>
              <a:rPr lang="en-US" sz="1050" b="1" dirty="0">
                <a:solidFill>
                  <a:srgbClr val="3B2A9E"/>
                </a:solidFill>
                <a:latin typeface="Calibri" pitchFamily="34" charset="0"/>
                <a:ea typeface="Calibri" pitchFamily="34" charset="-122"/>
                <a:cs typeface="Calibri" pitchFamily="34" charset="-120"/>
              </a:rPr>
              <a:t>clave = miembroId  •  3 particiones</a:t>
            </a:r>
            <a:endParaRPr lang="en-US" sz="1050" dirty="0"/>
          </a:p>
        </p:txBody>
      </p:sp>
      <p:sp>
        <p:nvSpPr>
          <p:cNvPr id="22" name="Shape 20"/>
          <p:cNvSpPr/>
          <p:nvPr/>
        </p:nvSpPr>
        <p:spPr>
          <a:xfrm>
            <a:off x="5852160" y="3497580"/>
            <a:ext cx="365760" cy="0"/>
          </a:xfrm>
          <a:prstGeom prst="line">
            <a:avLst/>
          </a:prstGeom>
          <a:noFill/>
          <a:ln w="25400">
            <a:solidFill>
              <a:srgbClr val="6B7280"/>
            </a:solidFill>
            <a:prstDash val="solid"/>
            <a:tailEnd type="triangle"/>
          </a:ln>
        </p:spPr>
        <p:txBody>
          <a:bodyPr/>
          <a:lstStyle/>
          <a:p>
            <a:endParaRPr lang="es-CO"/>
          </a:p>
        </p:txBody>
      </p:sp>
      <p:sp>
        <p:nvSpPr>
          <p:cNvPr id="23" name="Shape 21"/>
          <p:cNvSpPr/>
          <p:nvPr/>
        </p:nvSpPr>
        <p:spPr>
          <a:xfrm>
            <a:off x="6217920" y="3108960"/>
            <a:ext cx="2468880" cy="777240"/>
          </a:xfrm>
          <a:prstGeom prst="roundRect">
            <a:avLst>
              <a:gd name="adj" fmla="val 8235"/>
            </a:avLst>
          </a:prstGeom>
          <a:solidFill>
            <a:srgbClr val="6A4FE6"/>
          </a:solidFill>
          <a:ln w="12700">
            <a:solidFill>
              <a:srgbClr val="6A4FE6"/>
            </a:solidFill>
            <a:prstDash val="solid"/>
          </a:ln>
        </p:spPr>
        <p:txBody>
          <a:bodyPr/>
          <a:lstStyle/>
          <a:p>
            <a:endParaRPr lang="es-CO"/>
          </a:p>
        </p:txBody>
      </p:sp>
      <p:sp>
        <p:nvSpPr>
          <p:cNvPr id="24" name="Text 22"/>
          <p:cNvSpPr txBox="1"/>
          <p:nvPr/>
        </p:nvSpPr>
        <p:spPr>
          <a:xfrm>
            <a:off x="6217920" y="3108960"/>
            <a:ext cx="2468880" cy="777240"/>
          </a:xfrm>
          <a:prstGeom prst="rect">
            <a:avLst/>
          </a:prstGeom>
          <a:noFill/>
          <a:ln/>
        </p:spPr>
        <p:txBody>
          <a:bodyPr wrap="square" lIns="635" tIns="635" rIns="635" bIns="635"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Kafka Streams</a:t>
            </a:r>
            <a:endParaRPr lang="en-US" sz="1150" dirty="0"/>
          </a:p>
          <a:p>
            <a:pPr marL="0" indent="0" algn="ctr">
              <a:buNone/>
            </a:pPr>
            <a:r>
              <a:rPr lang="en-US" sz="1150" b="1" dirty="0">
                <a:solidFill>
                  <a:srgbClr val="FFFFFF"/>
                </a:solidFill>
                <a:latin typeface="Calibri" pitchFamily="34" charset="0"/>
                <a:ea typeface="Calibri" pitchFamily="34" charset="-122"/>
                <a:cs typeface="Calibri" pitchFamily="34" charset="-120"/>
              </a:rPr>
              <a:t>ventana de 7 días</a:t>
            </a:r>
            <a:endParaRPr lang="en-US" sz="1150" dirty="0"/>
          </a:p>
        </p:txBody>
      </p:sp>
      <p:sp>
        <p:nvSpPr>
          <p:cNvPr id="25" name="Shape 23"/>
          <p:cNvSpPr/>
          <p:nvPr/>
        </p:nvSpPr>
        <p:spPr>
          <a:xfrm>
            <a:off x="8686800" y="3497580"/>
            <a:ext cx="365760" cy="0"/>
          </a:xfrm>
          <a:prstGeom prst="line">
            <a:avLst/>
          </a:prstGeom>
          <a:noFill/>
          <a:ln w="25400">
            <a:solidFill>
              <a:srgbClr val="6B7280"/>
            </a:solidFill>
            <a:prstDash val="solid"/>
            <a:tailEnd type="triangle"/>
          </a:ln>
        </p:spPr>
        <p:txBody>
          <a:bodyPr/>
          <a:lstStyle/>
          <a:p>
            <a:endParaRPr lang="es-CO"/>
          </a:p>
        </p:txBody>
      </p:sp>
      <p:sp>
        <p:nvSpPr>
          <p:cNvPr id="26" name="Shape 24"/>
          <p:cNvSpPr/>
          <p:nvPr/>
        </p:nvSpPr>
        <p:spPr>
          <a:xfrm>
            <a:off x="9052560" y="3108960"/>
            <a:ext cx="2468880" cy="777240"/>
          </a:xfrm>
          <a:prstGeom prst="roundRect">
            <a:avLst>
              <a:gd name="adj" fmla="val 8235"/>
            </a:avLst>
          </a:prstGeom>
          <a:solidFill>
            <a:srgbClr val="EEEAFF"/>
          </a:solidFill>
          <a:ln w="25400">
            <a:solidFill>
              <a:srgbClr val="6A4FE6"/>
            </a:solidFill>
            <a:prstDash val="solid"/>
          </a:ln>
        </p:spPr>
        <p:txBody>
          <a:bodyPr/>
          <a:lstStyle/>
          <a:p>
            <a:endParaRPr lang="es-CO"/>
          </a:p>
        </p:txBody>
      </p:sp>
      <p:sp>
        <p:nvSpPr>
          <p:cNvPr id="27" name="Text 25"/>
          <p:cNvSpPr txBox="1"/>
          <p:nvPr/>
        </p:nvSpPr>
        <p:spPr>
          <a:xfrm>
            <a:off x="9052560" y="3108960"/>
            <a:ext cx="2468880" cy="777240"/>
          </a:xfrm>
          <a:prstGeom prst="rect">
            <a:avLst/>
          </a:prstGeom>
          <a:noFill/>
          <a:ln/>
        </p:spPr>
        <p:txBody>
          <a:bodyPr wrap="square" lIns="635" tIns="635" rIns="635" bIns="635" rtlCol="0" anchor="ctr"/>
          <a:lstStyle/>
          <a:p>
            <a:pPr marL="0" indent="0" algn="ctr">
              <a:buNone/>
            </a:pPr>
            <a:r>
              <a:rPr lang="en-US" sz="1050" b="1" dirty="0">
                <a:solidFill>
                  <a:srgbClr val="3B2A9E"/>
                </a:solidFill>
                <a:latin typeface="Calibri" pitchFamily="34" charset="0"/>
                <a:ea typeface="Calibri" pitchFamily="34" charset="-122"/>
                <a:cs typeface="Calibri" pitchFamily="34" charset="-120"/>
              </a:rPr>
              <a:t>resumen-entrenamiento</a:t>
            </a:r>
            <a:endParaRPr lang="en-US" sz="1050" dirty="0"/>
          </a:p>
          <a:p>
            <a:pPr marL="0" indent="0" algn="ctr">
              <a:buNone/>
            </a:pPr>
            <a:r>
              <a:rPr lang="en-US" sz="1050" b="1" dirty="0">
                <a:solidFill>
                  <a:srgbClr val="3B2A9E"/>
                </a:solidFill>
                <a:latin typeface="Calibri" pitchFamily="34" charset="0"/>
                <a:ea typeface="Calibri" pitchFamily="34" charset="-122"/>
                <a:cs typeface="Calibri" pitchFamily="34" charset="-120"/>
              </a:rPr>
              <a:t>(resultado agregado)</a:t>
            </a:r>
            <a:endParaRPr lang="en-US" sz="1050" dirty="0"/>
          </a:p>
        </p:txBody>
      </p:sp>
      <p:sp>
        <p:nvSpPr>
          <p:cNvPr id="28" name="Text 26"/>
          <p:cNvSpPr txBox="1"/>
          <p:nvPr/>
        </p:nvSpPr>
        <p:spPr>
          <a:xfrm>
            <a:off x="548640" y="4005072"/>
            <a:ext cx="11064240" cy="320040"/>
          </a:xfrm>
          <a:prstGeom prst="rect">
            <a:avLst/>
          </a:prstGeom>
          <a:noFill/>
          <a:ln/>
        </p:spPr>
        <p:txBody>
          <a:bodyPr wrap="square" lIns="0" tIns="0" rIns="0" bIns="0" rtlCol="0" anchor="ctr"/>
          <a:lstStyle/>
          <a:p>
            <a:pPr marL="0" indent="0" algn="ctr">
              <a:buNone/>
            </a:pPr>
            <a:r>
              <a:rPr lang="en-US" sz="1250" i="1" dirty="0">
                <a:solidFill>
                  <a:srgbClr val="6B7280"/>
                </a:solidFill>
                <a:latin typeface="Calibri" pitchFamily="34" charset="0"/>
                <a:ea typeface="Calibri" pitchFamily="34" charset="-122"/>
                <a:cs typeface="Calibri" pitchFamily="34" charset="-120"/>
              </a:rPr>
              <a:t>La clave decide la partición: todo lo de una misma clase (o miembro) queda en orden y el trabajo se puede repartir.</a:t>
            </a:r>
            <a:endParaRPr lang="en-US" sz="1250" dirty="0"/>
          </a:p>
        </p:txBody>
      </p:sp>
      <p:sp>
        <p:nvSpPr>
          <p:cNvPr id="29" name="Shape 27"/>
          <p:cNvSpPr/>
          <p:nvPr/>
        </p:nvSpPr>
        <p:spPr>
          <a:xfrm>
            <a:off x="548640" y="4480560"/>
            <a:ext cx="11064240" cy="1600200"/>
          </a:xfrm>
          <a:prstGeom prst="roundRect">
            <a:avLst>
              <a:gd name="adj" fmla="val 5143"/>
            </a:avLst>
          </a:prstGeom>
          <a:solidFill>
            <a:srgbClr val="1E2761"/>
          </a:solidFill>
          <a:ln/>
        </p:spPr>
        <p:txBody>
          <a:bodyPr/>
          <a:lstStyle/>
          <a:p>
            <a:endParaRPr lang="es-CO"/>
          </a:p>
        </p:txBody>
      </p:sp>
      <p:sp>
        <p:nvSpPr>
          <p:cNvPr id="30" name="Text 28"/>
          <p:cNvSpPr txBox="1"/>
          <p:nvPr/>
        </p:nvSpPr>
        <p:spPr>
          <a:xfrm>
            <a:off x="822960" y="4590288"/>
            <a:ext cx="8229600" cy="228600"/>
          </a:xfrm>
          <a:prstGeom prst="rect">
            <a:avLst/>
          </a:prstGeom>
          <a:noFill/>
          <a:ln/>
        </p:spPr>
        <p:txBody>
          <a:bodyPr wrap="square" lIns="0" tIns="0" rIns="0" bIns="0" rtlCol="0" anchor="ctr"/>
          <a:lstStyle/>
          <a:p>
            <a:pPr marL="0" indent="0">
              <a:buNone/>
            </a:pPr>
            <a:r>
              <a:rPr lang="en-US" sz="1050" b="1" kern="0" spc="150" dirty="0">
                <a:solidFill>
                  <a:srgbClr val="CADCFC"/>
                </a:solidFill>
                <a:latin typeface="Calibri" pitchFamily="34" charset="0"/>
                <a:ea typeface="Calibri" pitchFamily="34" charset="-122"/>
                <a:cs typeface="Calibri" pitchFamily="34" charset="-120"/>
              </a:rPr>
              <a:t>RESULTADO REAL DE KAFKA STREAMS (MIEMBRO 1, DOS SESIONES)</a:t>
            </a:r>
            <a:endParaRPr lang="en-US" sz="1050" dirty="0"/>
          </a:p>
        </p:txBody>
      </p:sp>
      <p:sp>
        <p:nvSpPr>
          <p:cNvPr id="31" name="Text 29"/>
          <p:cNvSpPr txBox="1"/>
          <p:nvPr/>
        </p:nvSpPr>
        <p:spPr>
          <a:xfrm>
            <a:off x="822960" y="4846320"/>
            <a:ext cx="1188720" cy="640080"/>
          </a:xfrm>
          <a:prstGeom prst="rect">
            <a:avLst/>
          </a:prstGeom>
          <a:noFill/>
          <a:ln/>
        </p:spPr>
        <p:txBody>
          <a:bodyPr wrap="square" lIns="0" tIns="0" rIns="0" bIns="0" rtlCol="0" anchor="ctr"/>
          <a:lstStyle/>
          <a:p>
            <a:pPr marL="0" indent="0" algn="r">
              <a:buNone/>
            </a:pPr>
            <a:r>
              <a:rPr lang="en-US" sz="3400" b="1" dirty="0">
                <a:solidFill>
                  <a:srgbClr val="FF6B4A"/>
                </a:solidFill>
                <a:latin typeface="Cambria" pitchFamily="34" charset="0"/>
                <a:ea typeface="Cambria" pitchFamily="34" charset="-122"/>
                <a:cs typeface="Cambria" pitchFamily="34" charset="-120"/>
              </a:rPr>
              <a:t>2</a:t>
            </a:r>
            <a:endParaRPr lang="en-US" sz="3400" dirty="0"/>
          </a:p>
        </p:txBody>
      </p:sp>
      <p:sp>
        <p:nvSpPr>
          <p:cNvPr id="32" name="Text 30"/>
          <p:cNvSpPr txBox="1"/>
          <p:nvPr/>
        </p:nvSpPr>
        <p:spPr>
          <a:xfrm>
            <a:off x="2148840" y="4846320"/>
            <a:ext cx="1828800" cy="64008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sesiones</a:t>
            </a:r>
            <a:endParaRPr lang="en-US" sz="1600" dirty="0"/>
          </a:p>
        </p:txBody>
      </p:sp>
      <p:sp>
        <p:nvSpPr>
          <p:cNvPr id="33" name="Text 31"/>
          <p:cNvSpPr txBox="1"/>
          <p:nvPr/>
        </p:nvSpPr>
        <p:spPr>
          <a:xfrm>
            <a:off x="4389120" y="4846320"/>
            <a:ext cx="1188720" cy="640080"/>
          </a:xfrm>
          <a:prstGeom prst="rect">
            <a:avLst/>
          </a:prstGeom>
          <a:noFill/>
          <a:ln/>
        </p:spPr>
        <p:txBody>
          <a:bodyPr wrap="square" lIns="0" tIns="0" rIns="0" bIns="0" rtlCol="0" anchor="ctr"/>
          <a:lstStyle/>
          <a:p>
            <a:pPr marL="0" indent="0" algn="r">
              <a:buNone/>
            </a:pPr>
            <a:r>
              <a:rPr lang="en-US" sz="3400" b="1" dirty="0">
                <a:solidFill>
                  <a:srgbClr val="FF6B4A"/>
                </a:solidFill>
                <a:latin typeface="Cambria" pitchFamily="34" charset="0"/>
                <a:ea typeface="Cambria" pitchFamily="34" charset="-122"/>
                <a:cs typeface="Cambria" pitchFamily="34" charset="-120"/>
              </a:rPr>
              <a:t>75</a:t>
            </a:r>
            <a:endParaRPr lang="en-US" sz="3400" dirty="0"/>
          </a:p>
        </p:txBody>
      </p:sp>
      <p:sp>
        <p:nvSpPr>
          <p:cNvPr id="34" name="Text 32"/>
          <p:cNvSpPr txBox="1"/>
          <p:nvPr/>
        </p:nvSpPr>
        <p:spPr>
          <a:xfrm>
            <a:off x="5715000" y="4846320"/>
            <a:ext cx="1828800" cy="64008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minutos</a:t>
            </a:r>
            <a:endParaRPr lang="en-US" sz="1600" dirty="0"/>
          </a:p>
        </p:txBody>
      </p:sp>
      <p:sp>
        <p:nvSpPr>
          <p:cNvPr id="35" name="Text 33"/>
          <p:cNvSpPr txBox="1"/>
          <p:nvPr/>
        </p:nvSpPr>
        <p:spPr>
          <a:xfrm>
            <a:off x="7955280" y="4846320"/>
            <a:ext cx="1188720" cy="640080"/>
          </a:xfrm>
          <a:prstGeom prst="rect">
            <a:avLst/>
          </a:prstGeom>
          <a:noFill/>
          <a:ln/>
        </p:spPr>
        <p:txBody>
          <a:bodyPr wrap="square" lIns="0" tIns="0" rIns="0" bIns="0" rtlCol="0" anchor="ctr"/>
          <a:lstStyle/>
          <a:p>
            <a:pPr marL="0" indent="0" algn="r">
              <a:buNone/>
            </a:pPr>
            <a:r>
              <a:rPr lang="en-US" sz="3400" b="1" dirty="0">
                <a:solidFill>
                  <a:srgbClr val="FF6B4A"/>
                </a:solidFill>
                <a:latin typeface="Cambria" pitchFamily="34" charset="0"/>
                <a:ea typeface="Cambria" pitchFamily="34" charset="-122"/>
                <a:cs typeface="Cambria" pitchFamily="34" charset="-120"/>
              </a:rPr>
              <a:t>550</a:t>
            </a:r>
            <a:endParaRPr lang="en-US" sz="3400" dirty="0"/>
          </a:p>
        </p:txBody>
      </p:sp>
      <p:sp>
        <p:nvSpPr>
          <p:cNvPr id="36" name="Text 34"/>
          <p:cNvSpPr txBox="1"/>
          <p:nvPr/>
        </p:nvSpPr>
        <p:spPr>
          <a:xfrm>
            <a:off x="9281160" y="4846320"/>
            <a:ext cx="1828800" cy="64008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calorías</a:t>
            </a:r>
            <a:endParaRPr lang="en-US" sz="1600" dirty="0"/>
          </a:p>
        </p:txBody>
      </p:sp>
      <p:sp>
        <p:nvSpPr>
          <p:cNvPr id="37" name="Text 35"/>
          <p:cNvSpPr txBox="1"/>
          <p:nvPr/>
        </p:nvSpPr>
        <p:spPr>
          <a:xfrm>
            <a:off x="822960" y="5577840"/>
            <a:ext cx="10515600" cy="365760"/>
          </a:xfrm>
          <a:prstGeom prst="rect">
            <a:avLst/>
          </a:prstGeom>
          <a:noFill/>
          <a:ln/>
        </p:spPr>
        <p:txBody>
          <a:bodyPr wrap="square" lIns="0" tIns="0" rIns="0" bIns="0" rtlCol="0" anchor="ctr"/>
          <a:lstStyle/>
          <a:p>
            <a:pPr marL="0" indent="0" algn="ctr">
              <a:buNone/>
            </a:pPr>
            <a:r>
              <a:rPr lang="en-US" sz="1250" dirty="0">
                <a:solidFill>
                  <a:srgbClr val="9BE3B0"/>
                </a:solidFill>
                <a:latin typeface="Courier New" pitchFamily="34" charset="0"/>
                <a:ea typeface="Courier New" pitchFamily="34" charset="-122"/>
                <a:cs typeface="Courier New" pitchFamily="34" charset="-120"/>
              </a:rPr>
              <a:t>{"miembroId":1,"totalSesiones":2,"totalMinutos":75,"totalCalorias":550}</a:t>
            </a:r>
            <a:endParaRPr lang="en-US" sz="1250" dirty="0"/>
          </a:p>
        </p:txBody>
      </p:sp>
      <p:sp>
        <p:nvSpPr>
          <p:cNvPr id="38" name="Text 36"/>
          <p:cNvSpPr txBox="1"/>
          <p:nvPr/>
        </p:nvSpPr>
        <p:spPr>
          <a:xfrm>
            <a:off x="10972800" y="6492240"/>
            <a:ext cx="685800" cy="22860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8 / 11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200" dirty="0">
                <a:solidFill>
                  <a:srgbClr val="FF6B4A"/>
                </a:solidFill>
                <a:latin typeface="Calibri" pitchFamily="34" charset="0"/>
                <a:ea typeface="Calibri" pitchFamily="34" charset="-122"/>
                <a:cs typeface="Calibri" pitchFamily="34" charset="-120"/>
              </a:rPr>
              <a:t>KAFKA  •  2 DE 2</a:t>
            </a:r>
            <a:endParaRPr lang="en-US" sz="1200" dirty="0"/>
          </a:p>
        </p:txBody>
      </p:sp>
      <p:sp>
        <p:nvSpPr>
          <p:cNvPr id="3" name="Text 1"/>
          <p:cNvSpPr txBox="1"/>
          <p:nvPr/>
        </p:nvSpPr>
        <p:spPr>
          <a:xfrm>
            <a:off x="548640" y="658368"/>
            <a:ext cx="11064240" cy="822960"/>
          </a:xfrm>
          <a:prstGeom prst="rect">
            <a:avLst/>
          </a:prstGeom>
          <a:noFill/>
          <a:ln/>
        </p:spPr>
        <p:txBody>
          <a:bodyPr wrap="square" lIns="0" tIns="0" rIns="0" bIns="0" rtlCol="0" anchor="t"/>
          <a:lstStyle/>
          <a:p>
            <a:pPr marL="0" indent="0">
              <a:buNone/>
            </a:pPr>
            <a:r>
              <a:rPr lang="en-US" sz="3200" b="1" dirty="0">
                <a:solidFill>
                  <a:srgbClr val="1E2761"/>
                </a:solidFill>
                <a:latin typeface="Cambria" pitchFamily="34" charset="0"/>
                <a:ea typeface="Cambria" pitchFamily="34" charset="-122"/>
                <a:cs typeface="Cambria" pitchFamily="34" charset="-120"/>
              </a:rPr>
              <a:t>Recuperación ante fallos con el log de Kafka</a:t>
            </a:r>
            <a:endParaRPr lang="en-US" sz="3200" dirty="0"/>
          </a:p>
        </p:txBody>
      </p:sp>
      <p:sp>
        <p:nvSpPr>
          <p:cNvPr id="4" name="Shape 2"/>
          <p:cNvSpPr/>
          <p:nvPr/>
        </p:nvSpPr>
        <p:spPr>
          <a:xfrm>
            <a:off x="548640" y="1783080"/>
            <a:ext cx="2606040" cy="2514600"/>
          </a:xfrm>
          <a:prstGeom prst="roundRect">
            <a:avLst>
              <a:gd name="adj" fmla="val 3273"/>
            </a:avLst>
          </a:prstGeom>
          <a:solidFill>
            <a:srgbClr val="F4F6FB"/>
          </a:solidFill>
          <a:ln/>
        </p:spPr>
        <p:txBody>
          <a:bodyPr/>
          <a:lstStyle/>
          <a:p>
            <a:endParaRPr lang="es-CO"/>
          </a:p>
        </p:txBody>
      </p:sp>
      <p:sp>
        <p:nvSpPr>
          <p:cNvPr id="5" name="Text 3"/>
          <p:cNvSpPr txBox="1"/>
          <p:nvPr/>
        </p:nvSpPr>
        <p:spPr>
          <a:xfrm>
            <a:off x="749808" y="1892808"/>
            <a:ext cx="457200" cy="411480"/>
          </a:xfrm>
          <a:prstGeom prst="rect">
            <a:avLst/>
          </a:prstGeom>
          <a:noFill/>
          <a:ln/>
        </p:spPr>
        <p:txBody>
          <a:bodyPr wrap="square" lIns="0" tIns="0" rIns="0" bIns="0" rtlCol="0" anchor="ctr"/>
          <a:lstStyle/>
          <a:p>
            <a:pPr marL="0" indent="0">
              <a:buNone/>
            </a:pPr>
            <a:r>
              <a:rPr lang="en-US" sz="2200" b="1" dirty="0">
                <a:solidFill>
                  <a:srgbClr val="C4CBE6"/>
                </a:solidFill>
                <a:latin typeface="Cambria" pitchFamily="34" charset="0"/>
                <a:ea typeface="Cambria" pitchFamily="34" charset="-122"/>
                <a:cs typeface="Cambria" pitchFamily="34" charset="-120"/>
              </a:rPr>
              <a:t>1</a:t>
            </a:r>
            <a:endParaRPr lang="en-US" sz="2200" dirty="0"/>
          </a:p>
        </p:txBody>
      </p:sp>
      <p:sp>
        <p:nvSpPr>
          <p:cNvPr id="6" name="Shape 4"/>
          <p:cNvSpPr/>
          <p:nvPr/>
        </p:nvSpPr>
        <p:spPr>
          <a:xfrm>
            <a:off x="1559052" y="2148840"/>
            <a:ext cx="585216" cy="585216"/>
          </a:xfrm>
          <a:prstGeom prst="ellipse">
            <a:avLst/>
          </a:prstGeom>
          <a:solidFill>
            <a:srgbClr val="6A4FE6"/>
          </a:solidFill>
          <a:ln/>
        </p:spPr>
        <p:txBody>
          <a:bodyPr/>
          <a:lstStyle/>
          <a:p>
            <a:endParaRPr lang="es-CO"/>
          </a:p>
        </p:txBody>
      </p:sp>
      <p:pic>
        <p:nvPicPr>
          <p:cNvPr id="7" name="Image 0" descr="/home/claude/deck2/icon_envelope.png"/>
          <p:cNvPicPr>
            <a:picLocks noChangeAspect="1"/>
          </p:cNvPicPr>
          <p:nvPr/>
        </p:nvPicPr>
        <p:blipFill>
          <a:blip r:embed="rId3"/>
          <a:stretch>
            <a:fillRect/>
          </a:stretch>
        </p:blipFill>
        <p:spPr>
          <a:xfrm>
            <a:off x="1711208" y="2300996"/>
            <a:ext cx="280904" cy="280904"/>
          </a:xfrm>
          <a:prstGeom prst="rect">
            <a:avLst/>
          </a:prstGeom>
        </p:spPr>
      </p:pic>
      <p:sp>
        <p:nvSpPr>
          <p:cNvPr id="8" name="Text 5"/>
          <p:cNvSpPr txBox="1"/>
          <p:nvPr/>
        </p:nvSpPr>
        <p:spPr>
          <a:xfrm>
            <a:off x="731520" y="2880360"/>
            <a:ext cx="2240280" cy="36576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Consume</a:t>
            </a:r>
            <a:endParaRPr lang="en-US" sz="1400" dirty="0"/>
          </a:p>
        </p:txBody>
      </p:sp>
      <p:sp>
        <p:nvSpPr>
          <p:cNvPr id="9" name="Text 6"/>
          <p:cNvSpPr txBox="1"/>
          <p:nvPr/>
        </p:nvSpPr>
        <p:spPr>
          <a:xfrm>
            <a:off x="749808" y="3337560"/>
            <a:ext cx="2203704" cy="868680"/>
          </a:xfrm>
          <a:prstGeom prst="rect">
            <a:avLst/>
          </a:prstGeom>
          <a:noFill/>
          <a:ln/>
        </p:spPr>
        <p:txBody>
          <a:bodyPr wrap="square" lIns="0" tIns="0" rIns="0" bIns="0" rtlCol="0" anchor="t"/>
          <a:lstStyle/>
          <a:p>
            <a:pPr marL="0" indent="0" algn="ctr">
              <a:buNone/>
            </a:pPr>
            <a:r>
              <a:rPr lang="en-US" sz="1150" dirty="0">
                <a:solidFill>
                  <a:srgbClr val="6B7280"/>
                </a:solidFill>
                <a:latin typeface="Calibri" pitchFamily="34" charset="0"/>
                <a:ea typeface="Calibri" pitchFamily="34" charset="-122"/>
                <a:cs typeface="Calibri" pitchFamily="34" charset="-120"/>
              </a:rPr>
              <a:t>El consumidor recibe un evento de ocupación del topic.</a:t>
            </a:r>
            <a:endParaRPr lang="en-US" sz="1150" dirty="0"/>
          </a:p>
        </p:txBody>
      </p:sp>
      <p:sp>
        <p:nvSpPr>
          <p:cNvPr id="10" name="Shape 7"/>
          <p:cNvSpPr/>
          <p:nvPr/>
        </p:nvSpPr>
        <p:spPr>
          <a:xfrm rot="5400000">
            <a:off x="3195828" y="2999232"/>
            <a:ext cx="128016" cy="128016"/>
          </a:xfrm>
          <a:prstGeom prst="triangle">
            <a:avLst/>
          </a:prstGeom>
          <a:solidFill>
            <a:srgbClr val="FF6B4A"/>
          </a:solidFill>
          <a:ln/>
        </p:spPr>
        <p:txBody>
          <a:bodyPr/>
          <a:lstStyle/>
          <a:p>
            <a:endParaRPr lang="es-CO"/>
          </a:p>
        </p:txBody>
      </p:sp>
      <p:sp>
        <p:nvSpPr>
          <p:cNvPr id="11" name="Shape 8"/>
          <p:cNvSpPr/>
          <p:nvPr/>
        </p:nvSpPr>
        <p:spPr>
          <a:xfrm>
            <a:off x="3364992" y="1783080"/>
            <a:ext cx="2606040" cy="2514600"/>
          </a:xfrm>
          <a:prstGeom prst="roundRect">
            <a:avLst>
              <a:gd name="adj" fmla="val 3273"/>
            </a:avLst>
          </a:prstGeom>
          <a:solidFill>
            <a:srgbClr val="F4F6FB"/>
          </a:solidFill>
          <a:ln/>
        </p:spPr>
        <p:txBody>
          <a:bodyPr/>
          <a:lstStyle/>
          <a:p>
            <a:endParaRPr lang="es-CO"/>
          </a:p>
        </p:txBody>
      </p:sp>
      <p:sp>
        <p:nvSpPr>
          <p:cNvPr id="12" name="Text 9"/>
          <p:cNvSpPr txBox="1"/>
          <p:nvPr/>
        </p:nvSpPr>
        <p:spPr>
          <a:xfrm>
            <a:off x="3566160" y="1892808"/>
            <a:ext cx="457200" cy="411480"/>
          </a:xfrm>
          <a:prstGeom prst="rect">
            <a:avLst/>
          </a:prstGeom>
          <a:noFill/>
          <a:ln/>
        </p:spPr>
        <p:txBody>
          <a:bodyPr wrap="square" lIns="0" tIns="0" rIns="0" bIns="0" rtlCol="0" anchor="ctr"/>
          <a:lstStyle/>
          <a:p>
            <a:pPr marL="0" indent="0">
              <a:buNone/>
            </a:pPr>
            <a:r>
              <a:rPr lang="en-US" sz="2200" b="1" dirty="0">
                <a:solidFill>
                  <a:srgbClr val="C4CBE6"/>
                </a:solidFill>
                <a:latin typeface="Cambria" pitchFamily="34" charset="0"/>
                <a:ea typeface="Cambria" pitchFamily="34" charset="-122"/>
                <a:cs typeface="Cambria" pitchFamily="34" charset="-120"/>
              </a:rPr>
              <a:t>2</a:t>
            </a:r>
            <a:endParaRPr lang="en-US" sz="2200" dirty="0"/>
          </a:p>
        </p:txBody>
      </p:sp>
      <p:sp>
        <p:nvSpPr>
          <p:cNvPr id="13" name="Shape 10"/>
          <p:cNvSpPr/>
          <p:nvPr/>
        </p:nvSpPr>
        <p:spPr>
          <a:xfrm>
            <a:off x="4375404" y="2148840"/>
            <a:ext cx="585216" cy="585216"/>
          </a:xfrm>
          <a:prstGeom prst="ellipse">
            <a:avLst/>
          </a:prstGeom>
          <a:solidFill>
            <a:srgbClr val="6A4FE6"/>
          </a:solidFill>
          <a:ln/>
        </p:spPr>
        <p:txBody>
          <a:bodyPr/>
          <a:lstStyle/>
          <a:p>
            <a:endParaRPr lang="es-CO"/>
          </a:p>
        </p:txBody>
      </p:sp>
      <p:pic>
        <p:nvPicPr>
          <p:cNvPr id="14" name="Image 1" descr="/home/claude/deck2/icon_database.png"/>
          <p:cNvPicPr>
            <a:picLocks noChangeAspect="1"/>
          </p:cNvPicPr>
          <p:nvPr/>
        </p:nvPicPr>
        <p:blipFill>
          <a:blip r:embed="rId4"/>
          <a:stretch>
            <a:fillRect/>
          </a:stretch>
        </p:blipFill>
        <p:spPr>
          <a:xfrm>
            <a:off x="4527560" y="2300996"/>
            <a:ext cx="280904" cy="280904"/>
          </a:xfrm>
          <a:prstGeom prst="rect">
            <a:avLst/>
          </a:prstGeom>
        </p:spPr>
      </p:pic>
      <p:sp>
        <p:nvSpPr>
          <p:cNvPr id="15" name="Text 11"/>
          <p:cNvSpPr txBox="1"/>
          <p:nvPr/>
        </p:nvSpPr>
        <p:spPr>
          <a:xfrm>
            <a:off x="3547872" y="2880360"/>
            <a:ext cx="2240280" cy="36576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Procesa y guarda</a:t>
            </a:r>
            <a:endParaRPr lang="en-US" sz="1400" dirty="0"/>
          </a:p>
        </p:txBody>
      </p:sp>
      <p:sp>
        <p:nvSpPr>
          <p:cNvPr id="16" name="Text 12"/>
          <p:cNvSpPr txBox="1"/>
          <p:nvPr/>
        </p:nvSpPr>
        <p:spPr>
          <a:xfrm>
            <a:off x="3566160" y="3337560"/>
            <a:ext cx="2203704" cy="868680"/>
          </a:xfrm>
          <a:prstGeom prst="rect">
            <a:avLst/>
          </a:prstGeom>
          <a:noFill/>
          <a:ln/>
        </p:spPr>
        <p:txBody>
          <a:bodyPr wrap="square" lIns="0" tIns="0" rIns="0" bIns="0" rtlCol="0" anchor="t"/>
          <a:lstStyle/>
          <a:p>
            <a:pPr marL="0" indent="0" algn="ctr">
              <a:buNone/>
            </a:pPr>
            <a:r>
              <a:rPr lang="en-US" sz="1150" dirty="0">
                <a:solidFill>
                  <a:srgbClr val="6B7280"/>
                </a:solidFill>
                <a:latin typeface="Calibri" pitchFamily="34" charset="0"/>
                <a:ea typeface="Calibri" pitchFamily="34" charset="-122"/>
                <a:cs typeface="Calibri" pitchFamily="34" charset="-120"/>
              </a:rPr>
              <a:t>Actualiza el dashboard y guarda el checkpoint: topic, partición y último offset.</a:t>
            </a:r>
            <a:endParaRPr lang="en-US" sz="1150" dirty="0"/>
          </a:p>
        </p:txBody>
      </p:sp>
      <p:sp>
        <p:nvSpPr>
          <p:cNvPr id="17" name="Shape 13"/>
          <p:cNvSpPr/>
          <p:nvPr/>
        </p:nvSpPr>
        <p:spPr>
          <a:xfrm rot="5400000">
            <a:off x="6012180" y="2999232"/>
            <a:ext cx="128016" cy="128016"/>
          </a:xfrm>
          <a:prstGeom prst="triangle">
            <a:avLst/>
          </a:prstGeom>
          <a:solidFill>
            <a:srgbClr val="FF6B4A"/>
          </a:solidFill>
          <a:ln/>
        </p:spPr>
        <p:txBody>
          <a:bodyPr/>
          <a:lstStyle/>
          <a:p>
            <a:endParaRPr lang="es-CO"/>
          </a:p>
        </p:txBody>
      </p:sp>
      <p:sp>
        <p:nvSpPr>
          <p:cNvPr id="18" name="Shape 14"/>
          <p:cNvSpPr/>
          <p:nvPr/>
        </p:nvSpPr>
        <p:spPr>
          <a:xfrm>
            <a:off x="6181344" y="1783080"/>
            <a:ext cx="2606040" cy="2514600"/>
          </a:xfrm>
          <a:prstGeom prst="roundRect">
            <a:avLst>
              <a:gd name="adj" fmla="val 3273"/>
            </a:avLst>
          </a:prstGeom>
          <a:solidFill>
            <a:srgbClr val="F4F6FB"/>
          </a:solidFill>
          <a:ln/>
        </p:spPr>
        <p:txBody>
          <a:bodyPr/>
          <a:lstStyle/>
          <a:p>
            <a:endParaRPr lang="es-CO"/>
          </a:p>
        </p:txBody>
      </p:sp>
      <p:sp>
        <p:nvSpPr>
          <p:cNvPr id="19" name="Text 15"/>
          <p:cNvSpPr txBox="1"/>
          <p:nvPr/>
        </p:nvSpPr>
        <p:spPr>
          <a:xfrm>
            <a:off x="6382512" y="1892808"/>
            <a:ext cx="457200" cy="411480"/>
          </a:xfrm>
          <a:prstGeom prst="rect">
            <a:avLst/>
          </a:prstGeom>
          <a:noFill/>
          <a:ln/>
        </p:spPr>
        <p:txBody>
          <a:bodyPr wrap="square" lIns="0" tIns="0" rIns="0" bIns="0" rtlCol="0" anchor="ctr"/>
          <a:lstStyle/>
          <a:p>
            <a:pPr marL="0" indent="0">
              <a:buNone/>
            </a:pPr>
            <a:r>
              <a:rPr lang="en-US" sz="2200" b="1" dirty="0">
                <a:solidFill>
                  <a:srgbClr val="C4CBE6"/>
                </a:solidFill>
                <a:latin typeface="Cambria" pitchFamily="34" charset="0"/>
                <a:ea typeface="Cambria" pitchFamily="34" charset="-122"/>
                <a:cs typeface="Cambria" pitchFamily="34" charset="-120"/>
              </a:rPr>
              <a:t>3</a:t>
            </a:r>
            <a:endParaRPr lang="en-US" sz="2200" dirty="0"/>
          </a:p>
        </p:txBody>
      </p:sp>
      <p:sp>
        <p:nvSpPr>
          <p:cNvPr id="20" name="Shape 16"/>
          <p:cNvSpPr/>
          <p:nvPr/>
        </p:nvSpPr>
        <p:spPr>
          <a:xfrm>
            <a:off x="7191756" y="2148840"/>
            <a:ext cx="585216" cy="585216"/>
          </a:xfrm>
          <a:prstGeom prst="ellipse">
            <a:avLst/>
          </a:prstGeom>
          <a:solidFill>
            <a:srgbClr val="6A4FE6"/>
          </a:solidFill>
          <a:ln/>
        </p:spPr>
        <p:txBody>
          <a:bodyPr/>
          <a:lstStyle/>
          <a:p>
            <a:endParaRPr lang="es-CO"/>
          </a:p>
        </p:txBody>
      </p:sp>
      <p:pic>
        <p:nvPicPr>
          <p:cNvPr id="21" name="Image 2" descr="/home/claude/deck2/icon_check.png"/>
          <p:cNvPicPr>
            <a:picLocks noChangeAspect="1"/>
          </p:cNvPicPr>
          <p:nvPr/>
        </p:nvPicPr>
        <p:blipFill>
          <a:blip r:embed="rId5"/>
          <a:stretch>
            <a:fillRect/>
          </a:stretch>
        </p:blipFill>
        <p:spPr>
          <a:xfrm>
            <a:off x="7343912" y="2300996"/>
            <a:ext cx="280904" cy="280904"/>
          </a:xfrm>
          <a:prstGeom prst="rect">
            <a:avLst/>
          </a:prstGeom>
        </p:spPr>
      </p:pic>
      <p:sp>
        <p:nvSpPr>
          <p:cNvPr id="22" name="Text 17"/>
          <p:cNvSpPr txBox="1"/>
          <p:nvPr/>
        </p:nvSpPr>
        <p:spPr>
          <a:xfrm>
            <a:off x="6364224" y="2880360"/>
            <a:ext cx="2240280" cy="36576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Confirma a mano</a:t>
            </a:r>
            <a:endParaRPr lang="en-US" sz="1400" dirty="0"/>
          </a:p>
        </p:txBody>
      </p:sp>
      <p:sp>
        <p:nvSpPr>
          <p:cNvPr id="23" name="Text 18"/>
          <p:cNvSpPr txBox="1"/>
          <p:nvPr/>
        </p:nvSpPr>
        <p:spPr>
          <a:xfrm>
            <a:off x="6382512" y="3337560"/>
            <a:ext cx="2203704" cy="868680"/>
          </a:xfrm>
          <a:prstGeom prst="rect">
            <a:avLst/>
          </a:prstGeom>
          <a:noFill/>
          <a:ln/>
        </p:spPr>
        <p:txBody>
          <a:bodyPr wrap="square" lIns="0" tIns="0" rIns="0" bIns="0" rtlCol="0" anchor="t"/>
          <a:lstStyle/>
          <a:p>
            <a:pPr marL="0" indent="0" algn="ctr">
              <a:buNone/>
            </a:pPr>
            <a:r>
              <a:rPr lang="en-US" sz="1150" dirty="0">
                <a:solidFill>
                  <a:srgbClr val="6B7280"/>
                </a:solidFill>
                <a:latin typeface="Calibri" pitchFamily="34" charset="0"/>
                <a:ea typeface="Calibri" pitchFamily="34" charset="-122"/>
                <a:cs typeface="Calibri" pitchFamily="34" charset="-120"/>
              </a:rPr>
              <a:t>Solo después de guardar avisa a Kafka (ack manual), no al recibir.</a:t>
            </a:r>
            <a:endParaRPr lang="en-US" sz="1150" dirty="0"/>
          </a:p>
        </p:txBody>
      </p:sp>
      <p:sp>
        <p:nvSpPr>
          <p:cNvPr id="24" name="Shape 19"/>
          <p:cNvSpPr/>
          <p:nvPr/>
        </p:nvSpPr>
        <p:spPr>
          <a:xfrm rot="5400000">
            <a:off x="8828532" y="2999232"/>
            <a:ext cx="128016" cy="128016"/>
          </a:xfrm>
          <a:prstGeom prst="triangle">
            <a:avLst/>
          </a:prstGeom>
          <a:solidFill>
            <a:srgbClr val="FF6B4A"/>
          </a:solidFill>
          <a:ln/>
        </p:spPr>
        <p:txBody>
          <a:bodyPr/>
          <a:lstStyle/>
          <a:p>
            <a:endParaRPr lang="es-CO"/>
          </a:p>
        </p:txBody>
      </p:sp>
      <p:sp>
        <p:nvSpPr>
          <p:cNvPr id="25" name="Shape 20"/>
          <p:cNvSpPr/>
          <p:nvPr/>
        </p:nvSpPr>
        <p:spPr>
          <a:xfrm>
            <a:off x="8997696" y="1783080"/>
            <a:ext cx="2606040" cy="2514600"/>
          </a:xfrm>
          <a:prstGeom prst="roundRect">
            <a:avLst>
              <a:gd name="adj" fmla="val 3273"/>
            </a:avLst>
          </a:prstGeom>
          <a:solidFill>
            <a:srgbClr val="F4F6FB"/>
          </a:solidFill>
          <a:ln/>
        </p:spPr>
        <p:txBody>
          <a:bodyPr/>
          <a:lstStyle/>
          <a:p>
            <a:endParaRPr lang="es-CO"/>
          </a:p>
        </p:txBody>
      </p:sp>
      <p:sp>
        <p:nvSpPr>
          <p:cNvPr id="26" name="Text 21"/>
          <p:cNvSpPr txBox="1"/>
          <p:nvPr/>
        </p:nvSpPr>
        <p:spPr>
          <a:xfrm>
            <a:off x="9198864" y="1892808"/>
            <a:ext cx="457200" cy="411480"/>
          </a:xfrm>
          <a:prstGeom prst="rect">
            <a:avLst/>
          </a:prstGeom>
          <a:noFill/>
          <a:ln/>
        </p:spPr>
        <p:txBody>
          <a:bodyPr wrap="square" lIns="0" tIns="0" rIns="0" bIns="0" rtlCol="0" anchor="ctr"/>
          <a:lstStyle/>
          <a:p>
            <a:pPr marL="0" indent="0">
              <a:buNone/>
            </a:pPr>
            <a:r>
              <a:rPr lang="en-US" sz="2200" b="1" dirty="0">
                <a:solidFill>
                  <a:srgbClr val="C4CBE6"/>
                </a:solidFill>
                <a:latin typeface="Cambria" pitchFamily="34" charset="0"/>
                <a:ea typeface="Cambria" pitchFamily="34" charset="-122"/>
                <a:cs typeface="Cambria" pitchFamily="34" charset="-120"/>
              </a:rPr>
              <a:t>4</a:t>
            </a:r>
            <a:endParaRPr lang="en-US" sz="2200" dirty="0"/>
          </a:p>
        </p:txBody>
      </p:sp>
      <p:sp>
        <p:nvSpPr>
          <p:cNvPr id="27" name="Shape 22"/>
          <p:cNvSpPr/>
          <p:nvPr/>
        </p:nvSpPr>
        <p:spPr>
          <a:xfrm>
            <a:off x="10008108" y="2148840"/>
            <a:ext cx="585216" cy="585216"/>
          </a:xfrm>
          <a:prstGeom prst="ellipse">
            <a:avLst/>
          </a:prstGeom>
          <a:solidFill>
            <a:srgbClr val="6A4FE6"/>
          </a:solidFill>
          <a:ln/>
        </p:spPr>
        <p:txBody>
          <a:bodyPr/>
          <a:lstStyle/>
          <a:p>
            <a:endParaRPr lang="es-CO"/>
          </a:p>
        </p:txBody>
      </p:sp>
      <p:pic>
        <p:nvPicPr>
          <p:cNvPr id="28" name="Image 3" descr="/home/claude/deck2/icon_history.png"/>
          <p:cNvPicPr>
            <a:picLocks noChangeAspect="1"/>
          </p:cNvPicPr>
          <p:nvPr/>
        </p:nvPicPr>
        <p:blipFill>
          <a:blip r:embed="rId6"/>
          <a:stretch>
            <a:fillRect/>
          </a:stretch>
        </p:blipFill>
        <p:spPr>
          <a:xfrm>
            <a:off x="10160264" y="2300996"/>
            <a:ext cx="280904" cy="280904"/>
          </a:xfrm>
          <a:prstGeom prst="rect">
            <a:avLst/>
          </a:prstGeom>
        </p:spPr>
      </p:pic>
      <p:sp>
        <p:nvSpPr>
          <p:cNvPr id="29" name="Text 23"/>
          <p:cNvSpPr txBox="1"/>
          <p:nvPr/>
        </p:nvSpPr>
        <p:spPr>
          <a:xfrm>
            <a:off x="9180576" y="2880360"/>
            <a:ext cx="2240280" cy="365760"/>
          </a:xfrm>
          <a:prstGeom prst="rect">
            <a:avLst/>
          </a:prstGeom>
          <a:noFill/>
          <a:ln/>
        </p:spPr>
        <p:txBody>
          <a:bodyPr wrap="square" lIns="0" tIns="0" rIns="0" bIns="0"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Retoma tras la caída</a:t>
            </a:r>
            <a:endParaRPr lang="en-US" sz="1400" dirty="0"/>
          </a:p>
        </p:txBody>
      </p:sp>
      <p:sp>
        <p:nvSpPr>
          <p:cNvPr id="30" name="Text 24"/>
          <p:cNvSpPr txBox="1"/>
          <p:nvPr/>
        </p:nvSpPr>
        <p:spPr>
          <a:xfrm>
            <a:off x="9198864" y="3337560"/>
            <a:ext cx="2203704" cy="868680"/>
          </a:xfrm>
          <a:prstGeom prst="rect">
            <a:avLst/>
          </a:prstGeom>
          <a:noFill/>
          <a:ln/>
        </p:spPr>
        <p:txBody>
          <a:bodyPr wrap="square" lIns="0" tIns="0" rIns="0" bIns="0" rtlCol="0" anchor="t"/>
          <a:lstStyle/>
          <a:p>
            <a:pPr marL="0" indent="0" algn="ctr">
              <a:buNone/>
            </a:pPr>
            <a:r>
              <a:rPr lang="en-US" sz="1150" dirty="0">
                <a:solidFill>
                  <a:srgbClr val="6B7280"/>
                </a:solidFill>
                <a:latin typeface="Calibri" pitchFamily="34" charset="0"/>
                <a:ea typeface="Calibri" pitchFamily="34" charset="-122"/>
                <a:cs typeface="Calibri" pitchFamily="34" charset="-120"/>
              </a:rPr>
              <a:t>Al reasignarse la partición, hace seek al offset del checkpoint más uno.</a:t>
            </a:r>
            <a:endParaRPr lang="en-US" sz="1150" dirty="0"/>
          </a:p>
        </p:txBody>
      </p:sp>
      <p:sp>
        <p:nvSpPr>
          <p:cNvPr id="31" name="Shape 25"/>
          <p:cNvSpPr/>
          <p:nvPr/>
        </p:nvSpPr>
        <p:spPr>
          <a:xfrm>
            <a:off x="548640" y="4526280"/>
            <a:ext cx="5440680" cy="1280160"/>
          </a:xfrm>
          <a:prstGeom prst="roundRect">
            <a:avLst>
              <a:gd name="adj" fmla="val 6429"/>
            </a:avLst>
          </a:prstGeom>
          <a:solidFill>
            <a:srgbClr val="F4F6FB"/>
          </a:solidFill>
          <a:ln/>
        </p:spPr>
        <p:txBody>
          <a:bodyPr/>
          <a:lstStyle/>
          <a:p>
            <a:endParaRPr lang="es-CO"/>
          </a:p>
        </p:txBody>
      </p:sp>
      <p:sp>
        <p:nvSpPr>
          <p:cNvPr id="32" name="Text 26"/>
          <p:cNvSpPr txBox="1"/>
          <p:nvPr/>
        </p:nvSpPr>
        <p:spPr>
          <a:xfrm>
            <a:off x="822960" y="4663440"/>
            <a:ext cx="4937760" cy="274320"/>
          </a:xfrm>
          <a:prstGeom prst="rect">
            <a:avLst/>
          </a:prstGeom>
          <a:noFill/>
          <a:ln/>
        </p:spPr>
        <p:txBody>
          <a:bodyPr wrap="square" lIns="0" tIns="0" rIns="0" bIns="0" rtlCol="0" anchor="ctr"/>
          <a:lstStyle/>
          <a:p>
            <a:pPr marL="0" indent="0">
              <a:buNone/>
            </a:pPr>
            <a:r>
              <a:rPr lang="en-US" sz="1400" b="1" dirty="0">
                <a:solidFill>
                  <a:srgbClr val="6A4FE6"/>
                </a:solidFill>
                <a:latin typeface="Calibri" pitchFamily="34" charset="0"/>
                <a:ea typeface="Calibri" pitchFamily="34" charset="-122"/>
                <a:cs typeface="Calibri" pitchFamily="34" charset="-120"/>
              </a:rPr>
              <a:t>Retención del log</a:t>
            </a:r>
            <a:endParaRPr lang="en-US" sz="1400" dirty="0"/>
          </a:p>
        </p:txBody>
      </p:sp>
      <p:sp>
        <p:nvSpPr>
          <p:cNvPr id="33" name="Text 27"/>
          <p:cNvSpPr txBox="1"/>
          <p:nvPr/>
        </p:nvSpPr>
        <p:spPr>
          <a:xfrm>
            <a:off x="822960" y="5001768"/>
            <a:ext cx="4937760" cy="731520"/>
          </a:xfrm>
          <a:prstGeom prst="rect">
            <a:avLst/>
          </a:prstGeom>
          <a:noFill/>
          <a:ln/>
        </p:spPr>
        <p:txBody>
          <a:bodyPr wrap="square" lIns="0" tIns="0" rIns="0" bIns="0" rtlCol="0" anchor="t"/>
          <a:lstStyle/>
          <a:p>
            <a:pPr marL="0" indent="0">
              <a:buNone/>
            </a:pPr>
            <a:r>
              <a:rPr lang="en-US" sz="1200" dirty="0">
                <a:solidFill>
                  <a:srgbClr val="20263B"/>
                </a:solidFill>
                <a:latin typeface="Calibri" pitchFamily="34" charset="0"/>
                <a:ea typeface="Calibri" pitchFamily="34" charset="-122"/>
                <a:cs typeface="Calibri" pitchFamily="34" charset="-120"/>
              </a:rPr>
              <a:t>7 días en ocupacion-clases y 14 en datos-entrenamiento: el log sigue ahí para releerlo tras una caída.</a:t>
            </a:r>
            <a:endParaRPr lang="en-US" sz="1200" dirty="0"/>
          </a:p>
        </p:txBody>
      </p:sp>
      <p:sp>
        <p:nvSpPr>
          <p:cNvPr id="34" name="Shape 28"/>
          <p:cNvSpPr/>
          <p:nvPr/>
        </p:nvSpPr>
        <p:spPr>
          <a:xfrm>
            <a:off x="6172200" y="4526280"/>
            <a:ext cx="5440680" cy="1280160"/>
          </a:xfrm>
          <a:prstGeom prst="roundRect">
            <a:avLst>
              <a:gd name="adj" fmla="val 6429"/>
            </a:avLst>
          </a:prstGeom>
          <a:solidFill>
            <a:srgbClr val="F4F6FB"/>
          </a:solidFill>
          <a:ln/>
        </p:spPr>
        <p:txBody>
          <a:bodyPr/>
          <a:lstStyle/>
          <a:p>
            <a:endParaRPr lang="es-CO"/>
          </a:p>
        </p:txBody>
      </p:sp>
      <p:sp>
        <p:nvSpPr>
          <p:cNvPr id="35" name="Text 29"/>
          <p:cNvSpPr txBox="1"/>
          <p:nvPr/>
        </p:nvSpPr>
        <p:spPr>
          <a:xfrm>
            <a:off x="6446520" y="4663440"/>
            <a:ext cx="4937760" cy="274320"/>
          </a:xfrm>
          <a:prstGeom prst="rect">
            <a:avLst/>
          </a:prstGeom>
          <a:noFill/>
          <a:ln/>
        </p:spPr>
        <p:txBody>
          <a:bodyPr wrap="square" lIns="0" tIns="0" rIns="0" bIns="0" rtlCol="0" anchor="ctr"/>
          <a:lstStyle/>
          <a:p>
            <a:pPr marL="0" indent="0">
              <a:buNone/>
            </a:pPr>
            <a:r>
              <a:rPr lang="en-US" sz="1400" b="1" dirty="0">
                <a:solidFill>
                  <a:srgbClr val="6A4FE6"/>
                </a:solidFill>
                <a:latin typeface="Calibri" pitchFamily="34" charset="0"/>
                <a:ea typeface="Calibri" pitchFamily="34" charset="-122"/>
                <a:cs typeface="Calibri" pitchFamily="34" charset="-120"/>
              </a:rPr>
              <a:t>Checkpoint persistente</a:t>
            </a:r>
            <a:endParaRPr lang="en-US" sz="1400" dirty="0"/>
          </a:p>
        </p:txBody>
      </p:sp>
      <p:sp>
        <p:nvSpPr>
          <p:cNvPr id="36" name="Text 30"/>
          <p:cNvSpPr txBox="1"/>
          <p:nvPr/>
        </p:nvSpPr>
        <p:spPr>
          <a:xfrm>
            <a:off x="6446520" y="5001768"/>
            <a:ext cx="4937760" cy="731520"/>
          </a:xfrm>
          <a:prstGeom prst="rect">
            <a:avLst/>
          </a:prstGeom>
          <a:noFill/>
          <a:ln/>
        </p:spPr>
        <p:txBody>
          <a:bodyPr wrap="square" lIns="0" tIns="0" rIns="0" bIns="0" rtlCol="0" anchor="t"/>
          <a:lstStyle/>
          <a:p>
            <a:pPr marL="0" indent="0">
              <a:buNone/>
            </a:pPr>
            <a:r>
              <a:rPr lang="en-US" sz="1200" dirty="0">
                <a:solidFill>
                  <a:srgbClr val="20263B"/>
                </a:solidFill>
                <a:latin typeface="Calibri" pitchFamily="34" charset="0"/>
                <a:ea typeface="Calibri" pitchFamily="34" charset="-122"/>
                <a:cs typeface="Calibri" pitchFamily="34" charset="-120"/>
              </a:rPr>
              <a:t>La base de clases-service es H2 en archivo, así que el checkpoint sobrevive a un reinicio del proceso.</a:t>
            </a:r>
            <a:endParaRPr lang="en-US" sz="1200" dirty="0"/>
          </a:p>
        </p:txBody>
      </p:sp>
      <p:sp>
        <p:nvSpPr>
          <p:cNvPr id="37" name="Text 31"/>
          <p:cNvSpPr txBox="1"/>
          <p:nvPr/>
        </p:nvSpPr>
        <p:spPr>
          <a:xfrm>
            <a:off x="10972800" y="6492240"/>
            <a:ext cx="685800" cy="228600"/>
          </a:xfrm>
          <a:prstGeom prst="rect">
            <a:avLst/>
          </a:prstGeom>
          <a:noFill/>
          <a:ln/>
        </p:spPr>
        <p:txBody>
          <a:bodyPr wrap="square" lIns="0" tIns="0" rIns="0" bIns="0"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9 / 11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141B49"/>
          </a:solidFill>
          <a:ln/>
        </p:spPr>
        <p:txBody>
          <a:bodyPr/>
          <a:lstStyle/>
          <a:p>
            <a:endParaRPr lang="es-CO"/>
          </a:p>
        </p:txBody>
      </p:sp>
      <p:sp>
        <p:nvSpPr>
          <p:cNvPr id="3" name="Shape 1"/>
          <p:cNvSpPr/>
          <p:nvPr/>
        </p:nvSpPr>
        <p:spPr>
          <a:xfrm>
            <a:off x="-2286000" y="4206240"/>
            <a:ext cx="5486400" cy="5486400"/>
          </a:xfrm>
          <a:prstGeom prst="ellipse">
            <a:avLst/>
          </a:prstGeom>
          <a:solidFill>
            <a:srgbClr val="141B49"/>
          </a:solidFill>
          <a:ln/>
        </p:spPr>
        <p:txBody>
          <a:bodyPr/>
          <a:lstStyle/>
          <a:p>
            <a:endParaRPr lang="es-CO"/>
          </a:p>
        </p:txBody>
      </p:sp>
      <p:sp>
        <p:nvSpPr>
          <p:cNvPr id="4" name="Shape 2"/>
          <p:cNvSpPr/>
          <p:nvPr/>
        </p:nvSpPr>
        <p:spPr>
          <a:xfrm>
            <a:off x="5669280" y="1965960"/>
            <a:ext cx="822960" cy="822960"/>
          </a:xfrm>
          <a:prstGeom prst="ellipse">
            <a:avLst/>
          </a:prstGeom>
          <a:solidFill>
            <a:srgbClr val="FF6B4A"/>
          </a:solidFill>
          <a:ln/>
        </p:spPr>
        <p:txBody>
          <a:bodyPr/>
          <a:lstStyle/>
          <a:p>
            <a:endParaRPr lang="es-CO"/>
          </a:p>
        </p:txBody>
      </p:sp>
      <p:pic>
        <p:nvPicPr>
          <p:cNvPr id="5" name="Image 0" descr="/home/claude/deck2/icon_bolt.png"/>
          <p:cNvPicPr>
            <a:picLocks noChangeAspect="1"/>
          </p:cNvPicPr>
          <p:nvPr/>
        </p:nvPicPr>
        <p:blipFill>
          <a:blip r:embed="rId3"/>
          <a:stretch>
            <a:fillRect/>
          </a:stretch>
        </p:blipFill>
        <p:spPr>
          <a:xfrm>
            <a:off x="5883250" y="2179930"/>
            <a:ext cx="395021" cy="395021"/>
          </a:xfrm>
          <a:prstGeom prst="rect">
            <a:avLst/>
          </a:prstGeom>
        </p:spPr>
      </p:pic>
      <p:sp>
        <p:nvSpPr>
          <p:cNvPr id="6" name="Text 3"/>
          <p:cNvSpPr txBox="1"/>
          <p:nvPr/>
        </p:nvSpPr>
        <p:spPr>
          <a:xfrm>
            <a:off x="548640" y="3017520"/>
            <a:ext cx="11064240" cy="914400"/>
          </a:xfrm>
          <a:prstGeom prst="rect">
            <a:avLst/>
          </a:prstGeom>
          <a:noFill/>
          <a:ln/>
        </p:spPr>
        <p:txBody>
          <a:bodyPr wrap="square" lIns="0" tIns="0" rIns="0" bIns="0"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Demo en vivo</a:t>
            </a:r>
            <a:endParaRPr lang="en-US" sz="4400" dirty="0"/>
          </a:p>
        </p:txBody>
      </p:sp>
      <p:sp>
        <p:nvSpPr>
          <p:cNvPr id="7" name="Text 4"/>
          <p:cNvSpPr txBox="1"/>
          <p:nvPr/>
        </p:nvSpPr>
        <p:spPr>
          <a:xfrm>
            <a:off x="548640" y="3977640"/>
            <a:ext cx="11064240" cy="411480"/>
          </a:xfrm>
          <a:prstGeom prst="rect">
            <a:avLst/>
          </a:prstGeom>
          <a:noFill/>
          <a:ln/>
        </p:spPr>
        <p:txBody>
          <a:bodyPr wrap="square" lIns="0" tIns="0" rIns="0" bIns="0" rtlCol="0" anchor="ctr"/>
          <a:lstStyle/>
          <a:p>
            <a:pPr marL="0" indent="0" algn="ctr">
              <a:buNone/>
            </a:pPr>
            <a:r>
              <a:rPr lang="en-US" sz="1600" dirty="0">
                <a:solidFill>
                  <a:srgbClr val="CADCFC"/>
                </a:solidFill>
                <a:latin typeface="Calibri" pitchFamily="34" charset="0"/>
                <a:ea typeface="Calibri" pitchFamily="34" charset="-122"/>
                <a:cs typeface="Calibri" pitchFamily="34" charset="-120"/>
              </a:rPr>
              <a:t>Juan Andrés </a:t>
            </a:r>
            <a:r>
              <a:rPr lang="en-US" sz="1600" dirty="0" err="1">
                <a:solidFill>
                  <a:srgbClr val="CADCFC"/>
                </a:solidFill>
                <a:latin typeface="Calibri" pitchFamily="34" charset="0"/>
                <a:ea typeface="Calibri" pitchFamily="34" charset="-122"/>
                <a:cs typeface="Calibri" pitchFamily="34" charset="-120"/>
              </a:rPr>
              <a:t>Cano</a:t>
            </a:r>
            <a:r>
              <a:rPr lang="en-US" sz="1600" dirty="0">
                <a:solidFill>
                  <a:srgbClr val="CADCFC"/>
                </a:solidFill>
                <a:latin typeface="Calibri" pitchFamily="34" charset="0"/>
                <a:ea typeface="Calibri" pitchFamily="34" charset="-122"/>
                <a:cs typeface="Calibri" pitchFamily="34" charset="-120"/>
              </a:rPr>
              <a:t> – Juan Esteban Ruiz</a:t>
            </a:r>
            <a:endParaRPr lang="en-US" sz="1600" dirty="0"/>
          </a:p>
        </p:txBody>
      </p:sp>
      <p:sp>
        <p:nvSpPr>
          <p:cNvPr id="8" name="Text 5"/>
          <p:cNvSpPr txBox="1"/>
          <p:nvPr/>
        </p:nvSpPr>
        <p:spPr>
          <a:xfrm>
            <a:off x="10972800" y="6492240"/>
            <a:ext cx="685800" cy="228600"/>
          </a:xfrm>
          <a:prstGeom prst="rect">
            <a:avLst/>
          </a:prstGeom>
          <a:noFill/>
          <a:ln/>
        </p:spPr>
        <p:txBody>
          <a:bodyPr wrap="square" lIns="0" tIns="0" rIns="0" bIns="0" rtlCol="0" anchor="ctr"/>
          <a:lstStyle/>
          <a:p>
            <a:pPr marL="0" indent="0" algn="r">
              <a:buNone/>
            </a:pPr>
            <a:r>
              <a:rPr lang="en-US" sz="1000" dirty="0">
                <a:solidFill>
                  <a:srgbClr val="8A93C7"/>
                </a:solidFill>
                <a:latin typeface="Calibri" pitchFamily="34" charset="0"/>
                <a:ea typeface="Calibri" pitchFamily="34" charset="-122"/>
                <a:cs typeface="Calibri" pitchFamily="34" charset="-120"/>
              </a:rPr>
              <a:t>10 / 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TotalTime>
  <Words>2478</Words>
  <Application>Microsoft Office PowerPoint</Application>
  <PresentationFormat>Panorámica</PresentationFormat>
  <Paragraphs>179</Paragraphs>
  <Slides>9</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Seguridad y mensajería asincrónica en microservicios</dc:title>
  <dc:subject>PptxGenJS Presentation</dc:subject>
  <dc:creator>PptxGenJS</dc:creator>
  <cp:lastModifiedBy>Juan Esteban Ruiz Ome</cp:lastModifiedBy>
  <cp:revision>4</cp:revision>
  <dcterms:created xsi:type="dcterms:W3CDTF">2026-09-28T23:41:28Z</dcterms:created>
  <dcterms:modified xsi:type="dcterms:W3CDTF">2026-09-29T01:47:51Z</dcterms:modified>
</cp:coreProperties>
</file>